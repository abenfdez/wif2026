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7.svg" ContentType="image/svg+xml"/>
  <Override PartName="/ppt/media/image76.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6" r:id="rId1"/>
  </p:sldMasterIdLst>
  <p:notesMasterIdLst>
    <p:notesMasterId r:id="rId43"/>
  </p:notesMasterIdLst>
  <p:sldIdLst>
    <p:sldId id="256" r:id="rId2"/>
    <p:sldId id="258" r:id="rId3"/>
    <p:sldId id="261" r:id="rId4"/>
    <p:sldId id="257" r:id="rId5"/>
    <p:sldId id="269" r:id="rId6"/>
    <p:sldId id="270" r:id="rId7"/>
    <p:sldId id="271" r:id="rId8"/>
    <p:sldId id="312" r:id="rId9"/>
    <p:sldId id="308" r:id="rId10"/>
    <p:sldId id="274" r:id="rId11"/>
    <p:sldId id="275" r:id="rId12"/>
    <p:sldId id="317" r:id="rId13"/>
    <p:sldId id="318" r:id="rId14"/>
    <p:sldId id="277" r:id="rId15"/>
    <p:sldId id="319" r:id="rId17"/>
    <p:sldId id="310" r:id="rId18"/>
    <p:sldId id="300" r:id="rId20"/>
    <p:sldId id="289" r:id="rId21"/>
    <p:sldId id="295" r:id="rId22"/>
    <p:sldId id="303" r:id="rId23"/>
    <p:sldId id="292" r:id="rId24"/>
    <p:sldId id="306" r:id="rId27"/>
    <p:sldId id="313" r:id="rId28"/>
    <p:sldId id="314" r:id="rId29"/>
    <p:sldId id="259" r:id="rId30"/>
    <p:sldId id="315" r:id="rId31"/>
    <p:sldId id="316" r:id="rId32"/>
    <p:sldId id="311" r:id="rId33"/>
    <p:sldId id="279" r:id="rId34"/>
    <p:sldId id="294" r:id="rId35"/>
    <p:sldId id="299" r:id="rId36"/>
    <p:sldId id="302" r:id="rId37"/>
    <p:sldId id="301" r:id="rId38"/>
    <p:sldId id="260" r:id="rId39"/>
    <p:sldId id="287" r:id="rId40"/>
    <p:sldId id="288" r:id="rId41"/>
    <p:sldId id="263" r:id="rId42"/>
  </p:sldIdLst>
  <p:sldSz cx="18288000" cy="10287000"/>
  <p:notesSz cx="6858000" cy="9144000"/>
  <p:defaultTextStyle>
    <a:defPPr>
      <a:defRPr lang="en-US"/>
    </a:defPPr>
    <a:lvl1pPr marL="0" algn="l" defTabSz="914400" rtl="0" eaLnBrk="1" latinLnBrk="0" hangingPunct="1">
      <a:defRPr sz="1800" kern="1200">
        <a:solidFill>
          <a:schemeClr val="tx1"/>
        </a:solidFill>
        <a:latin typeface="Arial"/>
        <a:ea typeface="Arial"/>
        <a:cs typeface="Arial"/>
      </a:defRPr>
    </a:lvl1pPr>
    <a:lvl2pPr marL="457200" algn="l" defTabSz="914400" rtl="0" eaLnBrk="1" latinLnBrk="0" hangingPunct="1">
      <a:defRPr sz="1800" kern="1200">
        <a:solidFill>
          <a:schemeClr val="tx1"/>
        </a:solidFill>
        <a:latin typeface="Arial"/>
        <a:ea typeface="Arial"/>
        <a:cs typeface="Arial"/>
      </a:defRPr>
    </a:lvl2pPr>
    <a:lvl3pPr marL="914400" algn="l" defTabSz="914400" rtl="0" eaLnBrk="1" latinLnBrk="0" hangingPunct="1">
      <a:defRPr sz="1800" kern="1200">
        <a:solidFill>
          <a:schemeClr val="tx1"/>
        </a:solidFill>
        <a:latin typeface="Arial"/>
        <a:ea typeface="Arial"/>
        <a:cs typeface="Arial"/>
      </a:defRPr>
    </a:lvl3pPr>
    <a:lvl4pPr marL="1371600" algn="l" defTabSz="914400" rtl="0" eaLnBrk="1" latinLnBrk="0" hangingPunct="1">
      <a:defRPr sz="1800" kern="1200">
        <a:solidFill>
          <a:schemeClr val="tx1"/>
        </a:solidFill>
        <a:latin typeface="Arial"/>
        <a:ea typeface="Arial"/>
        <a:cs typeface="Arial"/>
      </a:defRPr>
    </a:lvl4pPr>
    <a:lvl5pPr marL="1828800" algn="l" defTabSz="914400" rtl="0" eaLnBrk="1" latinLnBrk="0" hangingPunct="1">
      <a:defRPr sz="1800" kern="1200">
        <a:solidFill>
          <a:schemeClr val="tx1"/>
        </a:solidFill>
        <a:latin typeface="Arial"/>
        <a:ea typeface="Arial"/>
        <a:cs typeface="Arial"/>
      </a:defRPr>
    </a:lvl5pPr>
    <a:lvl6pPr marL="2286000" algn="l" defTabSz="914400" rtl="0" eaLnBrk="1" latinLnBrk="0" hangingPunct="1">
      <a:defRPr sz="1800" kern="1200">
        <a:solidFill>
          <a:schemeClr val="tx1"/>
        </a:solidFill>
        <a:latin typeface="Arial"/>
        <a:ea typeface="Arial"/>
        <a:cs typeface="Arial"/>
      </a:defRPr>
    </a:lvl6pPr>
    <a:lvl7pPr marL="2743200" algn="l" defTabSz="914400" rtl="0" eaLnBrk="1" latinLnBrk="0" hangingPunct="1">
      <a:defRPr sz="1800" kern="1200">
        <a:solidFill>
          <a:schemeClr val="tx1"/>
        </a:solidFill>
        <a:latin typeface="Arial"/>
        <a:ea typeface="Arial"/>
        <a:cs typeface="Arial"/>
      </a:defRPr>
    </a:lvl7pPr>
    <a:lvl8pPr marL="3200400" algn="l" defTabSz="914400" rtl="0" eaLnBrk="1" latinLnBrk="0" hangingPunct="1">
      <a:defRPr sz="1800" kern="1200">
        <a:solidFill>
          <a:schemeClr val="tx1"/>
        </a:solidFill>
        <a:latin typeface="Arial"/>
        <a:ea typeface="Arial"/>
        <a:cs typeface="Arial"/>
      </a:defRPr>
    </a:lvl8pPr>
    <a:lvl9pPr marL="3657600" algn="l" defTabSz="914400" rtl="0" eaLnBrk="1" latinLnBrk="0" hangingPunct="1">
      <a:defRPr sz="1800" kern="1200">
        <a:solidFill>
          <a:schemeClr val="tx1"/>
        </a:solidFill>
        <a:latin typeface="Arial"/>
        <a:ea typeface="Arial"/>
        <a:cs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A3A63"/>
    <a:srgbClr val="145A96"/>
    <a:srgbClr val="4FA8E0"/>
    <a:srgbClr val="D8F0FA"/>
    <a:srgbClr val="000000"/>
    <a:srgbClr val="09534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BB97D2D-BE88-5353-2ADD-939FF62FF2F1}" v="268" dt="2026-09-22T11:19:42.27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614" autoAdjust="0"/>
    <p:restoredTop sz="94622" autoAdjust="0"/>
  </p:normalViewPr>
  <p:slideViewPr>
    <p:cSldViewPr>
      <p:cViewPr varScale="1">
        <p:scale>
          <a:sx n="74" d="100"/>
          <a:sy n="74" d="100"/>
        </p:scale>
        <p:origin x="630" y="54"/>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notesMaster" Target="notesMasters/notesMaster1.xml"/><Relationship Id="rId44" Type="http://schemas.openxmlformats.org/officeDocument/2006/relationships/presProps" Target="presProps.xml"/><Relationship Id="rId45" Type="http://schemas.openxmlformats.org/officeDocument/2006/relationships/viewProps" Target="viewProps.xml"/><Relationship Id="rId46" Type="http://schemas.openxmlformats.org/officeDocument/2006/relationships/theme" Target="theme/theme1.xml"/><Relationship Id="rId47" Type="http://schemas.openxmlformats.org/officeDocument/2006/relationships/tableStyles" Target="tableStyles.xml"/><Relationship Id="rId48"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A47FC4-61C0-4E7D-891B-3809D9733AC7}" type="datetimeFigureOut">
              <a:rPr lang="es-ES" smtClean="0"/>
              <a:t>27/09/2026</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93241A-3DBB-429F-9407-3FBD730E4BF4}" type="slidenum">
              <a:rPr lang="es-ES" smtClean="0"/>
              <a:t>‹Nº›</a:t>
            </a:fld>
            <a:endParaRPr lang="es-ES"/>
          </a:p>
        </p:txBody>
      </p:sp>
    </p:spTree>
    <p:extLst>
      <p:ext uri="{BB962C8B-B14F-4D97-AF65-F5344CB8AC3E}">
        <p14:creationId xmlns:p14="http://schemas.microsoft.com/office/powerpoint/2010/main" val="41183347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a:ea typeface="Arial"/>
        <a:cs typeface="Arial"/>
      </a:defRPr>
    </a:lvl1pPr>
    <a:lvl2pPr marL="457200" algn="l" defTabSz="914400" rtl="0" eaLnBrk="1" latinLnBrk="0" hangingPunct="1">
      <a:defRPr sz="1200" kern="1200">
        <a:solidFill>
          <a:schemeClr val="tx1"/>
        </a:solidFill>
        <a:latin typeface="Arial"/>
        <a:ea typeface="Arial"/>
        <a:cs typeface="Arial"/>
      </a:defRPr>
    </a:lvl2pPr>
    <a:lvl3pPr marL="914400" algn="l" defTabSz="914400" rtl="0" eaLnBrk="1" latinLnBrk="0" hangingPunct="1">
      <a:defRPr sz="1200" kern="1200">
        <a:solidFill>
          <a:schemeClr val="tx1"/>
        </a:solidFill>
        <a:latin typeface="Arial"/>
        <a:ea typeface="Arial"/>
        <a:cs typeface="Arial"/>
      </a:defRPr>
    </a:lvl3pPr>
    <a:lvl4pPr marL="1371600" algn="l" defTabSz="914400" rtl="0" eaLnBrk="1" latinLnBrk="0" hangingPunct="1">
      <a:defRPr sz="1200" kern="1200">
        <a:solidFill>
          <a:schemeClr val="tx1"/>
        </a:solidFill>
        <a:latin typeface="Arial"/>
        <a:ea typeface="Arial"/>
        <a:cs typeface="Arial"/>
      </a:defRPr>
    </a:lvl4pPr>
    <a:lvl5pPr marL="1828800" algn="l" defTabSz="914400" rtl="0" eaLnBrk="1" latinLnBrk="0" hangingPunct="1">
      <a:defRPr sz="1200" kern="1200">
        <a:solidFill>
          <a:schemeClr val="tx1"/>
        </a:solidFill>
        <a:latin typeface="Arial"/>
        <a:ea typeface="Arial"/>
        <a:cs typeface="Arial"/>
      </a:defRPr>
    </a:lvl5pPr>
    <a:lvl6pPr marL="2286000" algn="l" defTabSz="914400" rtl="0" eaLnBrk="1" latinLnBrk="0" hangingPunct="1">
      <a:defRPr sz="1200" kern="1200">
        <a:solidFill>
          <a:schemeClr val="tx1"/>
        </a:solidFill>
        <a:latin typeface="Arial"/>
        <a:ea typeface="Arial"/>
        <a:cs typeface="Arial"/>
      </a:defRPr>
    </a:lvl6pPr>
    <a:lvl7pPr marL="2743200" algn="l" defTabSz="914400" rtl="0" eaLnBrk="1" latinLnBrk="0" hangingPunct="1">
      <a:defRPr sz="1200" kern="1200">
        <a:solidFill>
          <a:schemeClr val="tx1"/>
        </a:solidFill>
        <a:latin typeface="Arial"/>
        <a:ea typeface="Arial"/>
        <a:cs typeface="Arial"/>
      </a:defRPr>
    </a:lvl7pPr>
    <a:lvl8pPr marL="3200400" algn="l" defTabSz="914400" rtl="0" eaLnBrk="1" latinLnBrk="0" hangingPunct="1">
      <a:defRPr sz="1200" kern="1200">
        <a:solidFill>
          <a:schemeClr val="tx1"/>
        </a:solidFill>
        <a:latin typeface="Arial"/>
        <a:ea typeface="Arial"/>
        <a:cs typeface="Arial"/>
      </a:defRPr>
    </a:lvl8pPr>
    <a:lvl9pPr marL="3657600" algn="l" defTabSz="914400" rtl="0" eaLnBrk="1" latinLnBrk="0" hangingPunct="1">
      <a:defRPr sz="1200" kern="1200">
        <a:solidFill>
          <a:schemeClr val="tx1"/>
        </a:solidFill>
        <a:latin typeface="Arial"/>
        <a:ea typeface="Arial"/>
        <a:cs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Una ontología no describe cómo se guardan los datos (tablas, columnas), sino qué significan para el negocio. En Fabric IQ, la ontología (preview) es la capa semántica que unifica el significado entre dominios y orígenes de OneLake. Sus piezas: tipos de entidad (conceptos con una clave única), propiedades (hechos tipados enlazados a columnas y anotados con metadatos), relaciones (vínculos con dirección que permiten recorrer el contexto sin JOINs) y reglas de negocio (conocimiento operativo definido una vez). A partir de los enlaces de datos se generan las instancias y el grafo, consultable por agentes de datos y de operaciones.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Recomendaciones: partir de las preguntas de negocio, usar nombres de negocio, garantizar una clave única por entidad, documentar con descripción y sinónimos (es el contexto que usan los agentes), dar nombre con significado a las relaciones e iterar desde un dominio pequeño. En Fabric: la ontología está en preview; se enlaza a datos de OneLake (lakehouse, eventhouse, modelos semánticos); los cambios en origen requieren refresco manual; generarla desde un modelo semántico da un punto de partida que hay que refinar; y no copia los datos.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El modelado de datos ha ido ganando significado: del relacional (cómo se almacena) al dimensional (cuánto y cuándo), a la capa semántica (medidas y lenguaje de negocio) y ahora a la capa ontológica (entidades, relaciones, reglas y contexto). ¿Cómo damos el paso después de gold? 1) Partimos del modelo semántico que ya tenemos en producción, 2) modelamos entidades, relaciones y reglas, 3) enlazamos con datos batch y en tiempo real, y 4) lo exponemos a Data Agents, Operations Agents y MCP. La capa semántica responde preguntas; la ontológica entiende el negocio.</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Pasos: 1) seleccionar la entidad en el canvas o en el Explorador y pulsar 'Ver detalles del tipo de entidad'. 2) En los tres puntos (junto a 'Administrar reglas') elegir 'Cambiar nombre'. 3) Resultado: D_Propietarios_Instalaciones pasa a llamarse Propietarios. Esto es especialmente útil cuando la ontología se genera desde un modelo semántico existente, porque hereda el nombre de las tablas.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Para asociar un campo de una entidad a su origen de datos (preferiblemente tablas de un Lakehouse): 1) Administrar enlaces de propiedad &gt; Agregar enlace y propiedades. 2) Tipo de enlace: Tabla de Lakehouse, o tabla de centro de eventos / vista materializada. 3) Seleccionar el Lakehouse en OneLake (dlh_eolicas_galicia) y navegar hasta la tabla (gold/D_Provincias). 4) Asignar la clave del tipo de entidad (cod-prv) y mapear columnas de origen con nombres de propiedad. Mismo proceso para Propietarios con D_Propietarios_Instalaciones.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Una vez incluidos los enlaces, se puede añadir una descripción a cada propiedad para enriquecer su contexto. En la configuración de la entidad se añaden metadatos: descripción, sinónimos y metadatos adicionales, lo que facilita su interpretación y descubrimiento por usuarios y agentes de IA. Además, en Recursos se pueden enlazar informes de Power BI (p. ej. 'Modelo Eolicas Galicia'). Ejemplos: Provincias, Propietarios, Instalaciones.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Una relación define: tipo de entidad de origen y de destino (con sus claves), nombre de la relación, tabla de asignación y las columnas que coinciden con la clave de cada entidad. Se puede cambiar la dirección y añadir metadatos (descripción). Ejemplo: D_Instalaciones_has_D_Propietarios_Instalaciones relaciona cada instalación eólica con su propietario/titular, permitiendo analizar instalaciones, potencia, generación e ingresos agrupados por propietario.</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El canvas de la ontología muestra el grafo: cada nodo es un tipo de entidad y cada arista una relación. Al crear la ontología se generan en el workspace el item Ontology, un modelo de grafo, un Lakehouse y un punto de conexión de SQL Analytics. Desde la pestaña Instancias vemos una primera vista de los registros que alimentan cada entidad, y en Información general gráficos por propiedad.</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Pirámide del dato al conocimiento (de abajo arriba):</a:t>
            </a:r>
          </a:p>
          <a:p>
            <a:r>
              <a:t>- Datos: hechos en bruto (sensores, filas, eventos). Son la materia prima: registros procedentes de nuestros sistemas y fuentes de información, todavía sin contexto de negocio.</a:t>
            </a:r>
          </a:p>
          <a:p>
            <a:r>
              <a:t>- Información: KPIs, informes, contexto. El dato se limpia, transforma, relaciona y modela para responder a preguntas concretas y aportar significado.</a:t>
            </a:r>
          </a:p>
          <a:p>
            <a:r>
              <a:t>- Conocimiento: conceptos, relaciones, reglas. La ontología representa qué significa cada elemento, cómo se relaciona con los demás y qué reglas gobiernan esas relaciones. Aquí pasamos de describir datos a representar el negocio.</a:t>
            </a:r>
          </a:p>
          <a:p>
            <a:r>
              <a:t>- Inteligencia: razona sobre el conocimiento. La IA utiliza ese contexto para interpretar preguntas, conectar conceptos, navegar relaciones y obtener respuestas con significado de negocio.</a:t>
            </a:r>
          </a:p>
          <a:p>
            <a:r>
              <a:t>- Agentes: actúan de forma gobernada. El conocimiento se convierte en acción: los agentes pueden consultar, razonar, decidir qué herramientas utilizar y ejecutar acciones manteniendo el contexto empresarial.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svg"/><Relationship Id="rId3" Type="http://schemas.openxmlformats.org/officeDocument/2006/relationships/image" Target="../media/image8.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sv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sv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WIF — Cover">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pic>
        <p:nvPicPr>
          <p:cNvPr id="8" name="Imagen 7">
            <a:extLst>
              <a:ext uri="{FF2B5EF4-FFF2-40B4-BE49-F238E27FC236}">
                <a16:creationId xmlns:a16="http://schemas.microsoft.com/office/drawing/2014/main" id="{86BBCBD7-96D3-EFCD-C9AE-980F43A06186}"/>
              </a:ext>
            </a:extLst>
          </p:cNvPr>
          <p:cNvPicPr>
            <a:picLocks noChangeAspect="1"/>
          </p:cNvPicPr>
          <p:nvPr userDrawn="1"/>
        </p:nvPicPr>
        <p:blipFill>
          <a:blip r:embed="rId2"/>
          <a:stretch>
            <a:fillRect/>
          </a:stretch>
        </p:blipFill>
        <p:spPr>
          <a:xfrm>
            <a:off x="-396" y="-9526"/>
            <a:ext cx="18304932" cy="10296525"/>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WIF — Sponsor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56FD723-1F28-B30B-A3D9-2AF203455683}"/>
              </a:ext>
            </a:extLst>
          </p:cNvPr>
          <p:cNvSpPr>
            <a:spLocks noGrp="1"/>
          </p:cNvSpPr>
          <p:nvPr>
            <p:ph type="title"/>
          </p:nvPr>
        </p:nvSpPr>
        <p:spPr/>
        <p:txBody>
          <a:bodyPr/>
          <a:lstStyle/>
          <a:p>
            <a:r>
              <a:rPr lang="es-ES"/>
              <a:t>Haga clic para modificar el estilo de título del patrón</a:t>
            </a:r>
          </a:p>
        </p:txBody>
      </p:sp>
      <p:sp>
        <p:nvSpPr>
          <p:cNvPr id="3" name="Marcador de fecha 2">
            <a:extLst>
              <a:ext uri="{FF2B5EF4-FFF2-40B4-BE49-F238E27FC236}">
                <a16:creationId xmlns:a16="http://schemas.microsoft.com/office/drawing/2014/main" id="{DEBA22C6-FA55-EE0A-249A-BDB4F3B08709}"/>
              </a:ext>
            </a:extLst>
          </p:cNvPr>
          <p:cNvSpPr>
            <a:spLocks noGrp="1"/>
          </p:cNvSpPr>
          <p:nvPr>
            <p:ph type="dt" sz="half" idx="10"/>
          </p:nvPr>
        </p:nvSpPr>
        <p:spPr/>
        <p:txBody>
          <a:bodyPr/>
          <a:lstStyle/>
          <a:p>
            <a:fld id="{9F89E1BA-D774-4559-AFDF-9F1D6173A714}" type="datetimeFigureOut">
              <a:rPr lang="es-ES" smtClean="0"/>
              <a:t>27/09/2026</a:t>
            </a:fld>
            <a:endParaRPr lang="es-ES"/>
          </a:p>
        </p:txBody>
      </p:sp>
      <p:sp>
        <p:nvSpPr>
          <p:cNvPr id="4" name="Marcador de pie de página 3">
            <a:extLst>
              <a:ext uri="{FF2B5EF4-FFF2-40B4-BE49-F238E27FC236}">
                <a16:creationId xmlns:a16="http://schemas.microsoft.com/office/drawing/2014/main" id="{D2921E47-3629-81C9-5575-02641B9CBE54}"/>
              </a:ext>
            </a:extLst>
          </p:cNvPr>
          <p:cNvSpPr>
            <a:spLocks noGrp="1"/>
          </p:cNvSpPr>
          <p:nvPr>
            <p:ph type="ftr" sz="quarter" idx="11"/>
          </p:nvPr>
        </p:nvSpPr>
        <p:spPr/>
        <p:txBody>
          <a:bodyPr/>
          <a:lstStyle/>
          <a:p>
            <a:endParaRPr lang="es-ES"/>
          </a:p>
        </p:txBody>
      </p:sp>
      <p:sp>
        <p:nvSpPr>
          <p:cNvPr id="5" name="Marcador de número de diapositiva 4">
            <a:extLst>
              <a:ext uri="{FF2B5EF4-FFF2-40B4-BE49-F238E27FC236}">
                <a16:creationId xmlns:a16="http://schemas.microsoft.com/office/drawing/2014/main" id="{EB1D5594-A62C-24B7-ABAA-C4FB35175F5B}"/>
              </a:ext>
            </a:extLst>
          </p:cNvPr>
          <p:cNvSpPr>
            <a:spLocks noGrp="1"/>
          </p:cNvSpPr>
          <p:nvPr>
            <p:ph type="sldNum" sz="quarter" idx="12"/>
          </p:nvPr>
        </p:nvSpPr>
        <p:spPr/>
        <p:txBody>
          <a:bodyPr/>
          <a:lstStyle/>
          <a:p>
            <a:fld id="{E643BDDE-721F-43FB-92B2-515CD48EB947}" type="slidenum">
              <a:rPr lang="es-ES" smtClean="0"/>
              <a:t>‹Nº›</a:t>
            </a:fld>
            <a:endParaRPr lang="es-ES"/>
          </a:p>
        </p:txBody>
      </p:sp>
      <p:pic>
        <p:nvPicPr>
          <p:cNvPr id="7" name="Imagen 6">
            <a:extLst>
              <a:ext uri="{FF2B5EF4-FFF2-40B4-BE49-F238E27FC236}">
                <a16:creationId xmlns:a16="http://schemas.microsoft.com/office/drawing/2014/main" id="{92DD6A9D-8039-86B9-CE57-D2301BCBAA52}"/>
              </a:ext>
            </a:extLst>
          </p:cNvPr>
          <p:cNvPicPr>
            <a:picLocks noChangeAspect="1"/>
          </p:cNvPicPr>
          <p:nvPr userDrawn="1"/>
        </p:nvPicPr>
        <p:blipFill>
          <a:blip r:embed="rId2"/>
          <a:stretch>
            <a:fillRect/>
          </a:stretch>
        </p:blipFill>
        <p:spPr>
          <a:xfrm>
            <a:off x="1" y="-38100"/>
            <a:ext cx="18288000" cy="10338954"/>
          </a:xfrm>
          <a:prstGeom prst="rect">
            <a:avLst/>
          </a:prstGeom>
        </p:spPr>
      </p:pic>
    </p:spTree>
    <p:extLst>
      <p:ext uri="{BB962C8B-B14F-4D97-AF65-F5344CB8AC3E}">
        <p14:creationId xmlns:p14="http://schemas.microsoft.com/office/powerpoint/2010/main" val="39032957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WIF — Sticker hunt (E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BEBA8BE-7C5D-4788-8333-6B01B0E84AB3}"/>
              </a:ext>
            </a:extLst>
          </p:cNvPr>
          <p:cNvSpPr>
            <a:spLocks noGrp="1"/>
          </p:cNvSpPr>
          <p:nvPr>
            <p:ph type="title"/>
          </p:nvPr>
        </p:nvSpPr>
        <p:spPr/>
        <p:txBody>
          <a:bodyPr/>
          <a:lstStyle/>
          <a:p>
            <a:r>
              <a:rPr lang="es-ES"/>
              <a:t>Haga clic para modificar el estilo de título del patrón</a:t>
            </a:r>
          </a:p>
        </p:txBody>
      </p:sp>
      <p:sp>
        <p:nvSpPr>
          <p:cNvPr id="3" name="Marcador de fecha 2">
            <a:extLst>
              <a:ext uri="{FF2B5EF4-FFF2-40B4-BE49-F238E27FC236}">
                <a16:creationId xmlns:a16="http://schemas.microsoft.com/office/drawing/2014/main" id="{4A240AF0-2668-AF68-3F54-813DDC2B2524}"/>
              </a:ext>
            </a:extLst>
          </p:cNvPr>
          <p:cNvSpPr>
            <a:spLocks noGrp="1"/>
          </p:cNvSpPr>
          <p:nvPr>
            <p:ph type="dt" sz="half" idx="10"/>
          </p:nvPr>
        </p:nvSpPr>
        <p:spPr/>
        <p:txBody>
          <a:bodyPr/>
          <a:lstStyle/>
          <a:p>
            <a:fld id="{9F89E1BA-D774-4559-AFDF-9F1D6173A714}" type="datetimeFigureOut">
              <a:rPr lang="es-ES" smtClean="0"/>
              <a:t>27/09/2026</a:t>
            </a:fld>
            <a:endParaRPr lang="es-ES"/>
          </a:p>
        </p:txBody>
      </p:sp>
      <p:sp>
        <p:nvSpPr>
          <p:cNvPr id="4" name="Marcador de pie de página 3">
            <a:extLst>
              <a:ext uri="{FF2B5EF4-FFF2-40B4-BE49-F238E27FC236}">
                <a16:creationId xmlns:a16="http://schemas.microsoft.com/office/drawing/2014/main" id="{68F630DA-22A9-80AD-00B7-BE21D674B004}"/>
              </a:ext>
            </a:extLst>
          </p:cNvPr>
          <p:cNvSpPr>
            <a:spLocks noGrp="1"/>
          </p:cNvSpPr>
          <p:nvPr>
            <p:ph type="ftr" sz="quarter" idx="11"/>
          </p:nvPr>
        </p:nvSpPr>
        <p:spPr/>
        <p:txBody>
          <a:bodyPr/>
          <a:lstStyle/>
          <a:p>
            <a:endParaRPr lang="es-ES"/>
          </a:p>
        </p:txBody>
      </p:sp>
      <p:sp>
        <p:nvSpPr>
          <p:cNvPr id="5" name="Marcador de número de diapositiva 4">
            <a:extLst>
              <a:ext uri="{FF2B5EF4-FFF2-40B4-BE49-F238E27FC236}">
                <a16:creationId xmlns:a16="http://schemas.microsoft.com/office/drawing/2014/main" id="{50B949AB-B93C-AFE8-D9E7-869C46863707}"/>
              </a:ext>
            </a:extLst>
          </p:cNvPr>
          <p:cNvSpPr>
            <a:spLocks noGrp="1"/>
          </p:cNvSpPr>
          <p:nvPr>
            <p:ph type="sldNum" sz="quarter" idx="12"/>
          </p:nvPr>
        </p:nvSpPr>
        <p:spPr/>
        <p:txBody>
          <a:bodyPr/>
          <a:lstStyle/>
          <a:p>
            <a:fld id="{E643BDDE-721F-43FB-92B2-515CD48EB947}" type="slidenum">
              <a:rPr lang="es-ES" smtClean="0"/>
              <a:t>‹Nº›</a:t>
            </a:fld>
            <a:endParaRPr lang="es-ES"/>
          </a:p>
        </p:txBody>
      </p:sp>
      <p:pic>
        <p:nvPicPr>
          <p:cNvPr id="7" name="Imagen 6">
            <a:extLst>
              <a:ext uri="{FF2B5EF4-FFF2-40B4-BE49-F238E27FC236}">
                <a16:creationId xmlns:a16="http://schemas.microsoft.com/office/drawing/2014/main" id="{AAF0013F-2EAA-2D66-0C2E-F09D1039B064}"/>
              </a:ext>
            </a:extLst>
          </p:cNvPr>
          <p:cNvPicPr>
            <a:picLocks noChangeAspect="1"/>
          </p:cNvPicPr>
          <p:nvPr userDrawn="1"/>
        </p:nvPicPr>
        <p:blipFill>
          <a:blip r:embed="rId2"/>
          <a:stretch>
            <a:fillRect/>
          </a:stretch>
        </p:blipFill>
        <p:spPr>
          <a:xfrm>
            <a:off x="0" y="-1"/>
            <a:ext cx="18288000" cy="10299989"/>
          </a:xfrm>
          <a:prstGeom prst="rect">
            <a:avLst/>
          </a:prstGeom>
        </p:spPr>
      </p:pic>
    </p:spTree>
    <p:extLst>
      <p:ext uri="{BB962C8B-B14F-4D97-AF65-F5344CB8AC3E}">
        <p14:creationId xmlns:p14="http://schemas.microsoft.com/office/powerpoint/2010/main" val="30314440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WIF — Sticker hunt (E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77F8B35-B940-3176-B6AF-658E94DE9FAB}"/>
              </a:ext>
            </a:extLst>
          </p:cNvPr>
          <p:cNvSpPr>
            <a:spLocks noGrp="1"/>
          </p:cNvSpPr>
          <p:nvPr>
            <p:ph type="title"/>
          </p:nvPr>
        </p:nvSpPr>
        <p:spPr/>
        <p:txBody>
          <a:bodyPr/>
          <a:lstStyle/>
          <a:p>
            <a:r>
              <a:rPr lang="es-ES"/>
              <a:t>Haga clic para modificar el estilo de título del patrón</a:t>
            </a:r>
          </a:p>
        </p:txBody>
      </p:sp>
      <p:sp>
        <p:nvSpPr>
          <p:cNvPr id="3" name="Marcador de fecha 2">
            <a:extLst>
              <a:ext uri="{FF2B5EF4-FFF2-40B4-BE49-F238E27FC236}">
                <a16:creationId xmlns:a16="http://schemas.microsoft.com/office/drawing/2014/main" id="{9A8992CF-9E8F-8039-4E43-F032D78C3158}"/>
              </a:ext>
            </a:extLst>
          </p:cNvPr>
          <p:cNvSpPr>
            <a:spLocks noGrp="1"/>
          </p:cNvSpPr>
          <p:nvPr>
            <p:ph type="dt" sz="half" idx="10"/>
          </p:nvPr>
        </p:nvSpPr>
        <p:spPr/>
        <p:txBody>
          <a:bodyPr/>
          <a:lstStyle/>
          <a:p>
            <a:fld id="{9F89E1BA-D774-4559-AFDF-9F1D6173A714}" type="datetimeFigureOut">
              <a:rPr lang="es-ES" smtClean="0"/>
              <a:t>27/09/2026</a:t>
            </a:fld>
            <a:endParaRPr lang="es-ES"/>
          </a:p>
        </p:txBody>
      </p:sp>
      <p:sp>
        <p:nvSpPr>
          <p:cNvPr id="4" name="Marcador de pie de página 3">
            <a:extLst>
              <a:ext uri="{FF2B5EF4-FFF2-40B4-BE49-F238E27FC236}">
                <a16:creationId xmlns:a16="http://schemas.microsoft.com/office/drawing/2014/main" id="{BBA68AE2-BEC4-F34F-CFB7-EF6BA59CCC8A}"/>
              </a:ext>
            </a:extLst>
          </p:cNvPr>
          <p:cNvSpPr>
            <a:spLocks noGrp="1"/>
          </p:cNvSpPr>
          <p:nvPr>
            <p:ph type="ftr" sz="quarter" idx="11"/>
          </p:nvPr>
        </p:nvSpPr>
        <p:spPr/>
        <p:txBody>
          <a:bodyPr/>
          <a:lstStyle/>
          <a:p>
            <a:endParaRPr lang="es-ES"/>
          </a:p>
        </p:txBody>
      </p:sp>
      <p:sp>
        <p:nvSpPr>
          <p:cNvPr id="5" name="Marcador de número de diapositiva 4">
            <a:extLst>
              <a:ext uri="{FF2B5EF4-FFF2-40B4-BE49-F238E27FC236}">
                <a16:creationId xmlns:a16="http://schemas.microsoft.com/office/drawing/2014/main" id="{667EAB39-4EAD-AAC5-946B-572811EE5C1B}"/>
              </a:ext>
            </a:extLst>
          </p:cNvPr>
          <p:cNvSpPr>
            <a:spLocks noGrp="1"/>
          </p:cNvSpPr>
          <p:nvPr>
            <p:ph type="sldNum" sz="quarter" idx="12"/>
          </p:nvPr>
        </p:nvSpPr>
        <p:spPr/>
        <p:txBody>
          <a:bodyPr/>
          <a:lstStyle/>
          <a:p>
            <a:fld id="{E643BDDE-721F-43FB-92B2-515CD48EB947}" type="slidenum">
              <a:rPr lang="es-ES" smtClean="0"/>
              <a:t>‹Nº›</a:t>
            </a:fld>
            <a:endParaRPr lang="es-ES"/>
          </a:p>
        </p:txBody>
      </p:sp>
      <p:pic>
        <p:nvPicPr>
          <p:cNvPr id="7" name="Imagen 6">
            <a:extLst>
              <a:ext uri="{FF2B5EF4-FFF2-40B4-BE49-F238E27FC236}">
                <a16:creationId xmlns:a16="http://schemas.microsoft.com/office/drawing/2014/main" id="{0EA7035E-78A4-5C74-894B-5A22923F148D}"/>
              </a:ext>
            </a:extLst>
          </p:cNvPr>
          <p:cNvPicPr>
            <a:picLocks noChangeAspect="1"/>
          </p:cNvPicPr>
          <p:nvPr userDrawn="1"/>
        </p:nvPicPr>
        <p:blipFill>
          <a:blip r:embed="rId2"/>
          <a:stretch>
            <a:fillRect/>
          </a:stretch>
        </p:blipFill>
        <p:spPr>
          <a:xfrm>
            <a:off x="0" y="-14366"/>
            <a:ext cx="18283306" cy="10301366"/>
          </a:xfrm>
          <a:prstGeom prst="rect">
            <a:avLst/>
          </a:prstGeom>
        </p:spPr>
      </p:pic>
    </p:spTree>
    <p:extLst>
      <p:ext uri="{BB962C8B-B14F-4D97-AF65-F5344CB8AC3E}">
        <p14:creationId xmlns:p14="http://schemas.microsoft.com/office/powerpoint/2010/main" val="38201435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WIF — Photo challenge (E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F6A3156-238B-3115-3895-972A12112188}"/>
              </a:ext>
            </a:extLst>
          </p:cNvPr>
          <p:cNvSpPr>
            <a:spLocks noGrp="1"/>
          </p:cNvSpPr>
          <p:nvPr>
            <p:ph type="title"/>
          </p:nvPr>
        </p:nvSpPr>
        <p:spPr/>
        <p:txBody>
          <a:bodyPr/>
          <a:lstStyle/>
          <a:p>
            <a:r>
              <a:rPr lang="es-ES"/>
              <a:t>Haga clic para modificar el estilo de título del patrón</a:t>
            </a:r>
          </a:p>
        </p:txBody>
      </p:sp>
      <p:sp>
        <p:nvSpPr>
          <p:cNvPr id="3" name="Marcador de fecha 2">
            <a:extLst>
              <a:ext uri="{FF2B5EF4-FFF2-40B4-BE49-F238E27FC236}">
                <a16:creationId xmlns:a16="http://schemas.microsoft.com/office/drawing/2014/main" id="{3A3CD627-DA27-2ACF-89CD-FB9E3DDE69AF}"/>
              </a:ext>
            </a:extLst>
          </p:cNvPr>
          <p:cNvSpPr>
            <a:spLocks noGrp="1"/>
          </p:cNvSpPr>
          <p:nvPr>
            <p:ph type="dt" sz="half" idx="10"/>
          </p:nvPr>
        </p:nvSpPr>
        <p:spPr/>
        <p:txBody>
          <a:bodyPr/>
          <a:lstStyle/>
          <a:p>
            <a:fld id="{9F89E1BA-D774-4559-AFDF-9F1D6173A714}" type="datetimeFigureOut">
              <a:rPr lang="es-ES" smtClean="0"/>
              <a:t>27/09/2026</a:t>
            </a:fld>
            <a:endParaRPr lang="es-ES"/>
          </a:p>
        </p:txBody>
      </p:sp>
      <p:sp>
        <p:nvSpPr>
          <p:cNvPr id="4" name="Marcador de pie de página 3">
            <a:extLst>
              <a:ext uri="{FF2B5EF4-FFF2-40B4-BE49-F238E27FC236}">
                <a16:creationId xmlns:a16="http://schemas.microsoft.com/office/drawing/2014/main" id="{8D722F3B-CD68-1AA5-3DAE-E133B85E1475}"/>
              </a:ext>
            </a:extLst>
          </p:cNvPr>
          <p:cNvSpPr>
            <a:spLocks noGrp="1"/>
          </p:cNvSpPr>
          <p:nvPr>
            <p:ph type="ftr" sz="quarter" idx="11"/>
          </p:nvPr>
        </p:nvSpPr>
        <p:spPr/>
        <p:txBody>
          <a:bodyPr/>
          <a:lstStyle/>
          <a:p>
            <a:endParaRPr lang="es-ES"/>
          </a:p>
        </p:txBody>
      </p:sp>
      <p:sp>
        <p:nvSpPr>
          <p:cNvPr id="5" name="Marcador de número de diapositiva 4">
            <a:extLst>
              <a:ext uri="{FF2B5EF4-FFF2-40B4-BE49-F238E27FC236}">
                <a16:creationId xmlns:a16="http://schemas.microsoft.com/office/drawing/2014/main" id="{B92331BD-7561-EFED-C0B0-4B681C3550B5}"/>
              </a:ext>
            </a:extLst>
          </p:cNvPr>
          <p:cNvSpPr>
            <a:spLocks noGrp="1"/>
          </p:cNvSpPr>
          <p:nvPr>
            <p:ph type="sldNum" sz="quarter" idx="12"/>
          </p:nvPr>
        </p:nvSpPr>
        <p:spPr/>
        <p:txBody>
          <a:bodyPr/>
          <a:lstStyle/>
          <a:p>
            <a:fld id="{E643BDDE-721F-43FB-92B2-515CD48EB947}" type="slidenum">
              <a:rPr lang="es-ES" smtClean="0"/>
              <a:t>‹Nº›</a:t>
            </a:fld>
            <a:endParaRPr lang="es-ES"/>
          </a:p>
        </p:txBody>
      </p:sp>
      <p:pic>
        <p:nvPicPr>
          <p:cNvPr id="7" name="Imagen 6">
            <a:extLst>
              <a:ext uri="{FF2B5EF4-FFF2-40B4-BE49-F238E27FC236}">
                <a16:creationId xmlns:a16="http://schemas.microsoft.com/office/drawing/2014/main" id="{6DA85BBD-92D3-7A8F-6F8F-5B2524E587F2}"/>
              </a:ext>
            </a:extLst>
          </p:cNvPr>
          <p:cNvPicPr>
            <a:picLocks noChangeAspect="1"/>
          </p:cNvPicPr>
          <p:nvPr userDrawn="1"/>
        </p:nvPicPr>
        <p:blipFill>
          <a:blip r:embed="rId2"/>
          <a:stretch>
            <a:fillRect/>
          </a:stretch>
        </p:blipFill>
        <p:spPr>
          <a:xfrm>
            <a:off x="-136099" y="4563"/>
            <a:ext cx="18433261" cy="10320537"/>
          </a:xfrm>
          <a:prstGeom prst="rect">
            <a:avLst/>
          </a:prstGeom>
        </p:spPr>
      </p:pic>
    </p:spTree>
    <p:extLst>
      <p:ext uri="{BB962C8B-B14F-4D97-AF65-F5344CB8AC3E}">
        <p14:creationId xmlns:p14="http://schemas.microsoft.com/office/powerpoint/2010/main" val="41354827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WIF — Photo challenge (E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9CB9A4B-67AC-AC43-85EF-D1FB388A038C}"/>
              </a:ext>
            </a:extLst>
          </p:cNvPr>
          <p:cNvSpPr>
            <a:spLocks noGrp="1"/>
          </p:cNvSpPr>
          <p:nvPr>
            <p:ph type="title"/>
          </p:nvPr>
        </p:nvSpPr>
        <p:spPr/>
        <p:txBody>
          <a:bodyPr/>
          <a:lstStyle/>
          <a:p>
            <a:r>
              <a:rPr lang="es-ES"/>
              <a:t>Haga clic para modificar el estilo de título del patrón</a:t>
            </a:r>
          </a:p>
        </p:txBody>
      </p:sp>
      <p:sp>
        <p:nvSpPr>
          <p:cNvPr id="3" name="Marcador de fecha 2">
            <a:extLst>
              <a:ext uri="{FF2B5EF4-FFF2-40B4-BE49-F238E27FC236}">
                <a16:creationId xmlns:a16="http://schemas.microsoft.com/office/drawing/2014/main" id="{074D512C-EC86-821B-E0F4-D04F484EADCB}"/>
              </a:ext>
            </a:extLst>
          </p:cNvPr>
          <p:cNvSpPr>
            <a:spLocks noGrp="1"/>
          </p:cNvSpPr>
          <p:nvPr>
            <p:ph type="dt" sz="half" idx="10"/>
          </p:nvPr>
        </p:nvSpPr>
        <p:spPr/>
        <p:txBody>
          <a:bodyPr/>
          <a:lstStyle/>
          <a:p>
            <a:fld id="{9F89E1BA-D774-4559-AFDF-9F1D6173A714}" type="datetimeFigureOut">
              <a:rPr lang="es-ES" smtClean="0"/>
              <a:t>27/09/2026</a:t>
            </a:fld>
            <a:endParaRPr lang="es-ES"/>
          </a:p>
        </p:txBody>
      </p:sp>
      <p:sp>
        <p:nvSpPr>
          <p:cNvPr id="4" name="Marcador de pie de página 3">
            <a:extLst>
              <a:ext uri="{FF2B5EF4-FFF2-40B4-BE49-F238E27FC236}">
                <a16:creationId xmlns:a16="http://schemas.microsoft.com/office/drawing/2014/main" id="{6834F26B-375C-A8C2-2A3E-74878F2D4DE5}"/>
              </a:ext>
            </a:extLst>
          </p:cNvPr>
          <p:cNvSpPr>
            <a:spLocks noGrp="1"/>
          </p:cNvSpPr>
          <p:nvPr>
            <p:ph type="ftr" sz="quarter" idx="11"/>
          </p:nvPr>
        </p:nvSpPr>
        <p:spPr/>
        <p:txBody>
          <a:bodyPr/>
          <a:lstStyle/>
          <a:p>
            <a:endParaRPr lang="es-ES"/>
          </a:p>
        </p:txBody>
      </p:sp>
      <p:sp>
        <p:nvSpPr>
          <p:cNvPr id="5" name="Marcador de número de diapositiva 4">
            <a:extLst>
              <a:ext uri="{FF2B5EF4-FFF2-40B4-BE49-F238E27FC236}">
                <a16:creationId xmlns:a16="http://schemas.microsoft.com/office/drawing/2014/main" id="{67A42EDA-615A-F853-CE45-EBB03C1EE192}"/>
              </a:ext>
            </a:extLst>
          </p:cNvPr>
          <p:cNvSpPr>
            <a:spLocks noGrp="1"/>
          </p:cNvSpPr>
          <p:nvPr>
            <p:ph type="sldNum" sz="quarter" idx="12"/>
          </p:nvPr>
        </p:nvSpPr>
        <p:spPr/>
        <p:txBody>
          <a:bodyPr/>
          <a:lstStyle/>
          <a:p>
            <a:fld id="{E643BDDE-721F-43FB-92B2-515CD48EB947}" type="slidenum">
              <a:rPr lang="es-ES" smtClean="0"/>
              <a:t>‹Nº›</a:t>
            </a:fld>
            <a:endParaRPr lang="es-ES"/>
          </a:p>
        </p:txBody>
      </p:sp>
      <p:pic>
        <p:nvPicPr>
          <p:cNvPr id="7" name="Imagen 6">
            <a:extLst>
              <a:ext uri="{FF2B5EF4-FFF2-40B4-BE49-F238E27FC236}">
                <a16:creationId xmlns:a16="http://schemas.microsoft.com/office/drawing/2014/main" id="{E9A9E767-2D44-C6ED-4020-52C219F17C07}"/>
              </a:ext>
            </a:extLst>
          </p:cNvPr>
          <p:cNvPicPr>
            <a:picLocks noChangeAspect="1"/>
          </p:cNvPicPr>
          <p:nvPr userDrawn="1"/>
        </p:nvPicPr>
        <p:blipFill>
          <a:blip r:embed="rId2"/>
          <a:stretch>
            <a:fillRect/>
          </a:stretch>
        </p:blipFill>
        <p:spPr>
          <a:xfrm>
            <a:off x="-119305" y="-38100"/>
            <a:ext cx="18407305" cy="10401300"/>
          </a:xfrm>
          <a:prstGeom prst="rect">
            <a:avLst/>
          </a:prstGeom>
        </p:spPr>
      </p:pic>
    </p:spTree>
    <p:extLst>
      <p:ext uri="{BB962C8B-B14F-4D97-AF65-F5344CB8AC3E}">
        <p14:creationId xmlns:p14="http://schemas.microsoft.com/office/powerpoint/2010/main" val="35208835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WIF — Light photo &amp; bio">
    <p:bg>
      <p:bgPr>
        <a:solidFill>
          <a:srgbClr val="EDEDED"/>
        </a:solidFill>
        <a:effectLst/>
      </p:bgPr>
    </p:bg>
    <p:spTree>
      <p:nvGrpSpPr>
        <p:cNvPr id="1" name=""/>
        <p:cNvGrpSpPr/>
        <p:nvPr/>
      </p:nvGrpSpPr>
      <p:grpSpPr>
        <a:xfrm>
          <a:off x="0" y="0"/>
          <a:ext cx="0" cy="0"/>
          <a:chOff x="0" y="0"/>
          <a:chExt cx="0" cy="0"/>
        </a:xfrm>
      </p:grpSpPr>
      <p:sp>
        <p:nvSpPr>
          <p:cNvPr id="2" name="Freeform 2"/>
          <p:cNvSpPr/>
          <p:nvPr/>
        </p:nvSpPr>
        <p:spPr>
          <a:xfrm>
            <a:off x="-9388345" y="-1062949"/>
            <a:ext cx="12187210" cy="12412899"/>
          </a:xfrm>
          <a:custGeom>
            <a:avLst/>
            <a:gdLst/>
            <a:ahLst/>
            <a:cxnLst/>
            <a:rect l="l" t="t" r="r" b="b"/>
            <a:pathLst>
              <a:path w="12187210" h="12412899">
                <a:moveTo>
                  <a:pt x="0" y="0"/>
                </a:moveTo>
                <a:lnTo>
                  <a:pt x="12187209" y="0"/>
                </a:lnTo>
                <a:lnTo>
                  <a:pt x="12187209" y="12412898"/>
                </a:lnTo>
                <a:lnTo>
                  <a:pt x="0" y="12412898"/>
                </a:lnTo>
                <a:lnTo>
                  <a:pt x="0" y="0"/>
                </a:lnTo>
                <a:close/>
              </a:path>
            </a:pathLst>
          </a:custGeom>
          <a:blipFill>
            <a:blip>
              <a:alphaModFix amt="25000"/>
              <a:extLst>
                <a:ext uri="{96DAC541-7B7A-43D3-8B79-37D633B846F1}">
                  <asvg:svgBlip xmlns:asvg="http://schemas.microsoft.com/office/drawing/2016/SVG/main" r:embed="rId2"/>
                </a:ext>
              </a:extLst>
            </a:blip>
            <a:stretch>
              <a:fillRect/>
            </a:stretch>
          </a:blipFill>
        </p:spPr>
      </p:sp>
      <p:sp>
        <p:nvSpPr>
          <p:cNvPr id="3" name="Freeform 3"/>
          <p:cNvSpPr/>
          <p:nvPr/>
        </p:nvSpPr>
        <p:spPr>
          <a:xfrm>
            <a:off x="15560104" y="-1062949"/>
            <a:ext cx="12187210" cy="12412899"/>
          </a:xfrm>
          <a:custGeom>
            <a:avLst/>
            <a:gdLst/>
            <a:ahLst/>
            <a:cxnLst/>
            <a:rect l="l" t="t" r="r" b="b"/>
            <a:pathLst>
              <a:path w="12187210" h="12412899">
                <a:moveTo>
                  <a:pt x="0" y="0"/>
                </a:moveTo>
                <a:lnTo>
                  <a:pt x="12187210" y="0"/>
                </a:lnTo>
                <a:lnTo>
                  <a:pt x="12187210" y="12412898"/>
                </a:lnTo>
                <a:lnTo>
                  <a:pt x="0" y="12412898"/>
                </a:lnTo>
                <a:lnTo>
                  <a:pt x="0" y="0"/>
                </a:lnTo>
                <a:close/>
              </a:path>
            </a:pathLst>
          </a:custGeom>
          <a:blipFill>
            <a:blip>
              <a:alphaModFix amt="25000"/>
              <a:extLst>
                <a:ext uri="{96DAC541-7B7A-43D3-8B79-37D633B846F1}">
                  <asvg:svgBlip xmlns:asvg="http://schemas.microsoft.com/office/drawing/2016/SVG/main" r:embed="rId2"/>
                </a:ext>
              </a:extLst>
            </a:blip>
            <a:stretch>
              <a:fillRect/>
            </a:stretch>
          </a:blipFill>
        </p:spPr>
      </p:sp>
      <p:grpSp>
        <p:nvGrpSpPr>
          <p:cNvPr id="4" name="Group 4"/>
          <p:cNvGrpSpPr/>
          <p:nvPr/>
        </p:nvGrpSpPr>
        <p:grpSpPr>
          <a:xfrm>
            <a:off x="5589484" y="-1062949"/>
            <a:ext cx="7109032" cy="2625024"/>
            <a:chOff x="0" y="0"/>
            <a:chExt cx="1872338" cy="691364"/>
          </a:xfrm>
        </p:grpSpPr>
        <p:sp>
          <p:nvSpPr>
            <p:cNvPr id="5" name="Freeform 5"/>
            <p:cNvSpPr/>
            <p:nvPr/>
          </p:nvSpPr>
          <p:spPr>
            <a:xfrm>
              <a:off x="0" y="0"/>
              <a:ext cx="1872338" cy="691364"/>
            </a:xfrm>
            <a:custGeom>
              <a:avLst/>
              <a:gdLst/>
              <a:ahLst/>
              <a:cxnLst/>
              <a:rect l="l" t="t" r="r" b="b"/>
              <a:pathLst>
                <a:path w="1872338" h="691364">
                  <a:moveTo>
                    <a:pt x="0" y="0"/>
                  </a:moveTo>
                  <a:lnTo>
                    <a:pt x="1872338" y="0"/>
                  </a:lnTo>
                  <a:lnTo>
                    <a:pt x="1872338" y="691364"/>
                  </a:lnTo>
                  <a:lnTo>
                    <a:pt x="0" y="691364"/>
                  </a:lnTo>
                  <a:close/>
                </a:path>
              </a:pathLst>
            </a:custGeom>
            <a:solidFill>
              <a:srgbClr val="7DE9B0"/>
            </a:solidFill>
          </p:spPr>
        </p:sp>
        <p:sp>
          <p:nvSpPr>
            <p:cNvPr id="6" name="TextBox 6"/>
            <p:cNvSpPr txBox="1"/>
            <p:nvPr/>
          </p:nvSpPr>
          <p:spPr>
            <a:xfrm>
              <a:off x="0" y="-38100"/>
              <a:ext cx="1872338" cy="729464"/>
            </a:xfrm>
            <a:prstGeom prst="rect">
              <a:avLst/>
            </a:prstGeom>
          </p:spPr>
          <p:txBody>
            <a:bodyPr lIns="50800" tIns="50800" rIns="50800" bIns="50800" rtlCol="0" anchor="ctr"/>
            <a:lstStyle/>
            <a:p>
              <a:pPr algn="ctr">
                <a:lnSpc>
                  <a:spcPts val="2659"/>
                </a:lnSpc>
              </a:pPr>
              <a:endParaRPr/>
            </a:p>
          </p:txBody>
        </p:sp>
      </p:grpSp>
      <p:pic>
        <p:nvPicPr>
          <p:cNvPr id="90" name="WIF wordmark"/>
          <p:cNvPicPr>
            <a:picLocks noChangeAspect="1"/>
          </p:cNvPicPr>
          <p:nvPr/>
        </p:nvPicPr>
        <p:blipFill>
          <a:blip r:embed="rId3"/>
          <a:stretch>
            <a:fillRect/>
          </a:stretch>
        </p:blipFill>
        <p:spPr>
          <a:xfrm>
            <a:off x="7613439" y="375148"/>
            <a:ext cx="3061122" cy="730267"/>
          </a:xfrm>
          <a:prstGeom prst="rect">
            <a:avLst/>
          </a:prstGeom>
        </p:spPr>
      </p:pic>
      <p:sp>
        <p:nvSpPr>
          <p:cNvPr id="10" name="Title 1">
            <a:extLst>
              <a:ext uri="{FF2B5EF4-FFF2-40B4-BE49-F238E27FC236}">
                <a16:creationId xmlns:a16="http://schemas.microsoft.com/office/drawing/2014/main" id="{BA50161F-4A72-7CAE-0445-6E683F4F5E07}"/>
              </a:ext>
            </a:extLst>
          </p:cNvPr>
          <p:cNvSpPr>
            <a:spLocks noGrp="1"/>
          </p:cNvSpPr>
          <p:nvPr>
            <p:ph type="ctrTitle" hasCustomPrompt="1"/>
          </p:nvPr>
        </p:nvSpPr>
        <p:spPr>
          <a:xfrm>
            <a:off x="1066801" y="2052069"/>
            <a:ext cx="7542410" cy="1470025"/>
          </a:xfrm>
        </p:spPr>
        <p:txBody>
          <a:bodyPr/>
          <a:lstStyle>
            <a:lvl1pPr>
              <a:defRPr/>
            </a:lvl1pPr>
          </a:lstStyle>
          <a:p>
            <a:r>
              <a:rPr lang="en-US" dirty="0"/>
              <a:t>Name</a:t>
            </a:r>
          </a:p>
        </p:txBody>
      </p:sp>
      <p:sp>
        <p:nvSpPr>
          <p:cNvPr id="11" name="Subtitle 2">
            <a:extLst>
              <a:ext uri="{FF2B5EF4-FFF2-40B4-BE49-F238E27FC236}">
                <a16:creationId xmlns:a16="http://schemas.microsoft.com/office/drawing/2014/main" id="{CD8301A5-75C3-61A6-03ED-4C88D39C395A}"/>
              </a:ext>
            </a:extLst>
          </p:cNvPr>
          <p:cNvSpPr>
            <a:spLocks noGrp="1"/>
          </p:cNvSpPr>
          <p:nvPr>
            <p:ph type="subTitle" idx="1" hasCustomPrompt="1"/>
          </p:nvPr>
        </p:nvSpPr>
        <p:spPr>
          <a:xfrm>
            <a:off x="1066800" y="4041147"/>
            <a:ext cx="7525621" cy="5521953"/>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BIO</a:t>
            </a:r>
          </a:p>
        </p:txBody>
      </p:sp>
      <p:sp>
        <p:nvSpPr>
          <p:cNvPr id="13" name="Marcador de posición de imagen 12">
            <a:extLst>
              <a:ext uri="{FF2B5EF4-FFF2-40B4-BE49-F238E27FC236}">
                <a16:creationId xmlns:a16="http://schemas.microsoft.com/office/drawing/2014/main" id="{2F8CA9B5-7D33-2954-6568-6AD1DC3F5013}"/>
              </a:ext>
            </a:extLst>
          </p:cNvPr>
          <p:cNvSpPr>
            <a:spLocks noGrp="1"/>
          </p:cNvSpPr>
          <p:nvPr>
            <p:ph type="pic" sz="quarter" idx="10"/>
          </p:nvPr>
        </p:nvSpPr>
        <p:spPr>
          <a:xfrm>
            <a:off x="9448800" y="2052068"/>
            <a:ext cx="7772400" cy="7511031"/>
          </a:xfrm>
        </p:spPr>
        <p:txBody>
          <a:bodyPr/>
          <a:lstStyle/>
          <a:p>
            <a:endParaRPr lang="es-E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WIF — Dark photo &amp; bio">
    <p:bg>
      <p:bgPr>
        <a:solidFill>
          <a:srgbClr val="09534E"/>
        </a:solidFill>
        <a:effectLst/>
      </p:bgPr>
    </p:bg>
    <p:spTree>
      <p:nvGrpSpPr>
        <p:cNvPr id="1" name=""/>
        <p:cNvGrpSpPr/>
        <p:nvPr/>
      </p:nvGrpSpPr>
      <p:grpSpPr>
        <a:xfrm>
          <a:off x="0" y="0"/>
          <a:ext cx="0" cy="0"/>
          <a:chOff x="0" y="0"/>
          <a:chExt cx="0" cy="0"/>
        </a:xfrm>
      </p:grpSpPr>
      <p:sp>
        <p:nvSpPr>
          <p:cNvPr id="2" name="Freeform 2"/>
          <p:cNvSpPr/>
          <p:nvPr/>
        </p:nvSpPr>
        <p:spPr>
          <a:xfrm>
            <a:off x="-9388345" y="-1062949"/>
            <a:ext cx="12187210" cy="12412899"/>
          </a:xfrm>
          <a:custGeom>
            <a:avLst/>
            <a:gdLst/>
            <a:ahLst/>
            <a:cxnLst/>
            <a:rect l="l" t="t" r="r" b="b"/>
            <a:pathLst>
              <a:path w="12187210" h="12412899">
                <a:moveTo>
                  <a:pt x="0" y="0"/>
                </a:moveTo>
                <a:lnTo>
                  <a:pt x="12187209" y="0"/>
                </a:lnTo>
                <a:lnTo>
                  <a:pt x="12187209" y="12412898"/>
                </a:lnTo>
                <a:lnTo>
                  <a:pt x="0" y="12412898"/>
                </a:lnTo>
                <a:lnTo>
                  <a:pt x="0" y="0"/>
                </a:lnTo>
                <a:close/>
              </a:path>
            </a:pathLst>
          </a:custGeom>
          <a:blipFill>
            <a:blip>
              <a:alphaModFix amt="25000"/>
              <a:extLst>
                <a:ext uri="{96DAC541-7B7A-43D3-8B79-37D633B846F1}">
                  <asvg:svgBlip xmlns:asvg="http://schemas.microsoft.com/office/drawing/2016/SVG/main" r:embed="rId2"/>
                </a:ext>
              </a:extLst>
            </a:blip>
            <a:stretch>
              <a:fillRect/>
            </a:stretch>
          </a:blipFill>
        </p:spPr>
      </p:sp>
      <p:sp>
        <p:nvSpPr>
          <p:cNvPr id="3" name="Freeform 3"/>
          <p:cNvSpPr/>
          <p:nvPr/>
        </p:nvSpPr>
        <p:spPr>
          <a:xfrm>
            <a:off x="15560104" y="-1062949"/>
            <a:ext cx="12187210" cy="12412899"/>
          </a:xfrm>
          <a:custGeom>
            <a:avLst/>
            <a:gdLst/>
            <a:ahLst/>
            <a:cxnLst/>
            <a:rect l="l" t="t" r="r" b="b"/>
            <a:pathLst>
              <a:path w="12187210" h="12412899">
                <a:moveTo>
                  <a:pt x="0" y="0"/>
                </a:moveTo>
                <a:lnTo>
                  <a:pt x="12187210" y="0"/>
                </a:lnTo>
                <a:lnTo>
                  <a:pt x="12187210" y="12412898"/>
                </a:lnTo>
                <a:lnTo>
                  <a:pt x="0" y="12412898"/>
                </a:lnTo>
                <a:lnTo>
                  <a:pt x="0" y="0"/>
                </a:lnTo>
                <a:close/>
              </a:path>
            </a:pathLst>
          </a:custGeom>
          <a:blipFill>
            <a:blip>
              <a:alphaModFix amt="25000"/>
              <a:extLst>
                <a:ext uri="{96DAC541-7B7A-43D3-8B79-37D633B846F1}">
                  <asvg:svgBlip xmlns:asvg="http://schemas.microsoft.com/office/drawing/2016/SVG/main" r:embed="rId2"/>
                </a:ext>
              </a:extLst>
            </a:blip>
            <a:stretch>
              <a:fillRect/>
            </a:stretch>
          </a:blipFill>
        </p:spPr>
      </p:sp>
      <p:grpSp>
        <p:nvGrpSpPr>
          <p:cNvPr id="4" name="Group 4"/>
          <p:cNvGrpSpPr/>
          <p:nvPr/>
        </p:nvGrpSpPr>
        <p:grpSpPr>
          <a:xfrm>
            <a:off x="5589484" y="-1062949"/>
            <a:ext cx="7109032" cy="2625024"/>
            <a:chOff x="0" y="0"/>
            <a:chExt cx="1872338" cy="691364"/>
          </a:xfrm>
        </p:grpSpPr>
        <p:sp>
          <p:nvSpPr>
            <p:cNvPr id="5" name="Freeform 5"/>
            <p:cNvSpPr/>
            <p:nvPr/>
          </p:nvSpPr>
          <p:spPr>
            <a:xfrm>
              <a:off x="0" y="0"/>
              <a:ext cx="1872338" cy="691364"/>
            </a:xfrm>
            <a:custGeom>
              <a:avLst/>
              <a:gdLst/>
              <a:ahLst/>
              <a:cxnLst/>
              <a:rect l="l" t="t" r="r" b="b"/>
              <a:pathLst>
                <a:path w="1872338" h="691364">
                  <a:moveTo>
                    <a:pt x="0" y="0"/>
                  </a:moveTo>
                  <a:lnTo>
                    <a:pt x="1872338" y="0"/>
                  </a:lnTo>
                  <a:lnTo>
                    <a:pt x="1872338" y="691364"/>
                  </a:lnTo>
                  <a:lnTo>
                    <a:pt x="0" y="691364"/>
                  </a:lnTo>
                  <a:close/>
                </a:path>
              </a:pathLst>
            </a:custGeom>
            <a:solidFill>
              <a:srgbClr val="7DE9B0"/>
            </a:solidFill>
          </p:spPr>
        </p:sp>
        <p:sp>
          <p:nvSpPr>
            <p:cNvPr id="6" name="TextBox 6"/>
            <p:cNvSpPr txBox="1"/>
            <p:nvPr/>
          </p:nvSpPr>
          <p:spPr>
            <a:xfrm>
              <a:off x="0" y="-38100"/>
              <a:ext cx="1872338" cy="729464"/>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7480347" y="249563"/>
            <a:ext cx="3327307" cy="981438"/>
            <a:chOff x="0" y="0"/>
            <a:chExt cx="4436409" cy="1308584"/>
          </a:xfrm>
        </p:grpSpPr>
        <p:sp>
          <p:nvSpPr>
            <p:cNvPr id="8" name="TextBox 8"/>
            <p:cNvSpPr txBox="1"/>
            <p:nvPr/>
          </p:nvSpPr>
          <p:spPr>
            <a:xfrm>
              <a:off x="0" y="-123825"/>
              <a:ext cx="4436409" cy="1432409"/>
            </a:xfrm>
            <a:prstGeom prst="rect">
              <a:avLst/>
            </a:prstGeom>
          </p:spPr>
          <p:txBody>
            <a:bodyPr lIns="0" tIns="0" rIns="0" bIns="0" rtlCol="0" anchor="t">
              <a:spAutoFit/>
            </a:bodyPr>
            <a:lstStyle/>
            <a:p>
              <a:pPr algn="ctr">
                <a:lnSpc>
                  <a:spcPts val="9082"/>
                </a:lnSpc>
                <a:spcBef>
                  <a:spcPct val="0"/>
                </a:spcBef>
              </a:pPr>
              <a:r>
                <a:rPr lang="en-US" sz="6487" spc="-609">
                  <a:solidFill>
                    <a:srgbClr val="09534E"/>
                  </a:solidFill>
                  <a:latin typeface="Arial"/>
                  <a:ea typeface="Arial"/>
                  <a:cs typeface="Arial"/>
                  <a:sym typeface="Arial"/>
                </a:rPr>
                <a:t>women</a:t>
              </a:r>
            </a:p>
          </p:txBody>
        </p:sp>
        <p:sp>
          <p:nvSpPr>
            <p:cNvPr id="9" name="TextBox 9"/>
            <p:cNvSpPr txBox="1"/>
            <p:nvPr/>
          </p:nvSpPr>
          <p:spPr>
            <a:xfrm>
              <a:off x="752102" y="970932"/>
              <a:ext cx="2713435" cy="280491"/>
            </a:xfrm>
            <a:prstGeom prst="rect">
              <a:avLst/>
            </a:prstGeom>
          </p:spPr>
          <p:txBody>
            <a:bodyPr lIns="0" tIns="0" rIns="0" bIns="0" rtlCol="0" anchor="t">
              <a:spAutoFit/>
            </a:bodyPr>
            <a:lstStyle/>
            <a:p>
              <a:pPr algn="ctr">
                <a:lnSpc>
                  <a:spcPts val="1827"/>
                </a:lnSpc>
                <a:spcBef>
                  <a:spcPct val="0"/>
                </a:spcBef>
              </a:pPr>
              <a:r>
                <a:rPr lang="en-US" sz="1305" b="1" spc="851">
                  <a:solidFill>
                    <a:srgbClr val="09534E"/>
                  </a:solidFill>
                  <a:latin typeface="Arial"/>
                  <a:ea typeface="Arial"/>
                  <a:cs typeface="Arial"/>
                  <a:sym typeface="Arial"/>
                </a:rPr>
                <a:t>  in Fabric</a:t>
              </a:r>
            </a:p>
          </p:txBody>
        </p:sp>
      </p:grpSp>
      <p:sp>
        <p:nvSpPr>
          <p:cNvPr id="10" name="Title 1">
            <a:extLst>
              <a:ext uri="{FF2B5EF4-FFF2-40B4-BE49-F238E27FC236}">
                <a16:creationId xmlns:a16="http://schemas.microsoft.com/office/drawing/2014/main" id="{5BC34E4B-2347-8F24-2A11-787644D319A0}"/>
              </a:ext>
            </a:extLst>
          </p:cNvPr>
          <p:cNvSpPr>
            <a:spLocks noGrp="1"/>
          </p:cNvSpPr>
          <p:nvPr>
            <p:ph type="ctrTitle" hasCustomPrompt="1"/>
          </p:nvPr>
        </p:nvSpPr>
        <p:spPr>
          <a:xfrm>
            <a:off x="1066801" y="2052069"/>
            <a:ext cx="7542410" cy="1470025"/>
          </a:xfrm>
        </p:spPr>
        <p:txBody>
          <a:bodyPr/>
          <a:lstStyle>
            <a:lvl1pPr>
              <a:defRPr/>
            </a:lvl1pPr>
          </a:lstStyle>
          <a:p>
            <a:r>
              <a:rPr lang="en-US" dirty="0"/>
              <a:t>Name</a:t>
            </a:r>
          </a:p>
        </p:txBody>
      </p:sp>
      <p:sp>
        <p:nvSpPr>
          <p:cNvPr id="11" name="Subtitle 2">
            <a:extLst>
              <a:ext uri="{FF2B5EF4-FFF2-40B4-BE49-F238E27FC236}">
                <a16:creationId xmlns:a16="http://schemas.microsoft.com/office/drawing/2014/main" id="{3F141684-2AEF-964E-7755-2991A5B8D013}"/>
              </a:ext>
            </a:extLst>
          </p:cNvPr>
          <p:cNvSpPr>
            <a:spLocks noGrp="1"/>
          </p:cNvSpPr>
          <p:nvPr>
            <p:ph type="subTitle" idx="1" hasCustomPrompt="1"/>
          </p:nvPr>
        </p:nvSpPr>
        <p:spPr>
          <a:xfrm>
            <a:off x="1066800" y="4041147"/>
            <a:ext cx="7525621" cy="5521953"/>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BIO</a:t>
            </a:r>
          </a:p>
        </p:txBody>
      </p:sp>
      <p:sp>
        <p:nvSpPr>
          <p:cNvPr id="12" name="Marcador de posición de imagen 12">
            <a:extLst>
              <a:ext uri="{FF2B5EF4-FFF2-40B4-BE49-F238E27FC236}">
                <a16:creationId xmlns:a16="http://schemas.microsoft.com/office/drawing/2014/main" id="{F6B70995-2D77-1B8B-2185-2BE6A2C16EE2}"/>
              </a:ext>
            </a:extLst>
          </p:cNvPr>
          <p:cNvSpPr>
            <a:spLocks noGrp="1"/>
          </p:cNvSpPr>
          <p:nvPr>
            <p:ph type="pic" sz="quarter" idx="10"/>
          </p:nvPr>
        </p:nvSpPr>
        <p:spPr>
          <a:xfrm>
            <a:off x="9448800" y="2052068"/>
            <a:ext cx="7772400" cy="7511031"/>
          </a:xfrm>
        </p:spPr>
        <p:txBody>
          <a:bodyPr/>
          <a:lstStyle/>
          <a:p>
            <a:endParaRPr lang="es-E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WIF — Light clean layout">
    <p:bg>
      <p:bgPr>
        <a:solidFill>
          <a:srgbClr val="EDEDED"/>
        </a:solidFill>
        <a:effectLst/>
      </p:bgPr>
    </p:bg>
    <p:spTree>
      <p:nvGrpSpPr>
        <p:cNvPr id="1" name=""/>
        <p:cNvGrpSpPr/>
        <p:nvPr/>
      </p:nvGrpSpPr>
      <p:grpSpPr>
        <a:xfrm>
          <a:off x="0" y="0"/>
          <a:ext cx="0" cy="0"/>
          <a:chOff x="0" y="0"/>
          <a:chExt cx="0" cy="0"/>
        </a:xfrm>
      </p:grpSpPr>
      <p:sp>
        <p:nvSpPr>
          <p:cNvPr id="2" name="Freeform 2"/>
          <p:cNvSpPr/>
          <p:nvPr/>
        </p:nvSpPr>
        <p:spPr>
          <a:xfrm>
            <a:off x="-6525447" y="-6861531"/>
            <a:ext cx="12187210" cy="12412899"/>
          </a:xfrm>
          <a:custGeom>
            <a:avLst/>
            <a:gdLst/>
            <a:ahLst/>
            <a:cxnLst/>
            <a:rect l="l" t="t" r="r" b="b"/>
            <a:pathLst>
              <a:path w="12187210" h="12412899">
                <a:moveTo>
                  <a:pt x="0" y="0"/>
                </a:moveTo>
                <a:lnTo>
                  <a:pt x="12187210" y="0"/>
                </a:lnTo>
                <a:lnTo>
                  <a:pt x="12187210" y="12412898"/>
                </a:lnTo>
                <a:lnTo>
                  <a:pt x="0" y="12412898"/>
                </a:lnTo>
                <a:lnTo>
                  <a:pt x="0" y="0"/>
                </a:lnTo>
                <a:close/>
              </a:path>
            </a:pathLst>
          </a:custGeom>
          <a:blipFill>
            <a:blip>
              <a:alphaModFix amt="25000"/>
              <a:extLst>
                <a:ext uri="{96DAC541-7B7A-43D3-8B79-37D633B846F1}">
                  <asvg:svgBlip xmlns:asvg="http://schemas.microsoft.com/office/drawing/2016/SVG/main" r:embed="rId2"/>
                </a:ext>
              </a:extLst>
            </a:blip>
            <a:stretch>
              <a:fillRect/>
            </a:stretch>
          </a:blipFill>
        </p:spPr>
      </p:sp>
      <p:sp>
        <p:nvSpPr>
          <p:cNvPr id="3" name="Freeform 3"/>
          <p:cNvSpPr/>
          <p:nvPr/>
        </p:nvSpPr>
        <p:spPr>
          <a:xfrm>
            <a:off x="8619608" y="3018009"/>
            <a:ext cx="15817715" cy="16110636"/>
          </a:xfrm>
          <a:custGeom>
            <a:avLst/>
            <a:gdLst/>
            <a:ahLst/>
            <a:cxnLst/>
            <a:rect l="l" t="t" r="r" b="b"/>
            <a:pathLst>
              <a:path w="15817715" h="16110636">
                <a:moveTo>
                  <a:pt x="0" y="0"/>
                </a:moveTo>
                <a:lnTo>
                  <a:pt x="15817715" y="0"/>
                </a:lnTo>
                <a:lnTo>
                  <a:pt x="15817715" y="16110636"/>
                </a:lnTo>
                <a:lnTo>
                  <a:pt x="0" y="16110636"/>
                </a:lnTo>
                <a:lnTo>
                  <a:pt x="0" y="0"/>
                </a:lnTo>
                <a:close/>
              </a:path>
            </a:pathLst>
          </a:custGeom>
          <a:blipFill>
            <a:blip>
              <a:alphaModFix amt="6999"/>
              <a:extLst>
                <a:ext uri="{96DAC541-7B7A-43D3-8B79-37D633B846F1}">
                  <asvg:svgBlip xmlns:asvg="http://schemas.microsoft.com/office/drawing/2016/SVG/main" r:embed="rId2"/>
                </a:ext>
              </a:extLst>
            </a:blip>
            <a:stretch>
              <a:fillRect/>
            </a:stretch>
          </a:blipFill>
        </p:spPr>
      </p:sp>
      <p:grpSp>
        <p:nvGrpSpPr>
          <p:cNvPr id="4" name="Group 4"/>
          <p:cNvGrpSpPr/>
          <p:nvPr/>
        </p:nvGrpSpPr>
        <p:grpSpPr>
          <a:xfrm>
            <a:off x="3948936" y="5551367"/>
            <a:ext cx="14339064" cy="1251267"/>
            <a:chOff x="0" y="0"/>
            <a:chExt cx="3776544" cy="329552"/>
          </a:xfrm>
        </p:grpSpPr>
        <p:sp>
          <p:nvSpPr>
            <p:cNvPr id="5" name="Freeform 5"/>
            <p:cNvSpPr/>
            <p:nvPr/>
          </p:nvSpPr>
          <p:spPr>
            <a:xfrm>
              <a:off x="0" y="0"/>
              <a:ext cx="3776544" cy="329552"/>
            </a:xfrm>
            <a:custGeom>
              <a:avLst/>
              <a:gdLst/>
              <a:ahLst/>
              <a:cxnLst/>
              <a:rect l="l" t="t" r="r" b="b"/>
              <a:pathLst>
                <a:path w="3776544" h="329552">
                  <a:moveTo>
                    <a:pt x="0" y="0"/>
                  </a:moveTo>
                  <a:lnTo>
                    <a:pt x="3776544" y="0"/>
                  </a:lnTo>
                  <a:lnTo>
                    <a:pt x="3776544" y="329552"/>
                  </a:lnTo>
                  <a:lnTo>
                    <a:pt x="0" y="329552"/>
                  </a:lnTo>
                  <a:close/>
                </a:path>
              </a:pathLst>
            </a:custGeom>
            <a:solidFill>
              <a:srgbClr val="7DE9B0"/>
            </a:solidFill>
          </p:spPr>
        </p:sp>
        <p:sp>
          <p:nvSpPr>
            <p:cNvPr id="6" name="TextBox 6"/>
            <p:cNvSpPr txBox="1"/>
            <p:nvPr/>
          </p:nvSpPr>
          <p:spPr>
            <a:xfrm>
              <a:off x="0" y="-38100"/>
              <a:ext cx="3776544" cy="367652"/>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14864812" y="5627567"/>
            <a:ext cx="3327307" cy="981438"/>
            <a:chOff x="0" y="0"/>
            <a:chExt cx="4436409" cy="1308584"/>
          </a:xfrm>
        </p:grpSpPr>
        <p:sp>
          <p:nvSpPr>
            <p:cNvPr id="8" name="TextBox 8"/>
            <p:cNvSpPr txBox="1"/>
            <p:nvPr/>
          </p:nvSpPr>
          <p:spPr>
            <a:xfrm>
              <a:off x="0" y="-123825"/>
              <a:ext cx="4436409" cy="1432409"/>
            </a:xfrm>
            <a:prstGeom prst="rect">
              <a:avLst/>
            </a:prstGeom>
          </p:spPr>
          <p:txBody>
            <a:bodyPr lIns="0" tIns="0" rIns="0" bIns="0" rtlCol="0" anchor="t">
              <a:spAutoFit/>
            </a:bodyPr>
            <a:lstStyle/>
            <a:p>
              <a:pPr algn="ctr">
                <a:lnSpc>
                  <a:spcPts val="9082"/>
                </a:lnSpc>
                <a:spcBef>
                  <a:spcPct val="0"/>
                </a:spcBef>
              </a:pPr>
              <a:r>
                <a:rPr lang="en-US" sz="6487" spc="-609">
                  <a:solidFill>
                    <a:srgbClr val="09534E"/>
                  </a:solidFill>
                  <a:latin typeface="Arial"/>
                  <a:ea typeface="Arial"/>
                  <a:cs typeface="Arial"/>
                  <a:sym typeface="Arial"/>
                </a:rPr>
                <a:t>women</a:t>
              </a:r>
            </a:p>
          </p:txBody>
        </p:sp>
        <p:sp>
          <p:nvSpPr>
            <p:cNvPr id="9" name="TextBox 9"/>
            <p:cNvSpPr txBox="1"/>
            <p:nvPr/>
          </p:nvSpPr>
          <p:spPr>
            <a:xfrm>
              <a:off x="752102" y="970932"/>
              <a:ext cx="2713435" cy="280491"/>
            </a:xfrm>
            <a:prstGeom prst="rect">
              <a:avLst/>
            </a:prstGeom>
          </p:spPr>
          <p:txBody>
            <a:bodyPr lIns="0" tIns="0" rIns="0" bIns="0" rtlCol="0" anchor="t">
              <a:spAutoFit/>
            </a:bodyPr>
            <a:lstStyle/>
            <a:p>
              <a:pPr algn="ctr">
                <a:lnSpc>
                  <a:spcPts val="1827"/>
                </a:lnSpc>
                <a:spcBef>
                  <a:spcPct val="0"/>
                </a:spcBef>
              </a:pPr>
              <a:r>
                <a:rPr lang="en-US" sz="1305" b="1" spc="851">
                  <a:solidFill>
                    <a:srgbClr val="09534E"/>
                  </a:solidFill>
                  <a:latin typeface="Arial"/>
                  <a:ea typeface="Arial"/>
                  <a:cs typeface="Arial"/>
                  <a:sym typeface="Arial"/>
                </a:rPr>
                <a:t>  in Fabric</a:t>
              </a: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WIF — Dark clean layout">
    <p:bg>
      <p:bgPr>
        <a:solidFill>
          <a:srgbClr val="09534E"/>
        </a:solidFill>
        <a:effectLst/>
      </p:bgPr>
    </p:bg>
    <p:spTree>
      <p:nvGrpSpPr>
        <p:cNvPr id="1" name=""/>
        <p:cNvGrpSpPr/>
        <p:nvPr/>
      </p:nvGrpSpPr>
      <p:grpSpPr>
        <a:xfrm>
          <a:off x="0" y="0"/>
          <a:ext cx="0" cy="0"/>
          <a:chOff x="0" y="0"/>
          <a:chExt cx="0" cy="0"/>
        </a:xfrm>
      </p:grpSpPr>
      <p:sp>
        <p:nvSpPr>
          <p:cNvPr id="2" name="Freeform 2"/>
          <p:cNvSpPr/>
          <p:nvPr/>
        </p:nvSpPr>
        <p:spPr>
          <a:xfrm>
            <a:off x="-6525447" y="-6861531"/>
            <a:ext cx="12187210" cy="12412899"/>
          </a:xfrm>
          <a:custGeom>
            <a:avLst/>
            <a:gdLst/>
            <a:ahLst/>
            <a:cxnLst/>
            <a:rect l="l" t="t" r="r" b="b"/>
            <a:pathLst>
              <a:path w="12187210" h="12412899">
                <a:moveTo>
                  <a:pt x="0" y="0"/>
                </a:moveTo>
                <a:lnTo>
                  <a:pt x="12187210" y="0"/>
                </a:lnTo>
                <a:lnTo>
                  <a:pt x="12187210" y="12412898"/>
                </a:lnTo>
                <a:lnTo>
                  <a:pt x="0" y="12412898"/>
                </a:lnTo>
                <a:lnTo>
                  <a:pt x="0" y="0"/>
                </a:lnTo>
                <a:close/>
              </a:path>
            </a:pathLst>
          </a:custGeom>
          <a:blipFill>
            <a:blip>
              <a:alphaModFix amt="25000"/>
              <a:extLst>
                <a:ext uri="{96DAC541-7B7A-43D3-8B79-37D633B846F1}">
                  <asvg:svgBlip xmlns:asvg="http://schemas.microsoft.com/office/drawing/2016/SVG/main" r:embed="rId2"/>
                </a:ext>
              </a:extLst>
            </a:blip>
            <a:stretch>
              <a:fillRect/>
            </a:stretch>
          </a:blipFill>
        </p:spPr>
      </p:sp>
      <p:sp>
        <p:nvSpPr>
          <p:cNvPr id="3" name="Freeform 3"/>
          <p:cNvSpPr/>
          <p:nvPr/>
        </p:nvSpPr>
        <p:spPr>
          <a:xfrm>
            <a:off x="8619608" y="3018009"/>
            <a:ext cx="15817715" cy="16110636"/>
          </a:xfrm>
          <a:custGeom>
            <a:avLst/>
            <a:gdLst/>
            <a:ahLst/>
            <a:cxnLst/>
            <a:rect l="l" t="t" r="r" b="b"/>
            <a:pathLst>
              <a:path w="15817715" h="16110636">
                <a:moveTo>
                  <a:pt x="0" y="0"/>
                </a:moveTo>
                <a:lnTo>
                  <a:pt x="15817715" y="0"/>
                </a:lnTo>
                <a:lnTo>
                  <a:pt x="15817715" y="16110636"/>
                </a:lnTo>
                <a:lnTo>
                  <a:pt x="0" y="16110636"/>
                </a:lnTo>
                <a:lnTo>
                  <a:pt x="0" y="0"/>
                </a:lnTo>
                <a:close/>
              </a:path>
            </a:pathLst>
          </a:custGeom>
          <a:blipFill>
            <a:blip>
              <a:alphaModFix amt="6999"/>
              <a:extLst>
                <a:ext uri="{96DAC541-7B7A-43D3-8B79-37D633B846F1}">
                  <asvg:svgBlip xmlns:asvg="http://schemas.microsoft.com/office/drawing/2016/SVG/main" r:embed="rId2"/>
                </a:ext>
              </a:extLst>
            </a:blip>
            <a:stretch>
              <a:fillRect/>
            </a:stretch>
          </a:blipFill>
        </p:spPr>
      </p:sp>
      <p:grpSp>
        <p:nvGrpSpPr>
          <p:cNvPr id="4" name="Group 4"/>
          <p:cNvGrpSpPr/>
          <p:nvPr/>
        </p:nvGrpSpPr>
        <p:grpSpPr>
          <a:xfrm>
            <a:off x="3948936" y="5551367"/>
            <a:ext cx="14339064" cy="1251267"/>
            <a:chOff x="0" y="0"/>
            <a:chExt cx="3776544" cy="329552"/>
          </a:xfrm>
        </p:grpSpPr>
        <p:sp>
          <p:nvSpPr>
            <p:cNvPr id="5" name="Freeform 5"/>
            <p:cNvSpPr/>
            <p:nvPr/>
          </p:nvSpPr>
          <p:spPr>
            <a:xfrm>
              <a:off x="0" y="0"/>
              <a:ext cx="3776544" cy="329552"/>
            </a:xfrm>
            <a:custGeom>
              <a:avLst/>
              <a:gdLst/>
              <a:ahLst/>
              <a:cxnLst/>
              <a:rect l="l" t="t" r="r" b="b"/>
              <a:pathLst>
                <a:path w="3776544" h="329552">
                  <a:moveTo>
                    <a:pt x="0" y="0"/>
                  </a:moveTo>
                  <a:lnTo>
                    <a:pt x="3776544" y="0"/>
                  </a:lnTo>
                  <a:lnTo>
                    <a:pt x="3776544" y="329552"/>
                  </a:lnTo>
                  <a:lnTo>
                    <a:pt x="0" y="329552"/>
                  </a:lnTo>
                  <a:close/>
                </a:path>
              </a:pathLst>
            </a:custGeom>
            <a:solidFill>
              <a:srgbClr val="7DE9B0"/>
            </a:solidFill>
          </p:spPr>
        </p:sp>
        <p:sp>
          <p:nvSpPr>
            <p:cNvPr id="6" name="TextBox 6"/>
            <p:cNvSpPr txBox="1"/>
            <p:nvPr/>
          </p:nvSpPr>
          <p:spPr>
            <a:xfrm>
              <a:off x="0" y="-38100"/>
              <a:ext cx="3776544" cy="367652"/>
            </a:xfrm>
            <a:prstGeom prst="rect">
              <a:avLst/>
            </a:prstGeom>
          </p:spPr>
          <p:txBody>
            <a:bodyPr lIns="50800" tIns="50800" rIns="50800" bIns="50800" rtlCol="0" anchor="ctr"/>
            <a:lstStyle/>
            <a:p>
              <a:pPr algn="ctr">
                <a:lnSpc>
                  <a:spcPts val="2659"/>
                </a:lnSpc>
              </a:pPr>
              <a:endParaRPr/>
            </a:p>
          </p:txBody>
        </p:sp>
      </p:grpSp>
      <p:grpSp>
        <p:nvGrpSpPr>
          <p:cNvPr id="10" name="Group 10"/>
          <p:cNvGrpSpPr/>
          <p:nvPr/>
        </p:nvGrpSpPr>
        <p:grpSpPr>
          <a:xfrm>
            <a:off x="14864812" y="5627567"/>
            <a:ext cx="3327307" cy="981438"/>
            <a:chOff x="0" y="0"/>
            <a:chExt cx="4436409" cy="1308584"/>
          </a:xfrm>
        </p:grpSpPr>
        <p:sp>
          <p:nvSpPr>
            <p:cNvPr id="11" name="TextBox 11"/>
            <p:cNvSpPr txBox="1"/>
            <p:nvPr/>
          </p:nvSpPr>
          <p:spPr>
            <a:xfrm>
              <a:off x="0" y="-123825"/>
              <a:ext cx="4436409" cy="1432409"/>
            </a:xfrm>
            <a:prstGeom prst="rect">
              <a:avLst/>
            </a:prstGeom>
          </p:spPr>
          <p:txBody>
            <a:bodyPr lIns="0" tIns="0" rIns="0" bIns="0" rtlCol="0" anchor="t">
              <a:spAutoFit/>
            </a:bodyPr>
            <a:lstStyle/>
            <a:p>
              <a:pPr algn="ctr">
                <a:lnSpc>
                  <a:spcPts val="9082"/>
                </a:lnSpc>
                <a:spcBef>
                  <a:spcPct val="0"/>
                </a:spcBef>
              </a:pPr>
              <a:r>
                <a:rPr lang="en-US" sz="6487" spc="-609">
                  <a:solidFill>
                    <a:srgbClr val="09534E"/>
                  </a:solidFill>
                  <a:latin typeface="Arial"/>
                  <a:ea typeface="Arial"/>
                  <a:cs typeface="Arial"/>
                  <a:sym typeface="Arial"/>
                </a:rPr>
                <a:t>women</a:t>
              </a:r>
            </a:p>
          </p:txBody>
        </p:sp>
        <p:sp>
          <p:nvSpPr>
            <p:cNvPr id="12" name="TextBox 12"/>
            <p:cNvSpPr txBox="1"/>
            <p:nvPr/>
          </p:nvSpPr>
          <p:spPr>
            <a:xfrm>
              <a:off x="752102" y="970932"/>
              <a:ext cx="2713435" cy="280491"/>
            </a:xfrm>
            <a:prstGeom prst="rect">
              <a:avLst/>
            </a:prstGeom>
          </p:spPr>
          <p:txBody>
            <a:bodyPr lIns="0" tIns="0" rIns="0" bIns="0" rtlCol="0" anchor="t">
              <a:spAutoFit/>
            </a:bodyPr>
            <a:lstStyle/>
            <a:p>
              <a:pPr algn="ctr">
                <a:lnSpc>
                  <a:spcPts val="1827"/>
                </a:lnSpc>
                <a:spcBef>
                  <a:spcPct val="0"/>
                </a:spcBef>
              </a:pPr>
              <a:r>
                <a:rPr lang="en-US" sz="1305" b="1" spc="851">
                  <a:solidFill>
                    <a:srgbClr val="09534E"/>
                  </a:solidFill>
                  <a:latin typeface="Arial"/>
                  <a:ea typeface="Arial"/>
                  <a:cs typeface="Arial"/>
                  <a:sym typeface="Arial"/>
                </a:rPr>
                <a:t>  in Fabric</a:t>
              </a: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WIF — Clean layout">
    <p:bg>
      <p:bgPr>
        <a:solidFill>
          <a:srgbClr val="EDEDED"/>
        </a:solidFill>
        <a:effectLst/>
      </p:bgPr>
    </p:bg>
    <p:spTree>
      <p:nvGrpSpPr>
        <p:cNvPr id="1" name=""/>
        <p:cNvGrpSpPr/>
        <p:nvPr/>
      </p:nvGrpSpPr>
      <p:grpSpPr>
        <a:xfrm>
          <a:off x="0" y="0"/>
          <a:ext cx="0" cy="0"/>
          <a:chOff x="0" y="0"/>
          <a:chExt cx="0" cy="0"/>
        </a:xfrm>
      </p:grpSpPr>
      <p:sp>
        <p:nvSpPr>
          <p:cNvPr id="5" name="AutoShape 5"/>
          <p:cNvSpPr/>
          <p:nvPr/>
        </p:nvSpPr>
        <p:spPr>
          <a:xfrm>
            <a:off x="-1239712" y="426307"/>
            <a:ext cx="8628248" cy="0"/>
          </a:xfrm>
          <a:prstGeom prst="line">
            <a:avLst/>
          </a:prstGeom>
          <a:ln w="85725" cap="flat">
            <a:solidFill>
              <a:srgbClr val="09534E"/>
            </a:solidFill>
            <a:prstDash val="solid"/>
            <a:headEnd type="none" w="sm" len="sm"/>
            <a:tailEnd type="none" w="sm" len="sm"/>
          </a:ln>
        </p:spPr>
        <p:txBody>
          <a:bodyPr/>
          <a:lstStyle/>
          <a:p>
            <a:endParaRPr lang="es-ES"/>
          </a:p>
        </p:txBody>
      </p:sp>
      <p:sp>
        <p:nvSpPr>
          <p:cNvPr id="14" name="Título 13">
            <a:extLst>
              <a:ext uri="{FF2B5EF4-FFF2-40B4-BE49-F238E27FC236}">
                <a16:creationId xmlns:a16="http://schemas.microsoft.com/office/drawing/2014/main" id="{E75B26B7-2523-6A82-5AE7-F32E5DF05BEC}"/>
              </a:ext>
            </a:extLst>
          </p:cNvPr>
          <p:cNvSpPr>
            <a:spLocks noGrp="1"/>
          </p:cNvSpPr>
          <p:nvPr>
            <p:ph type="title"/>
          </p:nvPr>
        </p:nvSpPr>
        <p:spPr>
          <a:xfrm>
            <a:off x="1257300" y="952502"/>
            <a:ext cx="15773400" cy="1584323"/>
          </a:xfrm>
        </p:spPr>
        <p:txBody>
          <a:bodyPr/>
          <a:lstStyle/>
          <a:p>
            <a:r>
              <a:rPr lang="es-ES"/>
              <a:t>Haga clic para modificar el estilo de título del patrón</a:t>
            </a:r>
          </a:p>
        </p:txBody>
      </p:sp>
      <p:sp>
        <p:nvSpPr>
          <p:cNvPr id="16" name="Marcador de texto 15">
            <a:extLst>
              <a:ext uri="{FF2B5EF4-FFF2-40B4-BE49-F238E27FC236}">
                <a16:creationId xmlns:a16="http://schemas.microsoft.com/office/drawing/2014/main" id="{00B5BFC4-2B89-DBDE-D486-0A53400F28D1}"/>
              </a:ext>
            </a:extLst>
          </p:cNvPr>
          <p:cNvSpPr>
            <a:spLocks noGrp="1"/>
          </p:cNvSpPr>
          <p:nvPr>
            <p:ph type="body" sz="quarter" idx="10"/>
          </p:nvPr>
        </p:nvSpPr>
        <p:spPr>
          <a:xfrm>
            <a:off x="1257300" y="2933700"/>
            <a:ext cx="15773400" cy="5929313"/>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grpSp>
        <p:nvGrpSpPr>
          <p:cNvPr id="18" name="Group 2">
            <a:extLst>
              <a:ext uri="{FF2B5EF4-FFF2-40B4-BE49-F238E27FC236}">
                <a16:creationId xmlns:a16="http://schemas.microsoft.com/office/drawing/2014/main" id="{C5ACFF28-1BC9-F041-253B-A4573231092A}"/>
              </a:ext>
            </a:extLst>
          </p:cNvPr>
          <p:cNvGrpSpPr/>
          <p:nvPr userDrawn="1"/>
        </p:nvGrpSpPr>
        <p:grpSpPr>
          <a:xfrm>
            <a:off x="-174311" y="9122455"/>
            <a:ext cx="18953112" cy="1437840"/>
            <a:chOff x="0" y="0"/>
            <a:chExt cx="4991766" cy="378690"/>
          </a:xfrm>
        </p:grpSpPr>
        <p:sp>
          <p:nvSpPr>
            <p:cNvPr id="19" name="Freeform 3">
              <a:extLst>
                <a:ext uri="{FF2B5EF4-FFF2-40B4-BE49-F238E27FC236}">
                  <a16:creationId xmlns:a16="http://schemas.microsoft.com/office/drawing/2014/main" id="{D17D4AEE-CE5F-D4C9-636C-BE9F257C5278}"/>
                </a:ext>
              </a:extLst>
            </p:cNvPr>
            <p:cNvSpPr/>
            <p:nvPr/>
          </p:nvSpPr>
          <p:spPr>
            <a:xfrm>
              <a:off x="0" y="0"/>
              <a:ext cx="4991766" cy="378690"/>
            </a:xfrm>
            <a:custGeom>
              <a:avLst/>
              <a:gdLst/>
              <a:ahLst/>
              <a:cxnLst/>
              <a:rect l="l" t="t" r="r" b="b"/>
              <a:pathLst>
                <a:path w="4991766" h="378690">
                  <a:moveTo>
                    <a:pt x="0" y="0"/>
                  </a:moveTo>
                  <a:lnTo>
                    <a:pt x="4991766" y="0"/>
                  </a:lnTo>
                  <a:lnTo>
                    <a:pt x="4991766" y="378690"/>
                  </a:lnTo>
                  <a:lnTo>
                    <a:pt x="0" y="378690"/>
                  </a:lnTo>
                  <a:close/>
                </a:path>
              </a:pathLst>
            </a:custGeom>
            <a:solidFill>
              <a:srgbClr val="7DE9B0"/>
            </a:solidFill>
          </p:spPr>
          <p:txBody>
            <a:bodyPr/>
            <a:lstStyle/>
            <a:p>
              <a:endParaRPr lang="es-ES"/>
            </a:p>
          </p:txBody>
        </p:sp>
        <p:sp>
          <p:nvSpPr>
            <p:cNvPr id="20" name="TextBox 4">
              <a:extLst>
                <a:ext uri="{FF2B5EF4-FFF2-40B4-BE49-F238E27FC236}">
                  <a16:creationId xmlns:a16="http://schemas.microsoft.com/office/drawing/2014/main" id="{8CB5B075-95E8-A45F-0A69-48431217F05D}"/>
                </a:ext>
              </a:extLst>
            </p:cNvPr>
            <p:cNvSpPr txBox="1"/>
            <p:nvPr/>
          </p:nvSpPr>
          <p:spPr>
            <a:xfrm>
              <a:off x="0" y="-57150"/>
              <a:ext cx="4991766" cy="435840"/>
            </a:xfrm>
            <a:prstGeom prst="rect">
              <a:avLst/>
            </a:prstGeom>
          </p:spPr>
          <p:txBody>
            <a:bodyPr lIns="50800" tIns="50800" rIns="50800" bIns="50800" rtlCol="0" anchor="ctr"/>
            <a:lstStyle/>
            <a:p>
              <a:pPr algn="ctr">
                <a:lnSpc>
                  <a:spcPts val="3303"/>
                </a:lnSpc>
              </a:pPr>
              <a:endParaRPr/>
            </a:p>
          </p:txBody>
        </p:sp>
      </p:grpSp>
      <p:grpSp>
        <p:nvGrpSpPr>
          <p:cNvPr id="21" name="Group 6">
            <a:extLst>
              <a:ext uri="{FF2B5EF4-FFF2-40B4-BE49-F238E27FC236}">
                <a16:creationId xmlns:a16="http://schemas.microsoft.com/office/drawing/2014/main" id="{0C222B07-6600-E044-B03C-7727EDF89061}"/>
              </a:ext>
            </a:extLst>
          </p:cNvPr>
          <p:cNvGrpSpPr/>
          <p:nvPr userDrawn="1"/>
        </p:nvGrpSpPr>
        <p:grpSpPr>
          <a:xfrm>
            <a:off x="13995845" y="9131980"/>
            <a:ext cx="3327307" cy="981438"/>
            <a:chOff x="0" y="0"/>
            <a:chExt cx="4436409" cy="1308584"/>
          </a:xfrm>
        </p:grpSpPr>
        <p:sp>
          <p:nvSpPr>
            <p:cNvPr id="22" name="TextBox 7">
              <a:extLst>
                <a:ext uri="{FF2B5EF4-FFF2-40B4-BE49-F238E27FC236}">
                  <a16:creationId xmlns:a16="http://schemas.microsoft.com/office/drawing/2014/main" id="{52186F0A-DF4E-864A-989F-EA6AC946E443}"/>
                </a:ext>
              </a:extLst>
            </p:cNvPr>
            <p:cNvSpPr txBox="1"/>
            <p:nvPr/>
          </p:nvSpPr>
          <p:spPr>
            <a:xfrm>
              <a:off x="0" y="-123825"/>
              <a:ext cx="4436409" cy="1432409"/>
            </a:xfrm>
            <a:prstGeom prst="rect">
              <a:avLst/>
            </a:prstGeom>
          </p:spPr>
          <p:txBody>
            <a:bodyPr lIns="0" tIns="0" rIns="0" bIns="0" rtlCol="0" anchor="t">
              <a:spAutoFit/>
            </a:bodyPr>
            <a:lstStyle/>
            <a:p>
              <a:pPr algn="ctr">
                <a:lnSpc>
                  <a:spcPts val="9082"/>
                </a:lnSpc>
                <a:spcBef>
                  <a:spcPct val="0"/>
                </a:spcBef>
              </a:pPr>
              <a:r>
                <a:rPr lang="en-US" sz="6487" spc="-609">
                  <a:solidFill>
                    <a:srgbClr val="09534E"/>
                  </a:solidFill>
                  <a:latin typeface="Arial"/>
                  <a:ea typeface="Arial"/>
                  <a:cs typeface="Arial"/>
                  <a:sym typeface="Arial"/>
                </a:rPr>
                <a:t>women</a:t>
              </a:r>
            </a:p>
          </p:txBody>
        </p:sp>
        <p:sp>
          <p:nvSpPr>
            <p:cNvPr id="23" name="TextBox 8">
              <a:extLst>
                <a:ext uri="{FF2B5EF4-FFF2-40B4-BE49-F238E27FC236}">
                  <a16:creationId xmlns:a16="http://schemas.microsoft.com/office/drawing/2014/main" id="{C469F7E0-1011-9FF9-DDE5-12BC2FB9BB38}"/>
                </a:ext>
              </a:extLst>
            </p:cNvPr>
            <p:cNvSpPr txBox="1"/>
            <p:nvPr/>
          </p:nvSpPr>
          <p:spPr>
            <a:xfrm>
              <a:off x="752102" y="970932"/>
              <a:ext cx="2713435" cy="280491"/>
            </a:xfrm>
            <a:prstGeom prst="rect">
              <a:avLst/>
            </a:prstGeom>
          </p:spPr>
          <p:txBody>
            <a:bodyPr lIns="0" tIns="0" rIns="0" bIns="0" rtlCol="0" anchor="t">
              <a:spAutoFit/>
            </a:bodyPr>
            <a:lstStyle/>
            <a:p>
              <a:pPr algn="ctr">
                <a:lnSpc>
                  <a:spcPts val="1827"/>
                </a:lnSpc>
                <a:spcBef>
                  <a:spcPct val="0"/>
                </a:spcBef>
              </a:pPr>
              <a:r>
                <a:rPr lang="en-US" sz="1305" b="1" spc="851">
                  <a:solidFill>
                    <a:srgbClr val="09534E"/>
                  </a:solidFill>
                  <a:latin typeface="Arial"/>
                  <a:ea typeface="Arial"/>
                  <a:cs typeface="Arial"/>
                  <a:sym typeface="Arial"/>
                </a:rPr>
                <a:t>  in Fabric</a:t>
              </a:r>
            </a:p>
          </p:txBody>
        </p:sp>
      </p:grpSp>
      <p:sp>
        <p:nvSpPr>
          <p:cNvPr id="24" name="Freeform 9">
            <a:extLst>
              <a:ext uri="{FF2B5EF4-FFF2-40B4-BE49-F238E27FC236}">
                <a16:creationId xmlns:a16="http://schemas.microsoft.com/office/drawing/2014/main" id="{88583B49-7A48-8FAE-3BFA-1D6C6B78F539}"/>
              </a:ext>
            </a:extLst>
          </p:cNvPr>
          <p:cNvSpPr/>
          <p:nvPr userDrawn="1"/>
        </p:nvSpPr>
        <p:spPr>
          <a:xfrm>
            <a:off x="17449608" y="9380880"/>
            <a:ext cx="607051" cy="606242"/>
          </a:xfrm>
          <a:custGeom>
            <a:avLst/>
            <a:gdLst/>
            <a:ahLst/>
            <a:cxnLst/>
            <a:rect l="l" t="t" r="r" b="b"/>
            <a:pathLst>
              <a:path w="607051" h="606242">
                <a:moveTo>
                  <a:pt x="0" y="0"/>
                </a:moveTo>
                <a:lnTo>
                  <a:pt x="607051" y="0"/>
                </a:lnTo>
                <a:lnTo>
                  <a:pt x="607051" y="606242"/>
                </a:lnTo>
                <a:lnTo>
                  <a:pt x="0" y="606242"/>
                </a:lnTo>
                <a:lnTo>
                  <a:pt x="0" y="0"/>
                </a:lnTo>
                <a:close/>
              </a:path>
            </a:pathLst>
          </a:custGeom>
          <a:blipFill>
            <a:blip r:embed="rId2"/>
            <a:stretch>
              <a:fillRect t="-47" b="-85"/>
            </a:stretch>
          </a:blipFill>
        </p:spPr>
        <p:txBody>
          <a:bodyPr/>
          <a:lstStyle/>
          <a:p>
            <a:endParaRPr lang="es-E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WIF — Dark background">
    <p:bg>
      <p:bgPr>
        <a:solidFill>
          <a:srgbClr val="09534E"/>
        </a:solidFill>
        <a:effectLst/>
      </p:bgPr>
    </p:bg>
    <p:spTree>
      <p:nvGrpSpPr>
        <p:cNvPr id="1" name=""/>
        <p:cNvGrpSpPr/>
        <p:nvPr/>
      </p:nvGrpSpPr>
      <p:grpSpPr>
        <a:xfrm>
          <a:off x="0" y="0"/>
          <a:ext cx="0" cy="0"/>
          <a:chOff x="0" y="0"/>
          <a:chExt cx="0" cy="0"/>
        </a:xfrm>
      </p:grpSpPr>
      <p:grpSp>
        <p:nvGrpSpPr>
          <p:cNvPr id="2" name="Group 2"/>
          <p:cNvGrpSpPr/>
          <p:nvPr/>
        </p:nvGrpSpPr>
        <p:grpSpPr>
          <a:xfrm>
            <a:off x="-174311" y="9122455"/>
            <a:ext cx="18953112" cy="1437840"/>
            <a:chOff x="0" y="0"/>
            <a:chExt cx="4991766" cy="378690"/>
          </a:xfrm>
        </p:grpSpPr>
        <p:sp>
          <p:nvSpPr>
            <p:cNvPr id="3" name="Freeform 3"/>
            <p:cNvSpPr/>
            <p:nvPr/>
          </p:nvSpPr>
          <p:spPr>
            <a:xfrm>
              <a:off x="0" y="0"/>
              <a:ext cx="4991766" cy="378690"/>
            </a:xfrm>
            <a:custGeom>
              <a:avLst/>
              <a:gdLst/>
              <a:ahLst/>
              <a:cxnLst/>
              <a:rect l="l" t="t" r="r" b="b"/>
              <a:pathLst>
                <a:path w="4991766" h="378690">
                  <a:moveTo>
                    <a:pt x="0" y="0"/>
                  </a:moveTo>
                  <a:lnTo>
                    <a:pt x="4991766" y="0"/>
                  </a:lnTo>
                  <a:lnTo>
                    <a:pt x="4991766" y="378690"/>
                  </a:lnTo>
                  <a:lnTo>
                    <a:pt x="0" y="378690"/>
                  </a:lnTo>
                  <a:close/>
                </a:path>
              </a:pathLst>
            </a:custGeom>
            <a:solidFill>
              <a:srgbClr val="7DE9B0"/>
            </a:solidFill>
          </p:spPr>
        </p:sp>
        <p:sp>
          <p:nvSpPr>
            <p:cNvPr id="4" name="TextBox 4"/>
            <p:cNvSpPr txBox="1"/>
            <p:nvPr/>
          </p:nvSpPr>
          <p:spPr>
            <a:xfrm>
              <a:off x="0" y="-57150"/>
              <a:ext cx="4991766" cy="435840"/>
            </a:xfrm>
            <a:prstGeom prst="rect">
              <a:avLst/>
            </a:prstGeom>
          </p:spPr>
          <p:txBody>
            <a:bodyPr lIns="50800" tIns="50800" rIns="50800" bIns="50800" rtlCol="0" anchor="ctr"/>
            <a:lstStyle/>
            <a:p>
              <a:pPr algn="ctr">
                <a:lnSpc>
                  <a:spcPts val="3303"/>
                </a:lnSpc>
              </a:pPr>
              <a:endParaRPr/>
            </a:p>
          </p:txBody>
        </p:sp>
      </p:grpSp>
      <p:sp>
        <p:nvSpPr>
          <p:cNvPr id="5" name="AutoShape 5"/>
          <p:cNvSpPr/>
          <p:nvPr/>
        </p:nvSpPr>
        <p:spPr>
          <a:xfrm>
            <a:off x="-1239712" y="426307"/>
            <a:ext cx="8628248" cy="0"/>
          </a:xfrm>
          <a:prstGeom prst="line">
            <a:avLst/>
          </a:prstGeom>
          <a:ln w="85725" cap="flat">
            <a:solidFill>
              <a:srgbClr val="7DE9B0"/>
            </a:solidFill>
            <a:prstDash val="solid"/>
            <a:headEnd type="none" w="sm" len="sm"/>
            <a:tailEnd type="none" w="sm" len="sm"/>
          </a:ln>
        </p:spPr>
      </p:sp>
      <p:grpSp>
        <p:nvGrpSpPr>
          <p:cNvPr id="6" name="Group 6"/>
          <p:cNvGrpSpPr/>
          <p:nvPr/>
        </p:nvGrpSpPr>
        <p:grpSpPr>
          <a:xfrm>
            <a:off x="13995845" y="9131980"/>
            <a:ext cx="3327307" cy="981438"/>
            <a:chOff x="0" y="0"/>
            <a:chExt cx="4436409" cy="1308584"/>
          </a:xfrm>
        </p:grpSpPr>
        <p:sp>
          <p:nvSpPr>
            <p:cNvPr id="7" name="TextBox 7"/>
            <p:cNvSpPr txBox="1"/>
            <p:nvPr/>
          </p:nvSpPr>
          <p:spPr>
            <a:xfrm>
              <a:off x="0" y="-123825"/>
              <a:ext cx="4436409" cy="1432409"/>
            </a:xfrm>
            <a:prstGeom prst="rect">
              <a:avLst/>
            </a:prstGeom>
          </p:spPr>
          <p:txBody>
            <a:bodyPr lIns="0" tIns="0" rIns="0" bIns="0" rtlCol="0" anchor="t">
              <a:spAutoFit/>
            </a:bodyPr>
            <a:lstStyle/>
            <a:p>
              <a:pPr algn="ctr">
                <a:lnSpc>
                  <a:spcPts val="9082"/>
                </a:lnSpc>
                <a:spcBef>
                  <a:spcPct val="0"/>
                </a:spcBef>
              </a:pPr>
              <a:r>
                <a:rPr lang="en-US" sz="6487" spc="-609">
                  <a:solidFill>
                    <a:srgbClr val="09534E"/>
                  </a:solidFill>
                  <a:latin typeface="Arial"/>
                  <a:ea typeface="Arial"/>
                  <a:cs typeface="Arial"/>
                  <a:sym typeface="Arial"/>
                </a:rPr>
                <a:t>women</a:t>
              </a:r>
            </a:p>
          </p:txBody>
        </p:sp>
        <p:sp>
          <p:nvSpPr>
            <p:cNvPr id="8" name="TextBox 8"/>
            <p:cNvSpPr txBox="1"/>
            <p:nvPr/>
          </p:nvSpPr>
          <p:spPr>
            <a:xfrm>
              <a:off x="752102" y="970932"/>
              <a:ext cx="2713435" cy="280491"/>
            </a:xfrm>
            <a:prstGeom prst="rect">
              <a:avLst/>
            </a:prstGeom>
          </p:spPr>
          <p:txBody>
            <a:bodyPr lIns="0" tIns="0" rIns="0" bIns="0" rtlCol="0" anchor="t">
              <a:spAutoFit/>
            </a:bodyPr>
            <a:lstStyle/>
            <a:p>
              <a:pPr algn="ctr">
                <a:lnSpc>
                  <a:spcPts val="1827"/>
                </a:lnSpc>
                <a:spcBef>
                  <a:spcPct val="0"/>
                </a:spcBef>
              </a:pPr>
              <a:r>
                <a:rPr lang="en-US" sz="1305" b="1" spc="851">
                  <a:solidFill>
                    <a:srgbClr val="09534E"/>
                  </a:solidFill>
                  <a:latin typeface="Arial"/>
                  <a:ea typeface="Arial"/>
                  <a:cs typeface="Arial"/>
                  <a:sym typeface="Arial"/>
                </a:rPr>
                <a:t>  in Fabric</a:t>
              </a:r>
            </a:p>
          </p:txBody>
        </p:sp>
      </p:grpSp>
      <p:sp>
        <p:nvSpPr>
          <p:cNvPr id="9" name="Freeform 9"/>
          <p:cNvSpPr/>
          <p:nvPr/>
        </p:nvSpPr>
        <p:spPr>
          <a:xfrm>
            <a:off x="17449608" y="9380880"/>
            <a:ext cx="607051" cy="606242"/>
          </a:xfrm>
          <a:custGeom>
            <a:avLst/>
            <a:gdLst/>
            <a:ahLst/>
            <a:cxnLst/>
            <a:rect l="l" t="t" r="r" b="b"/>
            <a:pathLst>
              <a:path w="607051" h="606242">
                <a:moveTo>
                  <a:pt x="0" y="0"/>
                </a:moveTo>
                <a:lnTo>
                  <a:pt x="607051" y="0"/>
                </a:lnTo>
                <a:lnTo>
                  <a:pt x="607051" y="606242"/>
                </a:lnTo>
                <a:lnTo>
                  <a:pt x="0" y="606242"/>
                </a:lnTo>
                <a:lnTo>
                  <a:pt x="0" y="0"/>
                </a:lnTo>
                <a:close/>
              </a:path>
            </a:pathLst>
          </a:custGeom>
          <a:blipFill>
            <a:blip r:embed="rId2"/>
            <a:stretch>
              <a:fillRect t="-47" b="-85"/>
            </a:stretch>
          </a:blipFill>
        </p:spPr>
      </p:sp>
      <p:sp>
        <p:nvSpPr>
          <p:cNvPr id="10" name="Título 13">
            <a:extLst>
              <a:ext uri="{FF2B5EF4-FFF2-40B4-BE49-F238E27FC236}">
                <a16:creationId xmlns:a16="http://schemas.microsoft.com/office/drawing/2014/main" id="{690E9D0B-9937-45D3-FD05-E9C3A8579DA3}"/>
              </a:ext>
            </a:extLst>
          </p:cNvPr>
          <p:cNvSpPr>
            <a:spLocks noGrp="1"/>
          </p:cNvSpPr>
          <p:nvPr>
            <p:ph type="title"/>
          </p:nvPr>
        </p:nvSpPr>
        <p:spPr>
          <a:xfrm>
            <a:off x="1257300" y="952502"/>
            <a:ext cx="15773400" cy="1584323"/>
          </a:xfrm>
        </p:spPr>
        <p:txBody>
          <a:bodyPr/>
          <a:lstStyle/>
          <a:p>
            <a:r>
              <a:rPr lang="es-ES"/>
              <a:t>Haga clic para modificar el estilo de título del patrón</a:t>
            </a:r>
          </a:p>
        </p:txBody>
      </p:sp>
      <p:sp>
        <p:nvSpPr>
          <p:cNvPr id="11" name="Marcador de texto 15">
            <a:extLst>
              <a:ext uri="{FF2B5EF4-FFF2-40B4-BE49-F238E27FC236}">
                <a16:creationId xmlns:a16="http://schemas.microsoft.com/office/drawing/2014/main" id="{427EFEA9-2FE3-6B04-F840-333E0513ED9B}"/>
              </a:ext>
            </a:extLst>
          </p:cNvPr>
          <p:cNvSpPr>
            <a:spLocks noGrp="1"/>
          </p:cNvSpPr>
          <p:nvPr>
            <p:ph type="body" sz="quarter" idx="10"/>
          </p:nvPr>
        </p:nvSpPr>
        <p:spPr>
          <a:xfrm>
            <a:off x="1257300" y="2933700"/>
            <a:ext cx="15773400" cy="5929313"/>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WIF — Blank light">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03DF49F5-DD5B-79D2-C281-5AB2CB7AEC5E}"/>
              </a:ext>
            </a:extLst>
          </p:cNvPr>
          <p:cNvPicPr>
            <a:picLocks noChangeAspect="1"/>
          </p:cNvPicPr>
          <p:nvPr userDrawn="1"/>
        </p:nvPicPr>
        <p:blipFill>
          <a:blip r:embed="rId2"/>
          <a:stretch>
            <a:fillRect/>
          </a:stretch>
        </p:blipFill>
        <p:spPr>
          <a:xfrm>
            <a:off x="0" y="0"/>
            <a:ext cx="18321276" cy="10287000"/>
          </a:xfrm>
          <a:prstGeom prst="rect">
            <a:avLst/>
          </a:prstGeom>
        </p:spPr>
      </p:pic>
      <p:sp>
        <p:nvSpPr>
          <p:cNvPr id="8" name="Título 13">
            <a:extLst>
              <a:ext uri="{FF2B5EF4-FFF2-40B4-BE49-F238E27FC236}">
                <a16:creationId xmlns:a16="http://schemas.microsoft.com/office/drawing/2014/main" id="{EF643A20-5F61-F068-54C0-5F176DC54A19}"/>
              </a:ext>
            </a:extLst>
          </p:cNvPr>
          <p:cNvSpPr>
            <a:spLocks noGrp="1"/>
          </p:cNvSpPr>
          <p:nvPr>
            <p:ph type="title"/>
          </p:nvPr>
        </p:nvSpPr>
        <p:spPr>
          <a:xfrm>
            <a:off x="1257300" y="1257300"/>
            <a:ext cx="13220700" cy="1279525"/>
          </a:xfrm>
        </p:spPr>
        <p:txBody>
          <a:bodyPr/>
          <a:lstStyle/>
          <a:p>
            <a:r>
              <a:rPr lang="es-ES" dirty="0"/>
              <a:t>Haga clic para modificar el estilo de título del patrón</a:t>
            </a:r>
          </a:p>
        </p:txBody>
      </p:sp>
      <p:sp>
        <p:nvSpPr>
          <p:cNvPr id="9" name="Marcador de texto 15">
            <a:extLst>
              <a:ext uri="{FF2B5EF4-FFF2-40B4-BE49-F238E27FC236}">
                <a16:creationId xmlns:a16="http://schemas.microsoft.com/office/drawing/2014/main" id="{3F382514-70B0-BC8F-2855-C1D4DDB6435B}"/>
              </a:ext>
            </a:extLst>
          </p:cNvPr>
          <p:cNvSpPr>
            <a:spLocks noGrp="1"/>
          </p:cNvSpPr>
          <p:nvPr>
            <p:ph type="body" sz="quarter" idx="10"/>
          </p:nvPr>
        </p:nvSpPr>
        <p:spPr>
          <a:xfrm>
            <a:off x="1257300" y="2781300"/>
            <a:ext cx="13220700" cy="6081713"/>
          </a:xfrm>
        </p:spPr>
        <p:txBody>
          <a:body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p>
        </p:txBody>
      </p:sp>
    </p:spTree>
    <p:extLst>
      <p:ext uri="{BB962C8B-B14F-4D97-AF65-F5344CB8AC3E}">
        <p14:creationId xmlns:p14="http://schemas.microsoft.com/office/powerpoint/2010/main" val="12114103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WIF — Blank dark">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D44783E4-4B69-D5B0-2E66-5003FE212955}"/>
              </a:ext>
            </a:extLst>
          </p:cNvPr>
          <p:cNvPicPr>
            <a:picLocks noChangeAspect="1"/>
          </p:cNvPicPr>
          <p:nvPr userDrawn="1"/>
        </p:nvPicPr>
        <p:blipFill>
          <a:blip r:embed="rId2"/>
          <a:stretch>
            <a:fillRect/>
          </a:stretch>
        </p:blipFill>
        <p:spPr>
          <a:xfrm>
            <a:off x="0" y="0"/>
            <a:ext cx="18288000" cy="10308964"/>
          </a:xfrm>
          <a:prstGeom prst="rect">
            <a:avLst/>
          </a:prstGeom>
        </p:spPr>
      </p:pic>
      <p:sp>
        <p:nvSpPr>
          <p:cNvPr id="8" name="Título 13">
            <a:extLst>
              <a:ext uri="{FF2B5EF4-FFF2-40B4-BE49-F238E27FC236}">
                <a16:creationId xmlns:a16="http://schemas.microsoft.com/office/drawing/2014/main" id="{3798DD6F-AD55-800F-00B4-91A208FB08AE}"/>
              </a:ext>
            </a:extLst>
          </p:cNvPr>
          <p:cNvSpPr>
            <a:spLocks noGrp="1"/>
          </p:cNvSpPr>
          <p:nvPr>
            <p:ph type="title"/>
          </p:nvPr>
        </p:nvSpPr>
        <p:spPr>
          <a:xfrm>
            <a:off x="1257300" y="1257300"/>
            <a:ext cx="13144500" cy="1279525"/>
          </a:xfrm>
        </p:spPr>
        <p:txBody>
          <a:bodyPr/>
          <a:lstStyle/>
          <a:p>
            <a:r>
              <a:rPr lang="es-ES"/>
              <a:t>Haga clic para modificar el estilo de título del patrón</a:t>
            </a:r>
          </a:p>
        </p:txBody>
      </p:sp>
      <p:sp>
        <p:nvSpPr>
          <p:cNvPr id="9" name="Marcador de texto 15">
            <a:extLst>
              <a:ext uri="{FF2B5EF4-FFF2-40B4-BE49-F238E27FC236}">
                <a16:creationId xmlns:a16="http://schemas.microsoft.com/office/drawing/2014/main" id="{C911B314-8390-9FFD-B2B2-1FF920468EB7}"/>
              </a:ext>
            </a:extLst>
          </p:cNvPr>
          <p:cNvSpPr>
            <a:spLocks noGrp="1"/>
          </p:cNvSpPr>
          <p:nvPr>
            <p:ph type="body" sz="quarter" idx="10"/>
          </p:nvPr>
        </p:nvSpPr>
        <p:spPr>
          <a:xfrm>
            <a:off x="1257300" y="2781300"/>
            <a:ext cx="13144500" cy="6081713"/>
          </a:xfrm>
        </p:spPr>
        <p:txBody>
          <a:body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p>
        </p:txBody>
      </p:sp>
    </p:spTree>
    <p:extLst>
      <p:ext uri="{BB962C8B-B14F-4D97-AF65-F5344CB8AC3E}">
        <p14:creationId xmlns:p14="http://schemas.microsoft.com/office/powerpoint/2010/main" val="38663119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WIF — Questions">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10791535-2424-BF05-4E89-D2738E84E1AC}"/>
              </a:ext>
            </a:extLst>
          </p:cNvPr>
          <p:cNvPicPr>
            <a:picLocks noChangeAspect="1"/>
          </p:cNvPicPr>
          <p:nvPr userDrawn="1"/>
        </p:nvPicPr>
        <p:blipFill>
          <a:blip r:embed="rId2"/>
          <a:stretch>
            <a:fillRect/>
          </a:stretch>
        </p:blipFill>
        <p:spPr>
          <a:xfrm>
            <a:off x="-26233" y="-35602"/>
            <a:ext cx="18355834" cy="10322602"/>
          </a:xfrm>
          <a:prstGeom prst="rect">
            <a:avLst/>
          </a:prstGeom>
        </p:spPr>
      </p:pic>
    </p:spTree>
    <p:extLst>
      <p:ext uri="{BB962C8B-B14F-4D97-AF65-F5344CB8AC3E}">
        <p14:creationId xmlns:p14="http://schemas.microsoft.com/office/powerpoint/2010/main" val="8378104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FDA8ECA9-8A1A-0D66-A6D7-1CE06C3FE3BF}"/>
              </a:ext>
            </a:extLst>
          </p:cNvPr>
          <p:cNvSpPr>
            <a:spLocks noGrp="1"/>
          </p:cNvSpPr>
          <p:nvPr>
            <p:ph type="title"/>
          </p:nvPr>
        </p:nvSpPr>
        <p:spPr>
          <a:xfrm>
            <a:off x="1257300" y="547688"/>
            <a:ext cx="15773400" cy="1989137"/>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F27A1508-BDFF-3162-53CE-99E6AB01DD10}"/>
              </a:ext>
            </a:extLst>
          </p:cNvPr>
          <p:cNvSpPr>
            <a:spLocks noGrp="1"/>
          </p:cNvSpPr>
          <p:nvPr>
            <p:ph type="body" idx="1"/>
          </p:nvPr>
        </p:nvSpPr>
        <p:spPr>
          <a:xfrm>
            <a:off x="1257300" y="2738438"/>
            <a:ext cx="15773400" cy="6527800"/>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D5595FF6-B467-F50E-88D9-43DDCC9A0534}"/>
              </a:ext>
            </a:extLst>
          </p:cNvPr>
          <p:cNvSpPr>
            <a:spLocks noGrp="1"/>
          </p:cNvSpPr>
          <p:nvPr>
            <p:ph type="dt" sz="half" idx="2"/>
          </p:nvPr>
        </p:nvSpPr>
        <p:spPr>
          <a:xfrm>
            <a:off x="1257300" y="9534525"/>
            <a:ext cx="4114800" cy="547688"/>
          </a:xfrm>
          <a:prstGeom prst="rect">
            <a:avLst/>
          </a:prstGeom>
        </p:spPr>
        <p:txBody>
          <a:bodyPr vert="horz" lIns="91440" tIns="45720" rIns="91440" bIns="45720" rtlCol="0" anchor="ctr"/>
          <a:lstStyle>
            <a:lvl1pPr algn="l">
              <a:defRPr sz="1200">
                <a:solidFill>
                  <a:schemeClr val="tx1">
                    <a:tint val="82000"/>
                  </a:schemeClr>
                </a:solidFill>
              </a:defRPr>
            </a:lvl1pPr>
          </a:lstStyle>
          <a:p>
            <a:fld id="{9F89E1BA-D774-4559-AFDF-9F1D6173A714}" type="datetimeFigureOut">
              <a:rPr lang="es-ES" smtClean="0"/>
              <a:t>27/09/2026</a:t>
            </a:fld>
            <a:endParaRPr lang="es-ES"/>
          </a:p>
        </p:txBody>
      </p:sp>
      <p:sp>
        <p:nvSpPr>
          <p:cNvPr id="5" name="Marcador de pie de página 4">
            <a:extLst>
              <a:ext uri="{FF2B5EF4-FFF2-40B4-BE49-F238E27FC236}">
                <a16:creationId xmlns:a16="http://schemas.microsoft.com/office/drawing/2014/main" id="{35376FE1-6C48-2D80-272B-11FA9DB059B7}"/>
              </a:ext>
            </a:extLst>
          </p:cNvPr>
          <p:cNvSpPr>
            <a:spLocks noGrp="1"/>
          </p:cNvSpPr>
          <p:nvPr>
            <p:ph type="ftr" sz="quarter" idx="3"/>
          </p:nvPr>
        </p:nvSpPr>
        <p:spPr>
          <a:xfrm>
            <a:off x="6057900" y="9534525"/>
            <a:ext cx="6172200" cy="547688"/>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ES"/>
          </a:p>
        </p:txBody>
      </p:sp>
      <p:sp>
        <p:nvSpPr>
          <p:cNvPr id="6" name="Marcador de número de diapositiva 5">
            <a:extLst>
              <a:ext uri="{FF2B5EF4-FFF2-40B4-BE49-F238E27FC236}">
                <a16:creationId xmlns:a16="http://schemas.microsoft.com/office/drawing/2014/main" id="{0B184D9B-ACE1-DB92-21C0-25C856EE1B67}"/>
              </a:ext>
            </a:extLst>
          </p:cNvPr>
          <p:cNvSpPr>
            <a:spLocks noGrp="1"/>
          </p:cNvSpPr>
          <p:nvPr>
            <p:ph type="sldNum" sz="quarter" idx="4"/>
          </p:nvPr>
        </p:nvSpPr>
        <p:spPr>
          <a:xfrm>
            <a:off x="12915900" y="9534525"/>
            <a:ext cx="4114800" cy="547688"/>
          </a:xfrm>
          <a:prstGeom prst="rect">
            <a:avLst/>
          </a:prstGeom>
        </p:spPr>
        <p:txBody>
          <a:bodyPr vert="horz" lIns="91440" tIns="45720" rIns="91440" bIns="45720" rtlCol="0" anchor="ctr"/>
          <a:lstStyle>
            <a:lvl1pPr algn="r">
              <a:defRPr sz="1200">
                <a:solidFill>
                  <a:schemeClr val="tx1">
                    <a:tint val="82000"/>
                  </a:schemeClr>
                </a:solidFill>
              </a:defRPr>
            </a:lvl1pPr>
          </a:lstStyle>
          <a:p>
            <a:fld id="{E643BDDE-721F-43FB-92B2-515CD48EB947}" type="slidenum">
              <a:rPr lang="es-ES" smtClean="0"/>
              <a:t>‹Nº›</a:t>
            </a:fld>
            <a:endParaRPr lang="es-ES"/>
          </a:p>
        </p:txBody>
      </p:sp>
    </p:spTree>
    <p:extLst>
      <p:ext uri="{BB962C8B-B14F-4D97-AF65-F5344CB8AC3E}">
        <p14:creationId xmlns:p14="http://schemas.microsoft.com/office/powerpoint/2010/main" val="3047359856"/>
      </p:ext>
    </p:extLst>
  </p:cSld>
  <p:clrMap bg1="lt1" tx1="dk1" bg2="lt2" tx2="dk2" accent1="accent1" accent2="accent2" accent3="accent3" accent4="accent4" accent5="accent5" accent6="accent6" hlink="hlink" folHlink="folHlink"/>
  <p:sldLayoutIdLst>
    <p:sldLayoutId id="2147483649" r:id="rId1"/>
    <p:sldLayoutId id="2147483671" r:id="rId2"/>
    <p:sldLayoutId id="2147483667" r:id="rId3"/>
    <p:sldLayoutId id="2147483668" r:id="rId4"/>
    <p:sldLayoutId id="2147483669" r:id="rId5"/>
    <p:sldLayoutId id="2147483670" r:id="rId6"/>
    <p:sldLayoutId id="2147483661" r:id="rId7"/>
    <p:sldLayoutId id="2147483660" r:id="rId8"/>
    <p:sldLayoutId id="2147483663" r:id="rId9"/>
    <p:sldLayoutId id="2147483662" r:id="rId10"/>
    <p:sldLayoutId id="2147483665" r:id="rId11"/>
    <p:sldLayoutId id="2147483664" r:id="rId12"/>
    <p:sldLayoutId id="2147483673" r:id="rId13"/>
    <p:sldLayoutId id="2147483674" r:id="rId14"/>
    <p:sldLayoutId id="2147483672" r:id="rId15"/>
  </p:sldLayoutIdLst>
  <p:txStyles>
    <p:titleStyle>
      <a:lvl1pPr algn="l" defTabSz="914400" rtl="0" eaLnBrk="1" latinLnBrk="0" hangingPunct="1">
        <a:lnSpc>
          <a:spcPct val="90000"/>
        </a:lnSpc>
        <a:spcBef>
          <a:spcPct val="0"/>
        </a:spcBef>
        <a:buNone/>
        <a:defRPr sz="4400" kern="1200">
          <a:solidFill>
            <a:schemeClr val="tx1"/>
          </a:solidFill>
          <a:latin typeface="Arial"/>
          <a:ea typeface="Arial"/>
          <a:cs typeface="Arial"/>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a:ea typeface="Arial"/>
          <a:cs typeface="Arial"/>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a:ea typeface="Arial"/>
          <a:cs typeface="Arial"/>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a:ea typeface="Arial"/>
          <a:cs typeface="Arial"/>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Arial"/>
          <a:cs typeface="Arial"/>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Arial"/>
          <a:cs typeface="Arial"/>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Arial"/>
          <a:cs typeface="Arial"/>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Arial"/>
          <a:cs typeface="Arial"/>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Arial"/>
          <a:cs typeface="Arial"/>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Arial"/>
          <a:cs typeface="Arial"/>
        </a:defRPr>
      </a:lvl9pPr>
    </p:bodyStyle>
    <p:otherStyle>
      <a:defPPr>
        <a:defRPr lang="es-ES"/>
      </a:defPPr>
      <a:lvl1pPr marL="0" algn="l" defTabSz="914400" rtl="0" eaLnBrk="1" latinLnBrk="0" hangingPunct="1">
        <a:defRPr sz="1800" kern="1200">
          <a:solidFill>
            <a:schemeClr val="tx1"/>
          </a:solidFill>
          <a:latin typeface="Arial"/>
          <a:ea typeface="Arial"/>
          <a:cs typeface="Arial"/>
        </a:defRPr>
      </a:lvl1pPr>
      <a:lvl2pPr marL="457200" algn="l" defTabSz="914400" rtl="0" eaLnBrk="1" latinLnBrk="0" hangingPunct="1">
        <a:defRPr sz="1800" kern="1200">
          <a:solidFill>
            <a:schemeClr val="tx1"/>
          </a:solidFill>
          <a:latin typeface="Arial"/>
          <a:ea typeface="Arial"/>
          <a:cs typeface="Arial"/>
        </a:defRPr>
      </a:lvl2pPr>
      <a:lvl3pPr marL="914400" algn="l" defTabSz="914400" rtl="0" eaLnBrk="1" latinLnBrk="0" hangingPunct="1">
        <a:defRPr sz="1800" kern="1200">
          <a:solidFill>
            <a:schemeClr val="tx1"/>
          </a:solidFill>
          <a:latin typeface="Arial"/>
          <a:ea typeface="Arial"/>
          <a:cs typeface="Arial"/>
        </a:defRPr>
      </a:lvl3pPr>
      <a:lvl4pPr marL="1371600" algn="l" defTabSz="914400" rtl="0" eaLnBrk="1" latinLnBrk="0" hangingPunct="1">
        <a:defRPr sz="1800" kern="1200">
          <a:solidFill>
            <a:schemeClr val="tx1"/>
          </a:solidFill>
          <a:latin typeface="Arial"/>
          <a:ea typeface="Arial"/>
          <a:cs typeface="Arial"/>
        </a:defRPr>
      </a:lvl4pPr>
      <a:lvl5pPr marL="1828800" algn="l" defTabSz="914400" rtl="0" eaLnBrk="1" latinLnBrk="0" hangingPunct="1">
        <a:defRPr sz="1800" kern="1200">
          <a:solidFill>
            <a:schemeClr val="tx1"/>
          </a:solidFill>
          <a:latin typeface="Arial"/>
          <a:ea typeface="Arial"/>
          <a:cs typeface="Arial"/>
        </a:defRPr>
      </a:lvl5pPr>
      <a:lvl6pPr marL="2286000" algn="l" defTabSz="914400" rtl="0" eaLnBrk="1" latinLnBrk="0" hangingPunct="1">
        <a:defRPr sz="1800" kern="1200">
          <a:solidFill>
            <a:schemeClr val="tx1"/>
          </a:solidFill>
          <a:latin typeface="Arial"/>
          <a:ea typeface="Arial"/>
          <a:cs typeface="Arial"/>
        </a:defRPr>
      </a:lvl6pPr>
      <a:lvl7pPr marL="2743200" algn="l" defTabSz="914400" rtl="0" eaLnBrk="1" latinLnBrk="0" hangingPunct="1">
        <a:defRPr sz="1800" kern="1200">
          <a:solidFill>
            <a:schemeClr val="tx1"/>
          </a:solidFill>
          <a:latin typeface="Arial"/>
          <a:ea typeface="Arial"/>
          <a:cs typeface="Arial"/>
        </a:defRPr>
      </a:lvl7pPr>
      <a:lvl8pPr marL="3200400" algn="l" defTabSz="914400" rtl="0" eaLnBrk="1" latinLnBrk="0" hangingPunct="1">
        <a:defRPr sz="1800" kern="1200">
          <a:solidFill>
            <a:schemeClr val="tx1"/>
          </a:solidFill>
          <a:latin typeface="Arial"/>
          <a:ea typeface="Arial"/>
          <a:cs typeface="Arial"/>
        </a:defRPr>
      </a:lvl8pPr>
      <a:lvl9pPr marL="3657600" algn="l" defTabSz="914400" rtl="0" eaLnBrk="1" latinLnBrk="0" hangingPunct="1">
        <a:defRPr sz="1800" kern="1200">
          <a:solidFill>
            <a:schemeClr val="tx1"/>
          </a:solidFill>
          <a:latin typeface="Arial"/>
          <a:ea typeface="Arial"/>
          <a:cs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19.png"/><Relationship Id="rId7" Type="http://schemas.openxmlformats.org/officeDocument/2006/relationships/image" Target="../media/image2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image" Target="../media/image16.png"/><Relationship Id="rId4" Type="http://schemas.openxmlformats.org/officeDocument/2006/relationships/image" Target="../media/image18.png"/><Relationship Id="rId5" Type="http://schemas.openxmlformats.org/officeDocument/2006/relationships/image" Target="../media/image20.png"/><Relationship Id="rId6" Type="http://schemas.openxmlformats.org/officeDocument/2006/relationships/image" Target="../media/image1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2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26.png"/><Relationship Id="rId6" Type="http://schemas.openxmlformats.org/officeDocument/2006/relationships/image" Target="../media/image2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28.png"/><Relationship Id="rId4" Type="http://schemas.openxmlformats.org/officeDocument/2006/relationships/image" Target="../media/image2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30.png"/><Relationship Id="rId3" Type="http://schemas.openxmlformats.org/officeDocument/2006/relationships/image" Target="../media/image31.png"/><Relationship Id="rId4" Type="http://schemas.openxmlformats.org/officeDocument/2006/relationships/image" Target="../media/image32.png"/><Relationship Id="rId5" Type="http://schemas.openxmlformats.org/officeDocument/2006/relationships/image" Target="../media/image3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34.png"/><Relationship Id="rId3" Type="http://schemas.openxmlformats.org/officeDocument/2006/relationships/image" Target="../media/image3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3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38.png"/><Relationship Id="rId3" Type="http://schemas.openxmlformats.org/officeDocument/2006/relationships/image" Target="../media/image39.png"/><Relationship Id="rId4" Type="http://schemas.openxmlformats.org/officeDocument/2006/relationships/image" Target="../media/image40.png"/><Relationship Id="rId5" Type="http://schemas.openxmlformats.org/officeDocument/2006/relationships/image" Target="../media/image4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46.png"/><Relationship Id="rId3" Type="http://schemas.openxmlformats.org/officeDocument/2006/relationships/image" Target="../media/image47.png"/><Relationship Id="rId4" Type="http://schemas.openxmlformats.org/officeDocument/2006/relationships/image" Target="../media/image48.png"/><Relationship Id="rId5" Type="http://schemas.openxmlformats.org/officeDocument/2006/relationships/image" Target="../media/image3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49.png"/><Relationship Id="rId3" Type="http://schemas.openxmlformats.org/officeDocument/2006/relationships/image" Target="../media/image38.png"/><Relationship Id="rId4" Type="http://schemas.openxmlformats.org/officeDocument/2006/relationships/image" Target="../media/image50.png"/><Relationship Id="rId5" Type="http://schemas.openxmlformats.org/officeDocument/2006/relationships/image" Target="../media/image51.png"/><Relationship Id="rId6" Type="http://schemas.openxmlformats.org/officeDocument/2006/relationships/image" Target="../media/image52.png"/><Relationship Id="rId7" Type="http://schemas.openxmlformats.org/officeDocument/2006/relationships/image" Target="../media/image53.png"/><Relationship Id="rId8" Type="http://schemas.openxmlformats.org/officeDocument/2006/relationships/image" Target="../media/image55.png"/><Relationship Id="rId9" Type="http://schemas.openxmlformats.org/officeDocument/2006/relationships/image" Target="../media/image51.png"/><Relationship Id="rId10" Type="http://schemas.openxmlformats.org/officeDocument/2006/relationships/image" Target="../media/image5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56.png"/><Relationship Id="rId3" Type="http://schemas.openxmlformats.org/officeDocument/2006/relationships/image" Target="../media/image54.png"/><Relationship Id="rId4" Type="http://schemas.openxmlformats.org/officeDocument/2006/relationships/image" Target="../media/image57.png"/><Relationship Id="rId5" Type="http://schemas.openxmlformats.org/officeDocument/2006/relationships/image" Target="../media/image58.png"/><Relationship Id="rId6" Type="http://schemas.openxmlformats.org/officeDocument/2006/relationships/image" Target="../media/image59.png"/><Relationship Id="rId7" Type="http://schemas.openxmlformats.org/officeDocument/2006/relationships/image" Target="../media/image6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61.png"/><Relationship Id="rId4" Type="http://schemas.openxmlformats.org/officeDocument/2006/relationships/image" Target="../media/image62.png"/><Relationship Id="rId5" Type="http://schemas.openxmlformats.org/officeDocument/2006/relationships/image" Target="../media/image6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64.png"/><Relationship Id="rId4" Type="http://schemas.openxmlformats.org/officeDocument/2006/relationships/image" Target="../media/image6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27.png"/><Relationship Id="rId4" Type="http://schemas.openxmlformats.org/officeDocument/2006/relationships/image" Target="../media/image66.png"/><Relationship Id="rId5" Type="http://schemas.openxmlformats.org/officeDocument/2006/relationships/image" Target="../media/image25.png"/><Relationship Id="rId6" Type="http://schemas.openxmlformats.org/officeDocument/2006/relationships/image" Target="../media/image67.png"/><Relationship Id="rId7" Type="http://schemas.openxmlformats.org/officeDocument/2006/relationships/image" Target="../media/image68.png"/><Relationship Id="rId8" Type="http://schemas.openxmlformats.org/officeDocument/2006/relationships/image" Target="../media/image6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24.png"/><Relationship Id="rId4" Type="http://schemas.openxmlformats.org/officeDocument/2006/relationships/image" Target="../media/image2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70.png"/><Relationship Id="rId4" Type="http://schemas.openxmlformats.org/officeDocument/2006/relationships/image" Target="../media/image24.png"/><Relationship Id="rId5" Type="http://schemas.openxmlformats.org/officeDocument/2006/relationships/image" Target="../media/image26.png"/><Relationship Id="rId6" Type="http://schemas.openxmlformats.org/officeDocument/2006/relationships/image" Target="../media/image71.png"/><Relationship Id="rId7" Type="http://schemas.openxmlformats.org/officeDocument/2006/relationships/image" Target="../media/image7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73.png"/><Relationship Id="rId3" Type="http://schemas.openxmlformats.org/officeDocument/2006/relationships/image" Target="../media/image7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75.png"/><Relationship Id="rId3" Type="http://schemas.openxmlformats.org/officeDocument/2006/relationships/image" Target="../media/image76.svg"/><Relationship Id="rId4" Type="http://schemas.openxmlformats.org/officeDocument/2006/relationships/image" Target="../media/image77.png"/><Relationship Id="rId5" Type="http://schemas.openxmlformats.org/officeDocument/2006/relationships/image" Target="../media/image78.png"/><Relationship Id="rId6" Type="http://schemas.openxmlformats.org/officeDocument/2006/relationships/image" Target="../media/image7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8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8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5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82.png"/><Relationship Id="rId3" Type="http://schemas.openxmlformats.org/officeDocument/2006/relationships/image" Target="../media/image83.jpe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8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2812817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3842577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1094681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5025948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0" name="Fondo portada"/>
          <p:cNvPicPr>
            <a:picLocks noChangeAspect="1"/>
          </p:cNvPicPr>
          <p:nvPr/>
        </p:nvPicPr>
        <p:blipFill>
          <a:blip r:embed="rId2"/>
          <a:stretch>
            <a:fillRect/>
          </a:stretch>
        </p:blipFill>
        <p:spPr>
          <a:xfrm>
            <a:off x="0" y="0"/>
            <a:ext cx="18288000" cy="10287000"/>
          </a:xfrm>
          <a:prstGeom prst="rect">
            <a:avLst/>
          </a:prstGeom>
        </p:spPr>
      </p:pic>
      <p:sp>
        <p:nvSpPr>
          <p:cNvPr id="61" name="Veladura"/>
          <p:cNvSpPr/>
          <p:nvPr/>
        </p:nvSpPr>
        <p:spPr>
          <a:xfrm>
            <a:off x="0" y="0"/>
            <a:ext cx="18288000" cy="10287000"/>
          </a:xfrm>
          <a:prstGeom prst="rect">
            <a:avLst/>
          </a:prstGeom>
          <a:gradFill rotWithShape="1">
            <a:gsLst>
              <a:gs pos="0">
                <a:srgbClr val="09534E">
                  <a:alpha val="96000"/>
                </a:srgbClr>
              </a:gs>
              <a:gs pos="42000">
                <a:srgbClr val="09534E">
                  <a:alpha val="88000"/>
                </a:srgbClr>
              </a:gs>
              <a:gs pos="72000">
                <a:srgbClr val="09534E">
                  <a:alpha val="20000"/>
                </a:srgbClr>
              </a:gs>
              <a:gs pos="100000">
                <a:srgbClr val="09534E">
                  <a:alpha val="0"/>
                </a:srgbClr>
              </a:gs>
            </a:gsLst>
            <a:lin ang="0" scaled="0"/>
          </a:gradFill>
          <a:ln>
            <a:noFill/>
          </a:ln>
        </p:spPr>
        <p:txBody>
          <a:bodyPr/>
          <a:lstStyle/>
          <a:p>
            <a:endParaRPr lang="es-ES"/>
          </a:p>
        </p:txBody>
      </p:sp>
      <p:sp>
        <p:nvSpPr>
          <p:cNvPr id="62" name="Texto 62"/>
          <p:cNvSpPr txBox="1"/>
          <p:nvPr/>
        </p:nvSpPr>
        <p:spPr>
          <a:xfrm>
            <a:off x="1257300" y="2350000"/>
            <a:ext cx="10800000" cy="600000"/>
          </a:xfrm>
          <a:prstGeom prst="rect">
            <a:avLst/>
          </a:prstGeom>
          <a:noFill/>
        </p:spPr>
        <p:txBody>
          <a:bodyPr wrap="square" lIns="0" tIns="0" rIns="0" bIns="0" rtlCol="0" anchor="t">
            <a:normAutofit/>
          </a:bodyPr>
          <a:lstStyle/>
          <a:p>
            <a:pPr algn="l"/>
            <a:r>
              <a:rPr lang="es-ES" sz="1800" b="1" dirty="0">
                <a:solidFill>
                  <a:srgbClr val="7DE9B0"/>
                </a:solidFill>
                <a:latin typeface="Arial"/>
                <a:cs typeface="Arial"/>
              </a:rPr>
              <a:t>WOMEN IN FABRIC  ·  BARCELONA  ·  3 OCT 2026</a:t>
            </a:r>
          </a:p>
        </p:txBody>
      </p:sp>
      <p:sp>
        <p:nvSpPr>
          <p:cNvPr id="63" name="Texto 63"/>
          <p:cNvSpPr txBox="1"/>
          <p:nvPr/>
        </p:nvSpPr>
        <p:spPr>
          <a:xfrm>
            <a:off x="1257300" y="3050000"/>
            <a:ext cx="10800000" cy="3400000"/>
          </a:xfrm>
          <a:prstGeom prst="rect">
            <a:avLst/>
          </a:prstGeom>
          <a:noFill/>
        </p:spPr>
        <p:txBody>
          <a:bodyPr wrap="square" lIns="0" tIns="0" rIns="0" bIns="0" rtlCol="0" anchor="t">
            <a:normAutofit/>
          </a:bodyPr>
          <a:lstStyle/>
          <a:p>
            <a:pPr algn="l"/>
            <a:r>
              <a:rPr lang="es-ES" sz="7200" b="1" dirty="0">
                <a:solidFill>
                  <a:srgbClr val="FFFFFF"/>
                </a:solidFill>
                <a:latin typeface="Arial"/>
                <a:cs typeface="Arial"/>
              </a:rPr>
              <a:t>De la capa gold</a:t>
            </a:r>
          </a:p>
          <a:p>
            <a:pPr algn="l"/>
            <a:r>
              <a:rPr lang="es-ES" sz="7200" b="1" dirty="0">
                <a:solidFill>
                  <a:srgbClr val="FFFFFF"/>
                </a:solidFill>
                <a:latin typeface="Arial"/>
                <a:cs typeface="Arial"/>
              </a:rPr>
              <a:t>a la capa </a:t>
            </a:r>
            <a:r>
              <a:rPr lang="es-ES" sz="7200" b="1" dirty="0">
                <a:solidFill>
                  <a:srgbClr val="7DE9B0"/>
                </a:solidFill>
                <a:latin typeface="Arial"/>
                <a:cs typeface="Arial"/>
              </a:rPr>
              <a:t>ontológica</a:t>
            </a:r>
          </a:p>
        </p:txBody>
      </p:sp>
      <p:sp>
        <p:nvSpPr>
          <p:cNvPr id="64" name="Texto 64"/>
          <p:cNvSpPr txBox="1"/>
          <p:nvPr/>
        </p:nvSpPr>
        <p:spPr>
          <a:xfrm>
            <a:off x="1257300" y="6393500"/>
            <a:ext cx="10800000" cy="900000"/>
          </a:xfrm>
          <a:prstGeom prst="rect">
            <a:avLst/>
          </a:prstGeom>
          <a:noFill/>
        </p:spPr>
        <p:txBody>
          <a:bodyPr wrap="square" lIns="0" tIns="0" rIns="0" bIns="0" rtlCol="0" anchor="t">
            <a:normAutofit/>
          </a:bodyPr>
          <a:lstStyle/>
          <a:p>
            <a:pPr algn="l"/>
            <a:r>
              <a:rPr lang="es-ES" sz="3000" b="0" dirty="0">
                <a:solidFill>
                  <a:srgbClr val="FFFFFF"/>
                </a:solidFill>
                <a:latin typeface="Arial"/>
                <a:cs typeface="Arial"/>
              </a:rPr>
              <a:t>Explotando Fabric IQ en el mundo de las renovables</a:t>
            </a:r>
          </a:p>
        </p:txBody>
      </p:sp>
      <p:sp>
        <p:nvSpPr>
          <p:cNvPr id="65" name="Texto 65"/>
          <p:cNvSpPr txBox="1"/>
          <p:nvPr/>
        </p:nvSpPr>
        <p:spPr>
          <a:xfrm>
            <a:off x="1257300" y="7900000"/>
            <a:ext cx="10800000" cy="700000"/>
          </a:xfrm>
          <a:prstGeom prst="rect">
            <a:avLst/>
          </a:prstGeom>
          <a:noFill/>
        </p:spPr>
        <p:txBody>
          <a:bodyPr wrap="square" lIns="0" tIns="0" rIns="0" bIns="0" rtlCol="0" anchor="t">
            <a:normAutofit/>
          </a:bodyPr>
          <a:lstStyle/>
          <a:p>
            <a:pPr algn="l"/>
            <a:r>
              <a:rPr lang="es-ES" sz="2400" b="1" dirty="0">
                <a:solidFill>
                  <a:srgbClr val="8AEDDA"/>
                </a:solidFill>
                <a:latin typeface="Arial"/>
                <a:cs typeface="Arial"/>
              </a:rPr>
              <a:t>Alejandra Ben Fernández  ·  Lorena Méndez Otero</a:t>
            </a:r>
          </a:p>
        </p:txBody>
      </p:sp>
    </p:spTree>
    <p:extLst>
      <p:ext uri="{BB962C8B-B14F-4D97-AF65-F5344CB8AC3E}">
        <p14:creationId xmlns:p14="http://schemas.microsoft.com/office/powerpoint/2010/main" val="6292585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6DFB528-12C9-6398-4096-E912B0B14C20}"/>
              </a:ext>
            </a:extLst>
          </p:cNvPr>
          <p:cNvSpPr>
            <a:spLocks noGrp="1"/>
          </p:cNvSpPr>
          <p:nvPr>
            <p:ph type="ctrTitle"/>
          </p:nvPr>
        </p:nvSpPr>
        <p:spPr/>
        <p:txBody>
          <a:bodyPr/>
          <a:lstStyle/>
          <a:p>
            <a:pPr marL="0" indent="0">
              <a:buNone/>
            </a:pPr>
            <a:r>
              <a:rPr lang="es-ES" sz="4800" b="1" dirty="0">
                <a:latin typeface="Arial"/>
                <a:cs typeface="Arial"/>
              </a:rPr>
              <a:t>Lorena Méndez Otero</a:t>
            </a:r>
          </a:p>
        </p:txBody>
      </p:sp>
      <p:sp>
        <p:nvSpPr>
          <p:cNvPr id="5" name="Panel bio"/>
          <p:cNvSpPr/>
          <p:nvPr/>
        </p:nvSpPr>
        <p:spPr>
          <a:xfrm>
            <a:off x="866800" y="3314700"/>
            <a:ext cx="8124800" cy="6485300"/>
          </a:xfrm>
          <a:prstGeom prst="roundRect">
            <a:avLst>
              <a:gd name="adj" fmla="val 6000"/>
            </a:avLst>
          </a:prstGeom>
          <a:solidFill>
            <a:srgbClr val="FFFFFF">
              <a:alpha val="94000"/>
            </a:srgbClr>
          </a:solidFill>
          <a:ln>
            <a:noFill/>
          </a:ln>
          <a:effectLst>
            <a:outerShdw blurRad="76200" dist="25400" dir="5400000" algn="t" rotWithShape="0">
              <a:srgbClr val="09534E">
                <a:alpha val="18000"/>
              </a:srgbClr>
            </a:outerShdw>
          </a:effectLst>
        </p:spPr>
        <p:txBody>
          <a:bodyPr/>
          <a:lstStyle/>
          <a:p>
            <a:endParaRPr lang="es-ES"/>
          </a:p>
        </p:txBody>
      </p:sp>
      <p:sp>
        <p:nvSpPr>
          <p:cNvPr id="3" name="Subtítulo 2">
            <a:extLst>
              <a:ext uri="{FF2B5EF4-FFF2-40B4-BE49-F238E27FC236}">
                <a16:creationId xmlns:a16="http://schemas.microsoft.com/office/drawing/2014/main" id="{4AFD2170-7C29-3503-AD5F-DDDB02D0986F}"/>
              </a:ext>
            </a:extLst>
          </p:cNvPr>
          <p:cNvSpPr>
            <a:spLocks noGrp="1"/>
          </p:cNvSpPr>
          <p:nvPr>
            <p:ph type="subTitle" idx="1"/>
          </p:nvPr>
        </p:nvSpPr>
        <p:spPr>
          <a:xfrm>
            <a:off x="1166800" y="3767961"/>
            <a:ext cx="7325621" cy="3050000"/>
          </a:xfrm>
        </p:spPr>
        <p:txBody>
          <a:bodyPr>
            <a:normAutofit/>
          </a:bodyPr>
          <a:lstStyle/>
          <a:p>
            <a:pPr marL="0" indent="0" algn="l">
              <a:buNone/>
            </a:pPr>
            <a:r>
              <a:rPr lang="es-ES" sz="1900" dirty="0">
                <a:solidFill>
                  <a:srgbClr val="09534E"/>
                </a:solidFill>
                <a:latin typeface="Arial"/>
                <a:cs typeface="Arial"/>
              </a:rPr>
              <a:t>Consultora y Manager de Data &amp; IA en NTT Data, especializada en IA generativa, Microsoft Fabric y Azure AI.</a:t>
            </a:r>
          </a:p>
          <a:p>
            <a:pPr marL="0" indent="0" algn="l">
              <a:buNone/>
            </a:pPr>
            <a:r>
              <a:rPr lang="es-ES" sz="1900" dirty="0">
                <a:solidFill>
                  <a:srgbClr val="09534E"/>
                </a:solidFill>
                <a:latin typeface="Arial"/>
                <a:cs typeface="Arial"/>
              </a:rPr>
              <a:t>He participado en proyectos para clientes de diferentes sectores y actualmente lidero iniciativas de data e inteligencia artificial con equipos multidisciplinares.</a:t>
            </a:r>
          </a:p>
          <a:p>
            <a:pPr marL="0" indent="0" algn="l">
              <a:buNone/>
            </a:pPr>
            <a:r>
              <a:rPr lang="es-ES" sz="1900" dirty="0">
                <a:solidFill>
                  <a:srgbClr val="09534E"/>
                </a:solidFill>
                <a:latin typeface="Arial"/>
                <a:cs typeface="Arial"/>
              </a:rPr>
              <a:t>Cuando apago el ordenador, me encontrarás leyendo, explorando la naturaleza con mi perro o disfrutando de una buena conversación alrededor de una mesa con familia y amigos.</a:t>
            </a:r>
          </a:p>
        </p:txBody>
      </p:sp>
      <p:pic>
        <p:nvPicPr>
          <p:cNvPr id="4" name="Marcador de posición de imagen 3">
            <a:extLst>
              <a:ext uri="{FF2B5EF4-FFF2-40B4-BE49-F238E27FC236}">
                <a16:creationId xmlns:a16="http://schemas.microsoft.com/office/drawing/2014/main" id="{192EB3FE-C953-033F-BB8C-B232ABCB5255}"/>
              </a:ext>
            </a:extLst>
          </p:cNvPr>
          <p:cNvPicPr>
            <a:picLocks noGrp="1" noChangeAspect="1"/>
          </p:cNvPicPr>
          <p:nvPr>
            <p:ph type="pic" sz="quarter" idx="10"/>
          </p:nvPr>
        </p:nvPicPr>
        <p:blipFill>
          <a:blip r:embed="rId2"/>
          <a:srcRect t="9504" b="9504"/>
          <a:stretch>
            <a:fillRect/>
          </a:stretch>
        </p:blipFill>
        <p:spPr/>
      </p:pic>
      <p:pic>
        <p:nvPicPr>
          <p:cNvPr id="6" name="Icono mail"/>
          <p:cNvPicPr>
            <a:picLocks noChangeAspect="1"/>
          </p:cNvPicPr>
          <p:nvPr/>
        </p:nvPicPr>
        <p:blipFill>
          <a:blip r:embed="rId3"/>
          <a:stretch>
            <a:fillRect/>
          </a:stretch>
        </p:blipFill>
        <p:spPr>
          <a:xfrm>
            <a:off x="1166800" y="6936100"/>
            <a:ext cx="420000" cy="420000"/>
          </a:xfrm>
          <a:prstGeom prst="rect">
            <a:avLst/>
          </a:prstGeom>
        </p:spPr>
      </p:pic>
      <p:sp>
        <p:nvSpPr>
          <p:cNvPr id="7" name="Contacto mail"/>
          <p:cNvSpPr txBox="1"/>
          <p:nvPr/>
        </p:nvSpPr>
        <p:spPr>
          <a:xfrm>
            <a:off x="1766800" y="6896100"/>
            <a:ext cx="6800000" cy="500000"/>
          </a:xfrm>
          <a:prstGeom prst="rect">
            <a:avLst/>
          </a:prstGeom>
          <a:noFill/>
        </p:spPr>
        <p:txBody>
          <a:bodyPr wrap="square" lIns="0" tIns="0" rIns="0" bIns="0" rtlCol="0" anchor="ctr">
            <a:normAutofit/>
          </a:bodyPr>
          <a:lstStyle/>
          <a:p>
            <a:pPr algn="l"/>
            <a:r>
              <a:rPr lang="es-ES" sz="2200" b="1" dirty="0">
                <a:solidFill>
                  <a:srgbClr val="09534E"/>
                </a:solidFill>
                <a:latin typeface="Arial"/>
                <a:cs typeface="Arial"/>
              </a:rPr>
              <a:t>lmendezotero59@gmail.com</a:t>
            </a:r>
          </a:p>
        </p:txBody>
      </p:sp>
      <p:pic>
        <p:nvPicPr>
          <p:cNvPr id="10" name="Icono linkedin"/>
          <p:cNvPicPr>
            <a:picLocks noChangeAspect="1"/>
          </p:cNvPicPr>
          <p:nvPr/>
        </p:nvPicPr>
        <p:blipFill>
          <a:blip r:embed="rId5"/>
          <a:stretch>
            <a:fillRect/>
          </a:stretch>
        </p:blipFill>
        <p:spPr>
          <a:xfrm>
            <a:off x="1166800" y="7496100"/>
            <a:ext cx="420000" cy="420000"/>
          </a:xfrm>
          <a:prstGeom prst="rect">
            <a:avLst/>
          </a:prstGeom>
        </p:spPr>
      </p:pic>
      <p:sp>
        <p:nvSpPr>
          <p:cNvPr id="11" name="Contacto linkedin"/>
          <p:cNvSpPr txBox="1"/>
          <p:nvPr/>
        </p:nvSpPr>
        <p:spPr>
          <a:xfrm>
            <a:off x="1766800" y="7456100"/>
            <a:ext cx="6800000" cy="500000"/>
          </a:xfrm>
          <a:prstGeom prst="rect">
            <a:avLst/>
          </a:prstGeom>
          <a:noFill/>
        </p:spPr>
        <p:txBody>
          <a:bodyPr wrap="square" lIns="0" tIns="0" rIns="0" bIns="0" rtlCol="0" anchor="ctr">
            <a:normAutofit/>
          </a:bodyPr>
          <a:lstStyle/>
          <a:p>
            <a:pPr algn="l"/>
            <a:r>
              <a:rPr lang="es-ES" sz="2200" b="1" dirty="0">
                <a:solidFill>
                  <a:srgbClr val="09534E"/>
                </a:solidFill>
                <a:latin typeface="Arial"/>
                <a:cs typeface="Arial"/>
              </a:rPr>
              <a:t>linkedin.com/in/lorenamendezotero</a:t>
            </a:r>
          </a:p>
        </p:txBody>
      </p:sp>
      <p:pic>
        <p:nvPicPr>
          <p:cNvPr id="12" name="Icono pin"/>
          <p:cNvPicPr>
            <a:picLocks noChangeAspect="1"/>
          </p:cNvPicPr>
          <p:nvPr/>
        </p:nvPicPr>
        <p:blipFill>
          <a:blip r:embed="rId6"/>
          <a:stretch>
            <a:fillRect/>
          </a:stretch>
        </p:blipFill>
        <p:spPr>
          <a:xfrm>
            <a:off x="1166800" y="8619300"/>
            <a:ext cx="420000" cy="420000"/>
          </a:xfrm>
          <a:prstGeom prst="rect">
            <a:avLst/>
          </a:prstGeom>
        </p:spPr>
      </p:pic>
      <p:sp>
        <p:nvSpPr>
          <p:cNvPr id="13" name="Contacto pin"/>
          <p:cNvSpPr txBox="1"/>
          <p:nvPr/>
        </p:nvSpPr>
        <p:spPr>
          <a:xfrm>
            <a:off x="1766800" y="8579300"/>
            <a:ext cx="6800000" cy="500000"/>
          </a:xfrm>
          <a:prstGeom prst="rect">
            <a:avLst/>
          </a:prstGeom>
          <a:noFill/>
        </p:spPr>
        <p:txBody>
          <a:bodyPr wrap="square" lIns="0" tIns="0" rIns="0" bIns="0" rtlCol="0" anchor="ctr">
            <a:normAutofit/>
          </a:bodyPr>
          <a:lstStyle/>
          <a:p>
            <a:pPr algn="l"/>
            <a:r>
              <a:rPr lang="es-ES" sz="2200" b="1" dirty="0">
                <a:solidFill>
                  <a:srgbClr val="09534E"/>
                </a:solidFill>
                <a:latin typeface="Arial"/>
                <a:cs typeface="Arial"/>
              </a:rPr>
              <a:t>Pontevedra, Galicia</a:t>
            </a:r>
          </a:p>
        </p:txBody>
      </p:sp>
      <p:pic>
        <p:nvPicPr>
          <p:cNvPr id="15" name="Icono github">
            <a:extLst>
              <a:ext uri="{FF2B5EF4-FFF2-40B4-BE49-F238E27FC236}">
                <a16:creationId xmlns:a16="http://schemas.microsoft.com/office/drawing/2014/main" id="{36384A4D-3495-5443-2FC5-98581A9E3242}"/>
              </a:ext>
            </a:extLst>
          </p:cNvPr>
          <p:cNvPicPr>
            <a:picLocks noChangeAspect="1"/>
          </p:cNvPicPr>
          <p:nvPr/>
        </p:nvPicPr>
        <p:blipFill>
          <a:blip r:embed="rId7"/>
          <a:stretch>
            <a:fillRect/>
          </a:stretch>
        </p:blipFill>
        <p:spPr>
          <a:xfrm>
            <a:off x="1166800" y="8049700"/>
            <a:ext cx="420000" cy="420000"/>
          </a:xfrm>
          <a:prstGeom prst="rect">
            <a:avLst/>
          </a:prstGeom>
        </p:spPr>
      </p:pic>
      <p:sp>
        <p:nvSpPr>
          <p:cNvPr id="17" name="Contacto phone">
            <a:extLst>
              <a:ext uri="{FF2B5EF4-FFF2-40B4-BE49-F238E27FC236}">
                <a16:creationId xmlns:a16="http://schemas.microsoft.com/office/drawing/2014/main" id="{654EE437-4754-AC9A-AD0E-070FAC438BE5}"/>
              </a:ext>
            </a:extLst>
          </p:cNvPr>
          <p:cNvSpPr txBox="1"/>
          <p:nvPr/>
        </p:nvSpPr>
        <p:spPr>
          <a:xfrm>
            <a:off x="1766800" y="8032143"/>
            <a:ext cx="6800000" cy="500000"/>
          </a:xfrm>
          <a:prstGeom prst="rect">
            <a:avLst/>
          </a:prstGeom>
          <a:noFill/>
        </p:spPr>
        <p:txBody>
          <a:bodyPr wrap="square" lIns="0" tIns="0" rIns="0" bIns="0" rtlCol="0" anchor="ctr">
            <a:normAutofit/>
          </a:bodyPr>
          <a:lstStyle/>
          <a:p>
            <a:r>
              <a:rPr lang="es-ES" sz="2200" b="1" dirty="0">
                <a:solidFill>
                  <a:srgbClr val="09534E"/>
                </a:solidFill>
                <a:latin typeface="Arial"/>
                <a:cs typeface="Arial"/>
              </a:rPr>
              <a:t>https://github.com/lmendezotero</a:t>
            </a:r>
          </a:p>
        </p:txBody>
      </p:sp>
    </p:spTree>
    <p:extLst>
      <p:ext uri="{BB962C8B-B14F-4D97-AF65-F5344CB8AC3E}">
        <p14:creationId xmlns:p14="http://schemas.microsoft.com/office/powerpoint/2010/main" val="42604183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6DFB528-12C9-6398-4096-E912B0B14C20}"/>
              </a:ext>
            </a:extLst>
          </p:cNvPr>
          <p:cNvSpPr>
            <a:spLocks noGrp="1"/>
          </p:cNvSpPr>
          <p:nvPr>
            <p:ph type="ctrTitle"/>
          </p:nvPr>
        </p:nvSpPr>
        <p:spPr/>
        <p:txBody>
          <a:bodyPr/>
          <a:lstStyle/>
          <a:p>
            <a:pPr marL="0" indent="0">
              <a:buNone/>
            </a:pPr>
            <a:r>
              <a:rPr lang="es-ES" sz="4800" b="1" dirty="0">
                <a:latin typeface="Arial"/>
                <a:cs typeface="Arial"/>
              </a:rPr>
              <a:t>Alejandra Ben Fernández</a:t>
            </a:r>
          </a:p>
        </p:txBody>
      </p:sp>
      <p:sp>
        <p:nvSpPr>
          <p:cNvPr id="5" name="Panel bio"/>
          <p:cNvSpPr/>
          <p:nvPr/>
        </p:nvSpPr>
        <p:spPr>
          <a:xfrm>
            <a:off x="866800" y="3850000"/>
            <a:ext cx="7925621" cy="5950000"/>
          </a:xfrm>
          <a:prstGeom prst="roundRect">
            <a:avLst>
              <a:gd name="adj" fmla="val 6000"/>
            </a:avLst>
          </a:prstGeom>
          <a:solidFill>
            <a:srgbClr val="FFFFFF">
              <a:alpha val="94000"/>
            </a:srgbClr>
          </a:solidFill>
          <a:ln>
            <a:noFill/>
          </a:ln>
          <a:effectLst>
            <a:outerShdw blurRad="76200" dist="25400" dir="5400000" algn="t" rotWithShape="0">
              <a:srgbClr val="09534E">
                <a:alpha val="18000"/>
              </a:srgbClr>
            </a:outerShdw>
          </a:effectLst>
        </p:spPr>
        <p:txBody>
          <a:bodyPr/>
          <a:lstStyle/>
          <a:p>
            <a:endParaRPr lang="es-ES"/>
          </a:p>
        </p:txBody>
      </p:sp>
      <p:sp>
        <p:nvSpPr>
          <p:cNvPr id="3" name="Subtítulo 2">
            <a:extLst>
              <a:ext uri="{FF2B5EF4-FFF2-40B4-BE49-F238E27FC236}">
                <a16:creationId xmlns:a16="http://schemas.microsoft.com/office/drawing/2014/main" id="{4AFD2170-7C29-3503-AD5F-DDDB02D0986F}"/>
              </a:ext>
            </a:extLst>
          </p:cNvPr>
          <p:cNvSpPr>
            <a:spLocks noGrp="1"/>
          </p:cNvSpPr>
          <p:nvPr>
            <p:ph type="subTitle" idx="1"/>
          </p:nvPr>
        </p:nvSpPr>
        <p:spPr>
          <a:xfrm>
            <a:off x="1166800" y="4100000"/>
            <a:ext cx="7325621" cy="2700000"/>
          </a:xfrm>
        </p:spPr>
        <p:txBody>
          <a:bodyPr>
            <a:normAutofit/>
          </a:bodyPr>
          <a:lstStyle/>
          <a:p>
            <a:pPr marL="0" indent="0" algn="l">
              <a:buNone/>
            </a:pPr>
            <a:r>
              <a:rPr lang="es-ES" sz="2400" dirty="0">
                <a:solidFill>
                  <a:srgbClr val="09534E"/>
                </a:solidFill>
                <a:latin typeface="Arial"/>
                <a:cs typeface="Arial"/>
              </a:rPr>
              <a:t>Data Engineer en NTT DATA Europe &amp; Latam</a:t>
            </a:r>
          </a:p>
          <a:p>
            <a:pPr marL="0" indent="0" algn="l">
              <a:buNone/>
            </a:pPr>
            <a:r>
              <a:rPr lang="es-ES" sz="2400" dirty="0">
                <a:solidFill>
                  <a:srgbClr val="09534E"/>
                </a:solidFill>
                <a:latin typeface="Arial"/>
                <a:cs typeface="Arial"/>
              </a:rPr>
              <a:t>Experta en People Analytics</a:t>
            </a:r>
          </a:p>
          <a:p>
            <a:pPr marL="0" indent="0" algn="l">
              <a:buNone/>
            </a:pPr>
            <a:r>
              <a:rPr lang="es-ES" sz="2400" dirty="0">
                <a:solidFill>
                  <a:srgbClr val="09534E"/>
                </a:solidFill>
                <a:latin typeface="Arial"/>
                <a:cs typeface="Arial"/>
              </a:rPr>
              <a:t>Estudiante del Grado en Ciencia de Datos en UNIR</a:t>
            </a:r>
          </a:p>
          <a:p>
            <a:pPr marL="0" indent="0" algn="l">
              <a:buNone/>
            </a:pPr>
            <a:r>
              <a:rPr lang="es-ES" sz="2400" dirty="0">
                <a:solidFill>
                  <a:srgbClr val="09534E"/>
                </a:solidFill>
                <a:latin typeface="Arial"/>
                <a:cs typeface="Arial"/>
              </a:rPr>
              <a:t>Apasionada de los datos</a:t>
            </a:r>
          </a:p>
        </p:txBody>
      </p:sp>
      <p:pic>
        <p:nvPicPr>
          <p:cNvPr id="4" name="Marcador de posición de imagen 3">
            <a:extLst>
              <a:ext uri="{FF2B5EF4-FFF2-40B4-BE49-F238E27FC236}">
                <a16:creationId xmlns:a16="http://schemas.microsoft.com/office/drawing/2014/main" id="{192EB3FE-C953-033F-BB8C-B232ABCB5255}"/>
              </a:ext>
            </a:extLst>
          </p:cNvPr>
          <p:cNvPicPr>
            <a:picLocks noGrp="1" noChangeAspect="1"/>
          </p:cNvPicPr>
          <p:nvPr>
            <p:ph type="pic" sz="quarter" idx="10"/>
          </p:nvPr>
        </p:nvPicPr>
        <p:blipFill>
          <a:blip r:embed="rId2"/>
          <a:srcRect t="17787" b="17787"/>
          <a:stretch>
            <a:fillRect/>
          </a:stretch>
        </p:blipFill>
        <p:spPr/>
      </p:pic>
      <p:pic>
        <p:nvPicPr>
          <p:cNvPr id="6" name="Icono mail"/>
          <p:cNvPicPr>
            <a:picLocks noChangeAspect="1"/>
          </p:cNvPicPr>
          <p:nvPr/>
        </p:nvPicPr>
        <p:blipFill>
          <a:blip r:embed="rId3"/>
          <a:stretch>
            <a:fillRect/>
          </a:stretch>
        </p:blipFill>
        <p:spPr>
          <a:xfrm>
            <a:off x="1166800" y="7250000"/>
            <a:ext cx="420000" cy="420000"/>
          </a:xfrm>
          <a:prstGeom prst="rect">
            <a:avLst/>
          </a:prstGeom>
        </p:spPr>
      </p:pic>
      <p:sp>
        <p:nvSpPr>
          <p:cNvPr id="7" name="Contacto mail"/>
          <p:cNvSpPr txBox="1"/>
          <p:nvPr/>
        </p:nvSpPr>
        <p:spPr>
          <a:xfrm>
            <a:off x="1766800" y="7210000"/>
            <a:ext cx="6800000" cy="500000"/>
          </a:xfrm>
          <a:prstGeom prst="rect">
            <a:avLst/>
          </a:prstGeom>
          <a:noFill/>
        </p:spPr>
        <p:txBody>
          <a:bodyPr wrap="square" lIns="0" tIns="0" rIns="0" bIns="0" rtlCol="0" anchor="ctr">
            <a:normAutofit/>
          </a:bodyPr>
          <a:lstStyle/>
          <a:p>
            <a:pPr algn="l"/>
            <a:r>
              <a:rPr lang="es-ES" sz="2200" b="1" dirty="0">
                <a:solidFill>
                  <a:srgbClr val="09534E"/>
                </a:solidFill>
                <a:latin typeface="Arial"/>
                <a:cs typeface="Arial"/>
              </a:rPr>
              <a:t>aben@kinault.com</a:t>
            </a:r>
          </a:p>
        </p:txBody>
      </p:sp>
      <p:pic>
        <p:nvPicPr>
          <p:cNvPr id="8" name="Icono linkedin"/>
          <p:cNvPicPr>
            <a:picLocks noChangeAspect="1"/>
          </p:cNvPicPr>
          <p:nvPr/>
        </p:nvPicPr>
        <p:blipFill>
          <a:blip r:embed="rId4"/>
          <a:stretch>
            <a:fillRect/>
          </a:stretch>
        </p:blipFill>
        <p:spPr>
          <a:xfrm>
            <a:off x="1166800" y="7810000"/>
            <a:ext cx="420000" cy="420000"/>
          </a:xfrm>
          <a:prstGeom prst="rect">
            <a:avLst/>
          </a:prstGeom>
        </p:spPr>
      </p:pic>
      <p:sp>
        <p:nvSpPr>
          <p:cNvPr id="9" name="Contacto linkedin"/>
          <p:cNvSpPr txBox="1"/>
          <p:nvPr/>
        </p:nvSpPr>
        <p:spPr>
          <a:xfrm>
            <a:off x="1766800" y="7770000"/>
            <a:ext cx="6800000" cy="500000"/>
          </a:xfrm>
          <a:prstGeom prst="rect">
            <a:avLst/>
          </a:prstGeom>
          <a:noFill/>
        </p:spPr>
        <p:txBody>
          <a:bodyPr wrap="square" lIns="0" tIns="0" rIns="0" bIns="0" rtlCol="0" anchor="ctr">
            <a:normAutofit fontScale="92500" lnSpcReduction="20000"/>
          </a:bodyPr>
          <a:lstStyle/>
          <a:p>
            <a:pPr algn="l"/>
            <a:r>
              <a:rPr lang="es-ES" sz="2200" b="1" dirty="0">
                <a:solidFill>
                  <a:srgbClr val="09534E"/>
                </a:solidFill>
                <a:latin typeface="Arial"/>
                <a:cs typeface="Arial"/>
              </a:rPr>
              <a:t>linkedin.com/in/alejandrabenfernandez-data-engineer</a:t>
            </a:r>
          </a:p>
        </p:txBody>
      </p:sp>
      <p:pic>
        <p:nvPicPr>
          <p:cNvPr id="10" name="Icono github"/>
          <p:cNvPicPr>
            <a:picLocks noChangeAspect="1"/>
          </p:cNvPicPr>
          <p:nvPr/>
        </p:nvPicPr>
        <p:blipFill>
          <a:blip r:embed="rId5"/>
          <a:stretch>
            <a:fillRect/>
          </a:stretch>
        </p:blipFill>
        <p:spPr>
          <a:xfrm>
            <a:off x="1166800" y="8370000"/>
            <a:ext cx="420000" cy="420000"/>
          </a:xfrm>
          <a:prstGeom prst="rect">
            <a:avLst/>
          </a:prstGeom>
        </p:spPr>
      </p:pic>
      <p:sp>
        <p:nvSpPr>
          <p:cNvPr id="11" name="Contacto github"/>
          <p:cNvSpPr txBox="1"/>
          <p:nvPr/>
        </p:nvSpPr>
        <p:spPr>
          <a:xfrm>
            <a:off x="1766800" y="8330000"/>
            <a:ext cx="6800000" cy="500000"/>
          </a:xfrm>
          <a:prstGeom prst="rect">
            <a:avLst/>
          </a:prstGeom>
          <a:noFill/>
        </p:spPr>
        <p:txBody>
          <a:bodyPr wrap="square" lIns="0" tIns="0" rIns="0" bIns="0" rtlCol="0" anchor="ctr">
            <a:normAutofit/>
          </a:bodyPr>
          <a:lstStyle/>
          <a:p>
            <a:pPr algn="l"/>
            <a:r>
              <a:rPr lang="es-ES" sz="2200" b="1" dirty="0">
                <a:solidFill>
                  <a:srgbClr val="09534E"/>
                </a:solidFill>
                <a:latin typeface="Arial"/>
                <a:cs typeface="Arial"/>
              </a:rPr>
              <a:t>github.com/AbenFdez</a:t>
            </a:r>
          </a:p>
        </p:txBody>
      </p:sp>
      <p:pic>
        <p:nvPicPr>
          <p:cNvPr id="12" name="Icono pin"/>
          <p:cNvPicPr>
            <a:picLocks noChangeAspect="1"/>
          </p:cNvPicPr>
          <p:nvPr/>
        </p:nvPicPr>
        <p:blipFill>
          <a:blip r:embed="rId6"/>
          <a:stretch>
            <a:fillRect/>
          </a:stretch>
        </p:blipFill>
        <p:spPr>
          <a:xfrm>
            <a:off x="1166800" y="8930000"/>
            <a:ext cx="420000" cy="420000"/>
          </a:xfrm>
          <a:prstGeom prst="rect">
            <a:avLst/>
          </a:prstGeom>
        </p:spPr>
      </p:pic>
      <p:sp>
        <p:nvSpPr>
          <p:cNvPr id="13" name="Contacto pin"/>
          <p:cNvSpPr txBox="1"/>
          <p:nvPr/>
        </p:nvSpPr>
        <p:spPr>
          <a:xfrm>
            <a:off x="1766800" y="8890000"/>
            <a:ext cx="6800000" cy="500000"/>
          </a:xfrm>
          <a:prstGeom prst="rect">
            <a:avLst/>
          </a:prstGeom>
          <a:noFill/>
        </p:spPr>
        <p:txBody>
          <a:bodyPr wrap="square" lIns="0" tIns="0" rIns="0" bIns="0" rtlCol="0" anchor="ctr">
            <a:normAutofit/>
          </a:bodyPr>
          <a:lstStyle/>
          <a:p>
            <a:pPr algn="l"/>
            <a:r>
              <a:rPr lang="es-ES" sz="2200" b="1" dirty="0">
                <a:solidFill>
                  <a:srgbClr val="09534E"/>
                </a:solidFill>
                <a:latin typeface="Arial"/>
                <a:cs typeface="Arial"/>
              </a:rPr>
              <a:t>Madrid / Pontevedra</a:t>
            </a:r>
          </a:p>
        </p:txBody>
      </p:sp>
    </p:spTree>
    <p:extLst>
      <p:ext uri="{BB962C8B-B14F-4D97-AF65-F5344CB8AC3E}">
        <p14:creationId xmlns:p14="http://schemas.microsoft.com/office/powerpoint/2010/main" val="42604183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E5469F-4D4B-C7C0-EC32-A71DEC241FE7}"/>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FE22483A-4D39-2273-5DF2-B51673B9C90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8288000" cy="9105901"/>
          </a:xfrm>
          <a:prstGeom prst="rect">
            <a:avLst/>
          </a:prstGeom>
        </p:spPr>
      </p:pic>
      <p:sp>
        <p:nvSpPr>
          <p:cNvPr id="10" name="Título 1">
            <a:extLst>
              <a:ext uri="{FF2B5EF4-FFF2-40B4-BE49-F238E27FC236}">
                <a16:creationId xmlns:a16="http://schemas.microsoft.com/office/drawing/2014/main" id="{53F4A5E4-F64A-E1B2-B889-39E0E4C08A1E}"/>
              </a:ext>
            </a:extLst>
          </p:cNvPr>
          <p:cNvSpPr>
            <a:spLocks noGrp="1"/>
          </p:cNvSpPr>
          <p:nvPr>
            <p:ph type="title"/>
          </p:nvPr>
        </p:nvSpPr>
        <p:spPr>
          <a:xfrm>
            <a:off x="609600" y="876300"/>
            <a:ext cx="15773400" cy="1584323"/>
          </a:xfrm>
        </p:spPr>
        <p:txBody>
          <a:bodyPr/>
          <a:lstStyle/>
          <a:p>
            <a:pPr marL="0" indent="0">
              <a:buNone/>
            </a:pPr>
            <a:r>
              <a:rPr lang="es-ES" sz="4400" b="1" dirty="0">
                <a:latin typeface="Arial"/>
                <a:cs typeface="Arial"/>
              </a:rPr>
              <a:t>Agenda</a:t>
            </a:r>
          </a:p>
        </p:txBody>
      </p:sp>
      <p:sp>
        <p:nvSpPr>
          <p:cNvPr id="11" name="Marcador de texto 2">
            <a:extLst>
              <a:ext uri="{FF2B5EF4-FFF2-40B4-BE49-F238E27FC236}">
                <a16:creationId xmlns:a16="http://schemas.microsoft.com/office/drawing/2014/main" id="{958D1124-8F78-8578-5446-7CEED0316760}"/>
              </a:ext>
            </a:extLst>
          </p:cNvPr>
          <p:cNvSpPr>
            <a:spLocks noGrp="1"/>
          </p:cNvSpPr>
          <p:nvPr>
            <p:ph type="body" sz="quarter" idx="10"/>
          </p:nvPr>
        </p:nvSpPr>
        <p:spPr>
          <a:xfrm>
            <a:off x="609600" y="2857500"/>
            <a:ext cx="13723620" cy="4572000"/>
          </a:xfrm>
        </p:spPr>
        <p:txBody>
          <a:bodyPr vert="horz" lIns="91440" tIns="45720" rIns="91440" bIns="45720" rtlCol="0" anchor="t">
            <a:normAutofit lnSpcReduction="10000"/>
          </a:bodyPr>
          <a:lstStyle/>
          <a:p>
            <a:pPr marL="0" indent="0">
              <a:buNone/>
            </a:pPr>
            <a:r>
              <a:rPr lang="es-ES" sz="2800" b="1" dirty="0">
                <a:latin typeface="Arial"/>
                <a:cs typeface="Arial"/>
              </a:rPr>
              <a:t>Parte Teórica</a:t>
            </a:r>
          </a:p>
          <a:p>
            <a:r>
              <a:rPr lang="es-ES" dirty="0">
                <a:latin typeface="Arial"/>
                <a:cs typeface="Arial"/>
              </a:rPr>
              <a:t>Del dato al conocimiento</a:t>
            </a:r>
          </a:p>
          <a:p>
            <a:pPr lvl="1">
              <a:buFont typeface="Courier New" panose="02070309020205020404" pitchFamily="49" charset="0"/>
              <a:buChar char="o"/>
            </a:pPr>
            <a:r>
              <a:rPr lang="es-ES" dirty="0">
                <a:latin typeface="Arial"/>
                <a:cs typeface="Arial"/>
              </a:rPr>
              <a:t>Contexto</a:t>
            </a:r>
          </a:p>
          <a:p>
            <a:pPr lvl="1">
              <a:buFont typeface="Courier New" panose="02070309020205020404" pitchFamily="49" charset="0"/>
              <a:buChar char="o"/>
            </a:pPr>
            <a:r>
              <a:rPr lang="es-ES" dirty="0">
                <a:latin typeface="Arial"/>
                <a:cs typeface="Arial"/>
              </a:rPr>
              <a:t>Capa ontológica</a:t>
            </a:r>
          </a:p>
          <a:p>
            <a:pPr lvl="1">
              <a:buFont typeface="Courier New" panose="02070309020205020404" pitchFamily="49" charset="0"/>
              <a:buChar char="o"/>
            </a:pPr>
            <a:r>
              <a:rPr lang="es-ES" dirty="0" err="1">
                <a:latin typeface="Arial"/>
                <a:cs typeface="Arial"/>
              </a:rPr>
              <a:t>Fabric</a:t>
            </a:r>
            <a:r>
              <a:rPr lang="es-ES" dirty="0">
                <a:latin typeface="Arial"/>
                <a:cs typeface="Arial"/>
              </a:rPr>
              <a:t> IQ</a:t>
            </a:r>
          </a:p>
          <a:p>
            <a:r>
              <a:rPr lang="es-ES" dirty="0">
                <a:latin typeface="Arial"/>
                <a:cs typeface="Arial"/>
              </a:rPr>
              <a:t>Ontologías en Microsoft </a:t>
            </a:r>
            <a:r>
              <a:rPr lang="es-ES" dirty="0" err="1">
                <a:latin typeface="Arial"/>
                <a:cs typeface="Arial"/>
              </a:rPr>
              <a:t>Fabric</a:t>
            </a:r>
            <a:endParaRPr lang="es-ES" dirty="0">
              <a:latin typeface="Arial"/>
              <a:cs typeface="Arial"/>
            </a:endParaRPr>
          </a:p>
          <a:p>
            <a:pPr lvl="1">
              <a:buFont typeface="Courier New" panose="02070309020205020404" pitchFamily="49" charset="0"/>
              <a:buChar char="o"/>
            </a:pPr>
            <a:r>
              <a:rPr lang="es-ES" dirty="0">
                <a:latin typeface="Arial"/>
                <a:cs typeface="Arial"/>
              </a:rPr>
              <a:t>Arquitectura y elementos principales</a:t>
            </a:r>
          </a:p>
          <a:p>
            <a:pPr lvl="1">
              <a:buFont typeface="Courier New" panose="02070309020205020404" pitchFamily="49" charset="0"/>
              <a:buChar char="o"/>
            </a:pPr>
            <a:r>
              <a:rPr lang="es-ES" dirty="0">
                <a:latin typeface="Arial"/>
                <a:cs typeface="Arial"/>
              </a:rPr>
              <a:t>Consumo</a:t>
            </a:r>
            <a:r>
              <a:rPr lang="es-ES" dirty="0" err="1">
                <a:latin typeface="Arial"/>
                <a:cs typeface="Arial"/>
              </a:rPr>
              <a:t/>
            </a:r>
            <a:endParaRPr lang="es-ES" dirty="0">
              <a:latin typeface="Arial"/>
              <a:cs typeface="Arial"/>
            </a:endParaRPr>
          </a:p>
          <a:p>
            <a:pPr lvl="1">
              <a:buFont typeface="Courier New" panose="02070309020205020404" pitchFamily="49" charset="0"/>
              <a:buChar char="o"/>
            </a:pPr>
            <a:r>
              <a:rPr lang="es-ES" dirty="0">
                <a:latin typeface="Arial"/>
                <a:cs typeface="Arial"/>
              </a:rPr>
              <a:t>Requisitos</a:t>
            </a:r>
          </a:p>
          <a:p>
            <a:pPr lvl="1">
              <a:buFont typeface="Courier New" panose="02070309020205020404" pitchFamily="49" charset="0"/>
              <a:buChar char="o"/>
            </a:pPr>
            <a:r>
              <a:rPr lang="es-ES" dirty="0">
                <a:latin typeface="Arial"/>
                <a:cs typeface="Arial"/>
              </a:rPr>
              <a:t>Limitaciones</a:t>
            </a:r>
          </a:p>
          <a:p>
            <a:pPr lvl="1">
              <a:buFont typeface="Courier New" panose="02070309020205020404" pitchFamily="49" charset="0"/>
              <a:buChar char="o"/>
            </a:pPr>
            <a:r>
              <a:rPr lang="es-ES" dirty="0">
                <a:latin typeface="Arial"/>
                <a:cs typeface="Arial"/>
              </a:rPr>
              <a:t>Creación de ontologías en </a:t>
            </a:r>
            <a:r>
              <a:rPr lang="es-ES" dirty="0" err="1">
                <a:latin typeface="Arial"/>
                <a:cs typeface="Arial"/>
              </a:rPr>
              <a:t>Fabric</a:t>
            </a:r>
            <a:r>
              <a:rPr lang="es-ES" dirty="0">
                <a:latin typeface="Arial"/>
                <a:cs typeface="Arial"/>
              </a:rPr>
              <a:t> </a:t>
            </a:r>
          </a:p>
          <a:p>
            <a:pPr lvl="1">
              <a:buFont typeface="Courier New" panose="02070309020205020404" pitchFamily="49" charset="0"/>
              <a:buChar char="o"/>
            </a:pPr>
            <a:endParaRPr lang="es-ES" dirty="0">
              <a:latin typeface="Arial"/>
              <a:cs typeface="Arial"/>
            </a:endParaRPr>
          </a:p>
        </p:txBody>
      </p:sp>
      <p:sp>
        <p:nvSpPr>
          <p:cNvPr id="14" name="Marcador de texto 2">
            <a:extLst>
              <a:ext uri="{FF2B5EF4-FFF2-40B4-BE49-F238E27FC236}">
                <a16:creationId xmlns:a16="http://schemas.microsoft.com/office/drawing/2014/main" id="{45D5AC23-D5D1-76EE-CE1D-2A9155187F43}"/>
              </a:ext>
            </a:extLst>
          </p:cNvPr>
          <p:cNvSpPr txBox="1">
            <a:spLocks/>
          </p:cNvSpPr>
          <p:nvPr/>
        </p:nvSpPr>
        <p:spPr>
          <a:xfrm>
            <a:off x="685800" y="7527606"/>
            <a:ext cx="13030200" cy="1585915"/>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a:ea typeface="Arial"/>
                <a:cs typeface="Arial"/>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a:ea typeface="Arial"/>
                <a:cs typeface="Arial"/>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a:ea typeface="Arial"/>
                <a:cs typeface="Arial"/>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Arial"/>
                <a:cs typeface="Arial"/>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Arial"/>
                <a:cs typeface="Arial"/>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Arial"/>
                <a:cs typeface="Arial"/>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Arial"/>
                <a:cs typeface="Arial"/>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Arial"/>
                <a:cs typeface="Arial"/>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Arial"/>
                <a:cs typeface="Arial"/>
              </a:defRPr>
            </a:lvl9pPr>
          </a:lstStyle>
          <a:p>
            <a:pPr marL="0" indent="0">
              <a:buFont typeface="Arial" panose="020B0604020202020204" pitchFamily="34" charset="0"/>
              <a:buNone/>
            </a:pPr>
            <a:r>
              <a:rPr lang="es-ES" b="1" dirty="0">
                <a:latin typeface="Arial"/>
                <a:cs typeface="Arial"/>
              </a:rPr>
              <a:t>Parte Práctica</a:t>
            </a:r>
          </a:p>
          <a:p>
            <a:r>
              <a:rPr lang="es-ES" dirty="0">
                <a:latin typeface="Arial"/>
                <a:cs typeface="Arial"/>
              </a:rPr>
              <a:t>Demo en </a:t>
            </a:r>
            <a:r>
              <a:rPr lang="es-ES" dirty="0" err="1">
                <a:latin typeface="Arial"/>
                <a:cs typeface="Arial"/>
              </a:rPr>
              <a:t>Fabric</a:t>
            </a:r>
            <a:r>
              <a:rPr lang="es-ES" dirty="0">
                <a:latin typeface="Arial"/>
                <a:cs typeface="Arial"/>
              </a:rPr>
              <a:t>: Ontología de Parques Eólicos en Galicia</a:t>
            </a:r>
          </a:p>
        </p:txBody>
      </p:sp>
    </p:spTree>
    <p:extLst>
      <p:ext uri="{BB962C8B-B14F-4D97-AF65-F5344CB8AC3E}">
        <p14:creationId xmlns:p14="http://schemas.microsoft.com/office/powerpoint/2010/main" val="30267896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378531-662A-3D64-8DB5-F6247795CFD3}"/>
            </a:ext>
          </a:extLst>
        </p:cNvPr>
        <p:cNvGrpSpPr/>
        <p:nvPr/>
      </p:nvGrpSpPr>
      <p:grpSpPr>
        <a:xfrm>
          <a:off x="0" y="0"/>
          <a:ext cx="0" cy="0"/>
          <a:chOff x="0" y="0"/>
          <a:chExt cx="0" cy="0"/>
        </a:xfrm>
      </p:grpSpPr>
      <p:sp>
        <p:nvSpPr>
          <p:cNvPr id="4" name="Título 3">
            <a:extLst>
              <a:ext uri="{FF2B5EF4-FFF2-40B4-BE49-F238E27FC236}">
                <a16:creationId xmlns:a16="http://schemas.microsoft.com/office/drawing/2014/main" id="{B3981DC0-248A-E035-E671-4DCE70AD2DF4}"/>
              </a:ext>
            </a:extLst>
          </p:cNvPr>
          <p:cNvSpPr>
            <a:spLocks noGrp="1"/>
          </p:cNvSpPr>
          <p:nvPr>
            <p:ph type="title"/>
          </p:nvPr>
        </p:nvSpPr>
        <p:spPr/>
        <p:txBody>
          <a:bodyPr/>
          <a:lstStyle/>
          <a:p>
            <a:pPr marL="0" indent="0">
              <a:buNone/>
            </a:pPr>
            <a:r>
              <a:rPr lang="es-ES" sz="4400" b="1" dirty="0">
                <a:solidFill>
                  <a:srgbClr val="7DE9B0"/>
                </a:solidFill>
                <a:latin typeface="Arial"/>
                <a:cs typeface="Arial"/>
              </a:rPr>
              <a:t>Parte Teórica</a:t>
            </a:r>
          </a:p>
        </p:txBody>
      </p:sp>
      <p:sp>
        <p:nvSpPr>
          <p:cNvPr id="5" name="Marcador de texto 4">
            <a:extLst>
              <a:ext uri="{FF2B5EF4-FFF2-40B4-BE49-F238E27FC236}">
                <a16:creationId xmlns:a16="http://schemas.microsoft.com/office/drawing/2014/main" id="{10AE532D-A05B-F799-5F83-C90D51248D18}"/>
              </a:ext>
            </a:extLst>
          </p:cNvPr>
          <p:cNvSpPr>
            <a:spLocks noGrp="1"/>
          </p:cNvSpPr>
          <p:nvPr>
            <p:ph type="body" sz="quarter" idx="10"/>
          </p:nvPr>
        </p:nvSpPr>
        <p:spPr/>
        <p:txBody>
          <a:bodyPr vert="horz" lIns="91440" tIns="45720" rIns="91440" bIns="45720" rtlCol="0" anchor="t">
            <a:normAutofit/>
          </a:bodyPr>
          <a:lstStyle/>
          <a:p>
            <a:pPr marL="0" indent="0">
              <a:buNone/>
            </a:pPr>
            <a:r>
              <a:rPr lang="es-ES" sz="5400" b="1" dirty="0">
                <a:solidFill>
                  <a:srgbClr val="FFFFFF"/>
                </a:solidFill>
                <a:latin typeface="Arial"/>
                <a:cs typeface="Arial"/>
              </a:rPr>
              <a:t>1. Del dato al conocimiento</a:t>
            </a:r>
          </a:p>
        </p:txBody>
      </p:sp>
      <p:sp>
        <p:nvSpPr>
          <p:cNvPr id="3" name="CuadroTexto 2">
            <a:extLst>
              <a:ext uri="{FF2B5EF4-FFF2-40B4-BE49-F238E27FC236}">
                <a16:creationId xmlns:a16="http://schemas.microsoft.com/office/drawing/2014/main" id="{99EFD530-14BE-2824-294F-CD147B92FE6C}"/>
              </a:ext>
            </a:extLst>
          </p:cNvPr>
          <p:cNvSpPr txBox="1"/>
          <p:nvPr/>
        </p:nvSpPr>
        <p:spPr>
          <a:xfrm>
            <a:off x="1226820" y="4076700"/>
            <a:ext cx="10005060" cy="584775"/>
          </a:xfrm>
          <a:prstGeom prst="rect">
            <a:avLst/>
          </a:prstGeom>
          <a:noFill/>
        </p:spPr>
        <p:txBody>
          <a:bodyPr wrap="square">
            <a:spAutoFit/>
          </a:bodyPr>
          <a:lstStyle/>
          <a:p>
            <a:r>
              <a:rPr lang="es-ES" sz="3200" dirty="0">
                <a:solidFill>
                  <a:schemeClr val="bg1"/>
                </a:solidFill>
              </a:rPr>
              <a:t>Contexto · Capa ontológica · </a:t>
            </a:r>
            <a:r>
              <a:rPr lang="es-ES" sz="3200" dirty="0" err="1">
                <a:solidFill>
                  <a:schemeClr val="bg1"/>
                </a:solidFill>
              </a:rPr>
              <a:t>Fabric</a:t>
            </a:r>
            <a:r>
              <a:rPr lang="es-ES" sz="3200" dirty="0">
                <a:solidFill>
                  <a:schemeClr val="bg1"/>
                </a:solidFill>
              </a:rPr>
              <a:t> IQ</a:t>
            </a:r>
          </a:p>
        </p:txBody>
      </p:sp>
      <p:pic>
        <p:nvPicPr>
          <p:cNvPr id="6" name="Imagen 5">
            <a:extLst>
              <a:ext uri="{FF2B5EF4-FFF2-40B4-BE49-F238E27FC236}">
                <a16:creationId xmlns:a16="http://schemas.microsoft.com/office/drawing/2014/main" id="{B7B43E82-1EC8-87B6-0E9F-A14BF25FEF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8288000" cy="9105900"/>
          </a:xfrm>
          <a:prstGeom prst="rect">
            <a:avLst/>
          </a:prstGeom>
        </p:spPr>
      </p:pic>
      <p:sp>
        <p:nvSpPr>
          <p:cNvPr id="7" name="Título 3">
            <a:extLst>
              <a:ext uri="{FF2B5EF4-FFF2-40B4-BE49-F238E27FC236}">
                <a16:creationId xmlns:a16="http://schemas.microsoft.com/office/drawing/2014/main" id="{6092EB61-63A1-AB2C-718C-3A112634C3EA}"/>
              </a:ext>
            </a:extLst>
          </p:cNvPr>
          <p:cNvSpPr txBox="1">
            <a:spLocks/>
          </p:cNvSpPr>
          <p:nvPr/>
        </p:nvSpPr>
        <p:spPr>
          <a:xfrm>
            <a:off x="1257300" y="579439"/>
            <a:ext cx="15773400" cy="158432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Arial"/>
                <a:ea typeface="Arial"/>
                <a:cs typeface="Arial"/>
              </a:defRPr>
            </a:lvl1pPr>
          </a:lstStyle>
          <a:p>
            <a:r>
              <a:rPr lang="es-ES" b="1">
                <a:solidFill>
                  <a:srgbClr val="7DE9B0"/>
                </a:solidFill>
                <a:latin typeface="Arial"/>
                <a:cs typeface="Arial"/>
              </a:rPr>
              <a:t>Parte Teórica</a:t>
            </a:r>
            <a:endParaRPr lang="es-ES" b="1" dirty="0">
              <a:solidFill>
                <a:srgbClr val="7DE9B0"/>
              </a:solidFill>
              <a:latin typeface="Arial"/>
              <a:cs typeface="Arial"/>
            </a:endParaRPr>
          </a:p>
        </p:txBody>
      </p:sp>
      <p:sp>
        <p:nvSpPr>
          <p:cNvPr id="8" name="Marcador de texto 4">
            <a:extLst>
              <a:ext uri="{FF2B5EF4-FFF2-40B4-BE49-F238E27FC236}">
                <a16:creationId xmlns:a16="http://schemas.microsoft.com/office/drawing/2014/main" id="{3EC622ED-1E4F-0E96-F415-DA154C6A1CD2}"/>
              </a:ext>
            </a:extLst>
          </p:cNvPr>
          <p:cNvSpPr txBox="1">
            <a:spLocks/>
          </p:cNvSpPr>
          <p:nvPr/>
        </p:nvSpPr>
        <p:spPr>
          <a:xfrm>
            <a:off x="1226820" y="2400301"/>
            <a:ext cx="11650980" cy="3962400"/>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a:ea typeface="Arial"/>
                <a:cs typeface="Arial"/>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a:ea typeface="Arial"/>
                <a:cs typeface="Arial"/>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a:ea typeface="Arial"/>
                <a:cs typeface="Arial"/>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Arial"/>
                <a:cs typeface="Arial"/>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Arial"/>
                <a:cs typeface="Arial"/>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Arial"/>
                <a:cs typeface="Arial"/>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Arial"/>
                <a:cs typeface="Arial"/>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Arial"/>
                <a:cs typeface="Arial"/>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Arial"/>
                <a:cs typeface="Arial"/>
              </a:defRPr>
            </a:lvl9pPr>
          </a:lstStyle>
          <a:p>
            <a:pPr marL="0" indent="0">
              <a:buFont typeface="Arial" panose="020B0604020202020204" pitchFamily="34" charset="0"/>
              <a:buNone/>
            </a:pPr>
            <a:r>
              <a:rPr lang="es-ES" sz="5400" b="1" dirty="0">
                <a:solidFill>
                  <a:srgbClr val="FFFFFF"/>
                </a:solidFill>
                <a:latin typeface="Arial"/>
                <a:cs typeface="Arial"/>
              </a:rPr>
              <a:t>1. Del dato al conocimiento</a:t>
            </a:r>
          </a:p>
        </p:txBody>
      </p:sp>
      <p:sp>
        <p:nvSpPr>
          <p:cNvPr id="10" name="CuadroTexto 9">
            <a:extLst>
              <a:ext uri="{FF2B5EF4-FFF2-40B4-BE49-F238E27FC236}">
                <a16:creationId xmlns:a16="http://schemas.microsoft.com/office/drawing/2014/main" id="{C96E4B03-1124-6D61-EF03-673D2D728D91}"/>
              </a:ext>
            </a:extLst>
          </p:cNvPr>
          <p:cNvSpPr txBox="1"/>
          <p:nvPr/>
        </p:nvSpPr>
        <p:spPr>
          <a:xfrm>
            <a:off x="1287780" y="3491925"/>
            <a:ext cx="10005060" cy="584775"/>
          </a:xfrm>
          <a:prstGeom prst="rect">
            <a:avLst/>
          </a:prstGeom>
          <a:noFill/>
        </p:spPr>
        <p:txBody>
          <a:bodyPr wrap="square">
            <a:spAutoFit/>
          </a:bodyPr>
          <a:lstStyle/>
          <a:p>
            <a:r>
              <a:rPr lang="es-ES" sz="3200" dirty="0">
                <a:solidFill>
                  <a:schemeClr val="bg1"/>
                </a:solidFill>
              </a:rPr>
              <a:t>Contexto · Capa ontológica · </a:t>
            </a:r>
            <a:r>
              <a:rPr lang="es-ES" sz="3200" dirty="0" err="1">
                <a:solidFill>
                  <a:schemeClr val="bg1"/>
                </a:solidFill>
              </a:rPr>
              <a:t>Fabric</a:t>
            </a:r>
            <a:r>
              <a:rPr lang="es-ES" sz="3200" dirty="0">
                <a:solidFill>
                  <a:schemeClr val="bg1"/>
                </a:solidFill>
              </a:rPr>
              <a:t> IQ</a:t>
            </a:r>
          </a:p>
        </p:txBody>
      </p:sp>
    </p:spTree>
    <p:extLst>
      <p:ext uri="{BB962C8B-B14F-4D97-AF65-F5344CB8AC3E}">
        <p14:creationId xmlns:p14="http://schemas.microsoft.com/office/powerpoint/2010/main" val="33491359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3F4A5E4-F64A-E1B2-B889-39E0E4C08A1E}"/>
              </a:ext>
            </a:extLst>
          </p:cNvPr>
          <p:cNvSpPr>
            <a:spLocks noGrp="1"/>
          </p:cNvSpPr>
          <p:nvPr>
            <p:ph type="title"/>
          </p:nvPr>
        </p:nvSpPr>
        <p:spPr>
          <a:xfrm>
            <a:off x="693821" y="495134"/>
            <a:ext cx="15773400" cy="1584323"/>
          </a:xfrm>
        </p:spPr>
        <p:txBody>
          <a:bodyPr/>
          <a:lstStyle/>
          <a:p>
            <a:pPr marL="0" indent="0">
              <a:buNone/>
            </a:pPr>
            <a:r>
              <a:rPr lang="es-ES" sz="4400" b="1" dirty="0">
                <a:latin typeface="Arial"/>
                <a:cs typeface="Arial"/>
              </a:rPr>
              <a:t>¿Por qué hablamos ahora de ontologías?</a:t>
            </a:r>
          </a:p>
        </p:txBody>
      </p:sp>
      <p:sp>
        <p:nvSpPr>
          <p:cNvPr id="3" name="s"/>
          <p:cNvSpPr/>
          <p:nvPr/>
        </p:nvSpPr>
        <p:spPr>
          <a:xfrm>
            <a:off x="685800" y="4259580"/>
            <a:ext cx="5212080" cy="3474720"/>
          </a:xfrm>
          <a:prstGeom prst="roundRect">
            <a:avLst>
              <a:gd name="adj" fmla="val 12000"/>
            </a:avLst>
          </a:prstGeom>
          <a:solidFill>
            <a:srgbClr val="E4F7EE"/>
          </a:solidFill>
          <a:ln>
            <a:noFill/>
          </a:ln>
          <a:effectLst>
            <a:outerShdw blurRad="50800" dist="38100" dir="2700000" algn="tl" rotWithShape="0">
              <a:prstClr val="black">
                <a:alpha val="40000"/>
              </a:prstClr>
            </a:outerShdw>
          </a:effectLst>
        </p:spPr>
        <p:txBody>
          <a:bodyPr wrap="square" lIns="91440" tIns="36576" rIns="91440" bIns="36576" anchor="ctr">
            <a:normAutofit/>
          </a:bodyPr>
          <a:lstStyle/>
          <a:p>
            <a:pPr algn="ctr"/>
            <a:r>
              <a:rPr lang="es-ES" sz="2600" b="1" dirty="0">
                <a:solidFill>
                  <a:srgbClr val="10635A"/>
                </a:solidFill>
                <a:latin typeface="Arial"/>
                <a:cs typeface="Arial"/>
              </a:rPr>
              <a:t>El dato ya está limpio y modelado</a:t>
            </a:r>
          </a:p>
          <a:p>
            <a:pPr algn="ctr"/>
            <a:endParaRPr lang="es-ES" sz="2600" b="1" dirty="0">
              <a:solidFill>
                <a:srgbClr val="10635A"/>
              </a:solidFill>
              <a:latin typeface="Arial"/>
              <a:cs typeface="Arial"/>
            </a:endParaRPr>
          </a:p>
          <a:p>
            <a:pPr algn="ctr"/>
            <a:r>
              <a:rPr lang="es-ES" sz="2200" dirty="0">
                <a:solidFill>
                  <a:srgbClr val="09534E"/>
                </a:solidFill>
                <a:latin typeface="Arial"/>
                <a:cs typeface="Arial"/>
              </a:rPr>
              <a:t>La medallion nos dejó una capa gold limpia... y ahí se acaba el viaje.</a:t>
            </a:r>
          </a:p>
        </p:txBody>
      </p:sp>
      <p:sp>
        <p:nvSpPr>
          <p:cNvPr id="4" name="s"/>
          <p:cNvSpPr/>
          <p:nvPr/>
        </p:nvSpPr>
        <p:spPr>
          <a:xfrm>
            <a:off x="6537960" y="4259580"/>
            <a:ext cx="5212080" cy="3474720"/>
          </a:xfrm>
          <a:prstGeom prst="roundRect">
            <a:avLst>
              <a:gd name="adj" fmla="val 12000"/>
            </a:avLst>
          </a:prstGeom>
          <a:solidFill>
            <a:srgbClr val="E4F7EE"/>
          </a:solidFill>
          <a:ln>
            <a:noFill/>
          </a:ln>
          <a:effectLst>
            <a:outerShdw blurRad="50800" dist="38100" dir="2700000" algn="tl" rotWithShape="0">
              <a:prstClr val="black">
                <a:alpha val="40000"/>
              </a:prstClr>
            </a:outerShdw>
          </a:effectLst>
        </p:spPr>
        <p:txBody>
          <a:bodyPr wrap="square" lIns="91440" tIns="36576" rIns="91440" bIns="36576" anchor="ctr">
            <a:normAutofit/>
          </a:bodyPr>
          <a:lstStyle/>
          <a:p>
            <a:pPr algn="ctr"/>
            <a:r>
              <a:rPr lang="es-ES" sz="2600" b="1" dirty="0">
                <a:solidFill>
                  <a:srgbClr val="10635A"/>
                </a:solidFill>
                <a:latin typeface="Arial"/>
                <a:cs typeface="Arial"/>
              </a:rPr>
              <a:t>Las tablas describen esquemas</a:t>
            </a:r>
          </a:p>
          <a:p>
            <a:pPr algn="ctr"/>
            <a:endParaRPr lang="es-ES" sz="2600" b="1" dirty="0">
              <a:solidFill>
                <a:srgbClr val="10635A"/>
              </a:solidFill>
              <a:latin typeface="Arial"/>
              <a:cs typeface="Arial"/>
            </a:endParaRPr>
          </a:p>
          <a:p>
            <a:pPr algn="ctr"/>
            <a:r>
              <a:rPr lang="es-ES" sz="2600" dirty="0">
                <a:solidFill>
                  <a:srgbClr val="10635A"/>
                </a:solidFill>
                <a:latin typeface="Arial"/>
                <a:cs typeface="Arial"/>
              </a:rPr>
              <a:t>Un LLM ve columnas y filas, no parques eólicos ni turbinas.</a:t>
            </a:r>
          </a:p>
        </p:txBody>
      </p:sp>
      <p:sp>
        <p:nvSpPr>
          <p:cNvPr id="5" name="s"/>
          <p:cNvSpPr/>
          <p:nvPr/>
        </p:nvSpPr>
        <p:spPr>
          <a:xfrm>
            <a:off x="12390120" y="4259580"/>
            <a:ext cx="5212080" cy="3474720"/>
          </a:xfrm>
          <a:prstGeom prst="roundRect">
            <a:avLst>
              <a:gd name="adj" fmla="val 12000"/>
            </a:avLst>
          </a:prstGeom>
          <a:solidFill>
            <a:srgbClr val="E4F7EE"/>
          </a:solidFill>
          <a:ln>
            <a:noFill/>
          </a:ln>
          <a:effectLst>
            <a:outerShdw blurRad="50800" dist="38100" dir="2700000" algn="tl" rotWithShape="0">
              <a:prstClr val="black">
                <a:alpha val="40000"/>
              </a:prstClr>
            </a:outerShdw>
          </a:effectLst>
        </p:spPr>
        <p:txBody>
          <a:bodyPr wrap="square" lIns="91440" tIns="36576" rIns="91440" bIns="36576" anchor="ctr">
            <a:normAutofit/>
          </a:bodyPr>
          <a:lstStyle/>
          <a:p>
            <a:pPr algn="ctr"/>
            <a:r>
              <a:rPr lang="es-ES" sz="2600" b="1" dirty="0">
                <a:solidFill>
                  <a:srgbClr val="10635A"/>
                </a:solidFill>
                <a:latin typeface="Arial"/>
                <a:cs typeface="Arial"/>
              </a:rPr>
              <a:t>Fabric evoluciona hacia IQ</a:t>
            </a:r>
          </a:p>
          <a:p>
            <a:pPr algn="ctr"/>
            <a:endParaRPr lang="es-ES" sz="2600" b="1" dirty="0">
              <a:solidFill>
                <a:srgbClr val="10635A"/>
              </a:solidFill>
              <a:latin typeface="Arial"/>
              <a:cs typeface="Arial"/>
            </a:endParaRPr>
          </a:p>
          <a:p>
            <a:pPr algn="ctr"/>
            <a:r>
              <a:rPr lang="es-ES" sz="2600" dirty="0">
                <a:solidFill>
                  <a:srgbClr val="10635A"/>
                </a:solidFill>
                <a:latin typeface="Arial"/>
                <a:cs typeface="Arial"/>
              </a:rPr>
              <a:t>Una capa de inteligencia empresarial sobre OneLake.</a:t>
            </a:r>
          </a:p>
        </p:txBody>
      </p:sp>
      <p:sp>
        <p:nvSpPr>
          <p:cNvPr id="6" name="Mensaje clave 6"/>
          <p:cNvSpPr/>
          <p:nvPr/>
        </p:nvSpPr>
        <p:spPr>
          <a:xfrm>
            <a:off x="3200400" y="8183879"/>
            <a:ext cx="11887200" cy="566928"/>
          </a:xfrm>
          <a:prstGeom prst="roundRect">
            <a:avLst>
              <a:gd name="adj" fmla="val 50000"/>
            </a:avLst>
          </a:prstGeom>
          <a:solidFill>
            <a:srgbClr val="09534E"/>
          </a:solidFill>
          <a:ln>
            <a:noFill/>
          </a:ln>
          <a:effectLst>
            <a:outerShdw blurRad="50800" dist="25400" dir="5400000" algn="t" rotWithShape="0">
              <a:prstClr val="black">
                <a:alpha val="28000"/>
              </a:prstClr>
            </a:outerShdw>
          </a:effectLst>
        </p:spPr>
        <p:txBody>
          <a:bodyPr wrap="square" lIns="182880" tIns="0" rIns="182880" bIns="0" anchor="ctr">
            <a:noAutofit/>
          </a:bodyPr>
          <a:lstStyle/>
          <a:p>
            <a:pPr algn="ctr"/>
            <a:r>
              <a:rPr lang="es-ES" sz="2400" b="1" dirty="0">
                <a:solidFill>
                  <a:srgbClr val="7DE9B0"/>
                </a:solidFill>
                <a:latin typeface="Arial"/>
                <a:cs typeface="Arial"/>
              </a:rPr>
              <a:t xml:space="preserve">✓  Los LLM conocen el lenguaje, </a:t>
            </a:r>
            <a:r>
              <a:rPr lang="es-ES" sz="2400" b="1" dirty="0">
                <a:solidFill>
                  <a:srgbClr val="FFFFFF"/>
                </a:solidFill>
                <a:latin typeface="Arial"/>
                <a:cs typeface="Arial"/>
              </a:rPr>
              <a:t xml:space="preserve">pero no conocen nuestro negocio</a:t>
            </a:r>
          </a:p>
        </p:txBody>
      </p:sp>
      <p:sp>
        <p:nvSpPr>
          <p:cNvPr id="8" name="s">
            <a:extLst>
              <a:ext uri="{FF2B5EF4-FFF2-40B4-BE49-F238E27FC236}">
                <a16:creationId xmlns:a16="http://schemas.microsoft.com/office/drawing/2014/main" id="{3BD8FE73-AA7B-2183-173D-90811F3E55CE}"/>
              </a:ext>
            </a:extLst>
          </p:cNvPr>
          <p:cNvSpPr/>
          <p:nvPr/>
        </p:nvSpPr>
        <p:spPr>
          <a:xfrm>
            <a:off x="685800" y="2079457"/>
            <a:ext cx="16764000" cy="1584323"/>
          </a:xfrm>
          <a:prstGeom prst="rect">
            <a:avLst/>
          </a:prstGeom>
          <a:noFill/>
          <a:ln>
            <a:noFill/>
          </a:ln>
        </p:spPr>
        <p:txBody>
          <a:bodyPr wrap="square" lIns="91440" tIns="36576" rIns="91440" bIns="36576" anchor="ctr">
            <a:normAutofit fontScale="92500" lnSpcReduction="20000"/>
          </a:bodyPr>
          <a:lstStyle/>
          <a:p>
            <a:r>
              <a:rPr lang="es-ES" sz="3000" dirty="0">
                <a:solidFill>
                  <a:srgbClr val="10635A"/>
                </a:solidFill>
                <a:latin typeface="Arial"/>
                <a:cs typeface="Arial"/>
              </a:rPr>
              <a:t>Durante años hemos trabajado para ordenar, limpiar y modelar nuestros datos. </a:t>
            </a:r>
          </a:p>
          <a:p>
            <a:endParaRPr lang="es-ES" sz="3000" dirty="0">
              <a:solidFill>
                <a:srgbClr val="10635A"/>
              </a:solidFill>
              <a:latin typeface="Arial"/>
              <a:cs typeface="Arial"/>
            </a:endParaRPr>
          </a:p>
          <a:p>
            <a:r>
              <a:rPr lang="es-ES" sz="3000" dirty="0">
                <a:solidFill>
                  <a:srgbClr val="10635A"/>
                </a:solidFill>
                <a:latin typeface="Arial"/>
                <a:cs typeface="Arial"/>
              </a:rPr>
              <a:t>El siguiente reto es conseguir que la IA no solo acceda a ellos, sino que entienda qué representan y cómo se relacionan dentro del negocio.</a:t>
            </a:r>
          </a:p>
        </p:txBody>
      </p:sp>
    </p:spTree>
    <p:extLst>
      <p:ext uri="{BB962C8B-B14F-4D97-AF65-F5344CB8AC3E}">
        <p14:creationId xmlns:p14="http://schemas.microsoft.com/office/powerpoint/2010/main" val="10763775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3F4A5E4-F64A-E1B2-B889-39E0E4C08A1E}"/>
              </a:ext>
            </a:extLst>
          </p:cNvPr>
          <p:cNvSpPr>
            <a:spLocks noGrp="1"/>
          </p:cNvSpPr>
          <p:nvPr>
            <p:ph type="title"/>
          </p:nvPr>
        </p:nvSpPr>
        <p:spPr>
          <a:xfrm>
            <a:off x="762000" y="419100"/>
            <a:ext cx="15773400" cy="1584323"/>
          </a:xfrm>
        </p:spPr>
        <p:txBody>
          <a:bodyPr/>
          <a:lstStyle/>
          <a:p>
            <a:pPr marL="0" indent="0">
              <a:buNone/>
            </a:pPr>
            <a:r>
              <a:rPr lang="es-ES" sz="4400" b="1" dirty="0">
                <a:latin typeface="Arial"/>
                <a:cs typeface="Arial"/>
              </a:rPr>
              <a:t>Del dato al conocimiento</a:t>
            </a:r>
          </a:p>
        </p:txBody>
      </p:sp>
      <p:sp>
        <p:nvSpPr>
          <p:cNvPr id="4" name="Nivel texto 4"/>
          <p:cNvSpPr txBox="1"/>
          <p:nvPr/>
        </p:nvSpPr>
        <p:spPr>
          <a:xfrm>
            <a:off x="7040879" y="3191256"/>
            <a:ext cx="10515600" cy="1005840"/>
          </a:xfrm>
          <a:prstGeom prst="rect">
            <a:avLst/>
          </a:prstGeom>
          <a:noFill/>
          <a:ln>
            <a:noFill/>
          </a:ln>
        </p:spPr>
        <p:txBody>
          <a:bodyPr wrap="square" lIns="0" tIns="0" rIns="0" bIns="0" anchor="ctr">
            <a:noAutofit/>
          </a:bodyPr>
          <a:lstStyle/>
          <a:p>
            <a:pPr>
              <a:lnSpc>
                <a:spcPct val="100000"/>
              </a:lnSpc>
              <a:spcBef>
                <a:spcPts val="0"/>
              </a:spcBef>
            </a:pPr>
            <a:r>
              <a:rPr lang="es-ES" sz="2200" b="1" dirty="0">
                <a:solidFill>
                  <a:srgbClr val="09534E"/>
                </a:solidFill>
                <a:latin typeface="Arial"/>
                <a:cs typeface="Arial"/>
              </a:rPr>
              <a:t>Actúan de forma gobernada</a:t>
            </a:r>
          </a:p>
          <a:p>
            <a:pPr>
              <a:lnSpc>
                <a:spcPct val="100000"/>
              </a:lnSpc>
              <a:spcBef>
                <a:spcPts val="400"/>
              </a:spcBef>
            </a:pPr>
            <a:r>
              <a:rPr lang="es-ES" sz="1900" dirty="0">
                <a:solidFill>
                  <a:srgbClr val="09534E"/>
                </a:solidFill>
                <a:latin typeface="Arial"/>
                <a:cs typeface="Arial"/>
              </a:rPr>
              <a:t>Consultan, deciden y ejecutan acciones con contexto de negocio</a:t>
            </a:r>
          </a:p>
        </p:txBody>
      </p:sp>
      <p:sp>
        <p:nvSpPr>
          <p:cNvPr id="6" name="Nivel texto 6"/>
          <p:cNvSpPr txBox="1"/>
          <p:nvPr/>
        </p:nvSpPr>
        <p:spPr>
          <a:xfrm>
            <a:off x="7790688" y="4361688"/>
            <a:ext cx="9765792" cy="1005840"/>
          </a:xfrm>
          <a:prstGeom prst="rect">
            <a:avLst/>
          </a:prstGeom>
          <a:noFill/>
          <a:ln>
            <a:noFill/>
          </a:ln>
        </p:spPr>
        <p:txBody>
          <a:bodyPr wrap="square" lIns="0" tIns="0" rIns="0" bIns="0" anchor="ctr">
            <a:noAutofit/>
          </a:bodyPr>
          <a:lstStyle/>
          <a:p>
            <a:pPr>
              <a:lnSpc>
                <a:spcPct val="100000"/>
              </a:lnSpc>
              <a:spcBef>
                <a:spcPts val="0"/>
              </a:spcBef>
            </a:pPr>
            <a:r>
              <a:rPr lang="es-ES" sz="2200" b="1" dirty="0">
                <a:solidFill>
                  <a:srgbClr val="09534E"/>
                </a:solidFill>
                <a:latin typeface="Arial"/>
                <a:cs typeface="Arial"/>
              </a:rPr>
              <a:t>Razona sobre el conocimiento</a:t>
            </a:r>
          </a:p>
          <a:p>
            <a:pPr>
              <a:lnSpc>
                <a:spcPct val="100000"/>
              </a:lnSpc>
              <a:spcBef>
                <a:spcPts val="400"/>
              </a:spcBef>
            </a:pPr>
            <a:r>
              <a:rPr lang="es-ES" sz="1900" dirty="0">
                <a:solidFill>
                  <a:srgbClr val="09534E"/>
                </a:solidFill>
                <a:latin typeface="Arial"/>
                <a:cs typeface="Arial"/>
              </a:rPr>
              <a:t>Interpreta preguntas y navega relaciones</a:t>
            </a:r>
          </a:p>
        </p:txBody>
      </p:sp>
      <p:sp>
        <p:nvSpPr>
          <p:cNvPr id="8" name="Nivel texto 8"/>
          <p:cNvSpPr txBox="1"/>
          <p:nvPr/>
        </p:nvSpPr>
        <p:spPr>
          <a:xfrm>
            <a:off x="8549640" y="5532120"/>
            <a:ext cx="9006840" cy="1005840"/>
          </a:xfrm>
          <a:prstGeom prst="rect">
            <a:avLst/>
          </a:prstGeom>
          <a:noFill/>
          <a:ln>
            <a:noFill/>
          </a:ln>
        </p:spPr>
        <p:txBody>
          <a:bodyPr wrap="square" lIns="0" tIns="0" rIns="0" bIns="0" anchor="ctr">
            <a:noAutofit/>
          </a:bodyPr>
          <a:lstStyle/>
          <a:p>
            <a:pPr>
              <a:lnSpc>
                <a:spcPct val="100000"/>
              </a:lnSpc>
              <a:spcBef>
                <a:spcPts val="0"/>
              </a:spcBef>
            </a:pPr>
            <a:r>
              <a:rPr lang="es-ES" sz="2200" b="1" dirty="0">
                <a:solidFill>
                  <a:srgbClr val="09534E"/>
                </a:solidFill>
                <a:latin typeface="Arial"/>
                <a:cs typeface="Arial"/>
              </a:rPr>
              <a:t>Conceptos, relaciones y reglas</a:t>
            </a:r>
          </a:p>
          <a:p>
            <a:pPr>
              <a:lnSpc>
                <a:spcPct val="100000"/>
              </a:lnSpc>
              <a:spcBef>
                <a:spcPts val="400"/>
              </a:spcBef>
            </a:pPr>
            <a:r>
              <a:rPr lang="es-ES" sz="1900" dirty="0">
                <a:solidFill>
                  <a:srgbClr val="09534E"/>
                </a:solidFill>
                <a:latin typeface="Arial"/>
                <a:cs typeface="Arial"/>
              </a:rPr>
              <a:t>Aquí pasamos de describir datos a representar el negocio</a:t>
            </a:r>
          </a:p>
        </p:txBody>
      </p:sp>
      <p:sp>
        <p:nvSpPr>
          <p:cNvPr id="10" name="Nivel texto 10"/>
          <p:cNvSpPr txBox="1"/>
          <p:nvPr/>
        </p:nvSpPr>
        <p:spPr>
          <a:xfrm>
            <a:off x="9308592" y="6702552"/>
            <a:ext cx="8247888" cy="1005840"/>
          </a:xfrm>
          <a:prstGeom prst="rect">
            <a:avLst/>
          </a:prstGeom>
          <a:noFill/>
          <a:ln>
            <a:noFill/>
          </a:ln>
        </p:spPr>
        <p:txBody>
          <a:bodyPr wrap="square" lIns="0" tIns="0" rIns="0" bIns="0" anchor="ctr">
            <a:noAutofit/>
          </a:bodyPr>
          <a:lstStyle/>
          <a:p>
            <a:pPr>
              <a:lnSpc>
                <a:spcPct val="100000"/>
              </a:lnSpc>
              <a:spcBef>
                <a:spcPts val="0"/>
              </a:spcBef>
            </a:pPr>
            <a:r>
              <a:rPr lang="es-ES" sz="2200" b="1" dirty="0">
                <a:solidFill>
                  <a:srgbClr val="09534E"/>
                </a:solidFill>
                <a:latin typeface="Arial"/>
                <a:cs typeface="Arial"/>
              </a:rPr>
              <a:t>KPIs, informes y contexto</a:t>
            </a:r>
          </a:p>
          <a:p>
            <a:pPr>
              <a:lnSpc>
                <a:spcPct val="100000"/>
              </a:lnSpc>
              <a:spcBef>
                <a:spcPts val="400"/>
              </a:spcBef>
            </a:pPr>
            <a:r>
              <a:rPr lang="es-ES" sz="1900" dirty="0">
                <a:solidFill>
                  <a:srgbClr val="09534E"/>
                </a:solidFill>
                <a:latin typeface="Arial"/>
                <a:cs typeface="Arial"/>
              </a:rPr>
              <a:t>El dato se limpia, se modela y responde preguntas</a:t>
            </a:r>
          </a:p>
        </p:txBody>
      </p:sp>
      <p:grpSp>
        <p:nvGrpSpPr>
          <p:cNvPr id="17" name="Grupo 16">
            <a:extLst>
              <a:ext uri="{FF2B5EF4-FFF2-40B4-BE49-F238E27FC236}">
                <a16:creationId xmlns:a16="http://schemas.microsoft.com/office/drawing/2014/main" id="{EE3ABC0F-1E9C-14F9-48B6-7BA9008C32B0}"/>
              </a:ext>
            </a:extLst>
          </p:cNvPr>
          <p:cNvGrpSpPr/>
          <p:nvPr/>
        </p:nvGrpSpPr>
        <p:grpSpPr>
          <a:xfrm>
            <a:off x="594360" y="3189732"/>
            <a:ext cx="9144000" cy="5687568"/>
            <a:chOff x="594360" y="3189732"/>
            <a:chExt cx="9144000" cy="5687568"/>
          </a:xfrm>
        </p:grpSpPr>
        <p:sp>
          <p:nvSpPr>
            <p:cNvPr id="3" name="s"/>
            <p:cNvSpPr/>
            <p:nvPr/>
          </p:nvSpPr>
          <p:spPr>
            <a:xfrm>
              <a:off x="3611880" y="3189732"/>
              <a:ext cx="3108960" cy="1005840"/>
            </a:xfrm>
            <a:prstGeom prst="roundRect">
              <a:avLst>
                <a:gd name="adj" fmla="val 8000"/>
              </a:avLst>
            </a:prstGeom>
            <a:solidFill>
              <a:srgbClr val="E8B84B"/>
            </a:solidFill>
            <a:ln>
              <a:noFill/>
            </a:ln>
            <a:effectLst>
              <a:outerShdw blurRad="50800" dist="38100" dir="2700000" algn="tl" rotWithShape="0">
                <a:prstClr val="black">
                  <a:alpha val="40000"/>
                </a:prstClr>
              </a:outerShdw>
            </a:effectLst>
          </p:spPr>
          <p:txBody>
            <a:bodyPr wrap="square" lIns="91440" tIns="36576" rIns="91440" bIns="36576" anchor="ctr">
              <a:normAutofit/>
            </a:bodyPr>
            <a:lstStyle/>
            <a:p>
              <a:pPr algn="ctr"/>
              <a:r>
                <a:rPr lang="es-ES" sz="2600" b="1" dirty="0">
                  <a:solidFill>
                    <a:srgbClr val="FFFFFF"/>
                  </a:solidFill>
                  <a:latin typeface="Arial"/>
                  <a:cs typeface="Arial"/>
                </a:rPr>
                <a:t>Agentes</a:t>
              </a:r>
            </a:p>
          </p:txBody>
        </p:sp>
        <p:sp>
          <p:nvSpPr>
            <p:cNvPr id="5" name="s"/>
            <p:cNvSpPr/>
            <p:nvPr/>
          </p:nvSpPr>
          <p:spPr>
            <a:xfrm>
              <a:off x="2857500" y="4360164"/>
              <a:ext cx="4617720" cy="1005840"/>
            </a:xfrm>
            <a:prstGeom prst="roundRect">
              <a:avLst>
                <a:gd name="adj" fmla="val 8000"/>
              </a:avLst>
            </a:prstGeom>
            <a:solidFill>
              <a:srgbClr val="10635A"/>
            </a:solidFill>
            <a:ln>
              <a:noFill/>
            </a:ln>
            <a:effectLst>
              <a:outerShdw blurRad="50800" dist="38100" dir="2700000" algn="tl" rotWithShape="0">
                <a:prstClr val="black">
                  <a:alpha val="40000"/>
                </a:prstClr>
              </a:outerShdw>
            </a:effectLst>
          </p:spPr>
          <p:txBody>
            <a:bodyPr wrap="square" lIns="91440" tIns="36576" rIns="91440" bIns="36576" anchor="ctr">
              <a:normAutofit/>
            </a:bodyPr>
            <a:lstStyle/>
            <a:p>
              <a:pPr algn="ctr"/>
              <a:r>
                <a:rPr lang="es-ES" sz="2600" b="1" dirty="0">
                  <a:solidFill>
                    <a:srgbClr val="FFFFFF"/>
                  </a:solidFill>
                  <a:latin typeface="Arial"/>
                  <a:cs typeface="Arial"/>
                </a:rPr>
                <a:t>Inteligencia</a:t>
              </a:r>
            </a:p>
          </p:txBody>
        </p:sp>
        <p:sp>
          <p:nvSpPr>
            <p:cNvPr id="7" name="s"/>
            <p:cNvSpPr/>
            <p:nvPr/>
          </p:nvSpPr>
          <p:spPr>
            <a:xfrm>
              <a:off x="2103120" y="5530596"/>
              <a:ext cx="6126480" cy="1005840"/>
            </a:xfrm>
            <a:prstGeom prst="roundRect">
              <a:avLst>
                <a:gd name="adj" fmla="val 8000"/>
              </a:avLst>
            </a:prstGeom>
            <a:solidFill>
              <a:srgbClr val="1E8A7C"/>
            </a:solidFill>
            <a:ln>
              <a:noFill/>
            </a:ln>
            <a:effectLst>
              <a:outerShdw blurRad="50800" dist="38100" dir="2700000" algn="tl" rotWithShape="0">
                <a:prstClr val="black">
                  <a:alpha val="40000"/>
                </a:prstClr>
              </a:outerShdw>
            </a:effectLst>
          </p:spPr>
          <p:txBody>
            <a:bodyPr wrap="square" lIns="91440" tIns="36576" rIns="91440" bIns="36576" anchor="ctr">
              <a:normAutofit/>
            </a:bodyPr>
            <a:lstStyle/>
            <a:p>
              <a:pPr algn="ctr"/>
              <a:r>
                <a:rPr lang="es-ES" sz="2600" b="1" dirty="0">
                  <a:solidFill>
                    <a:srgbClr val="FFFFFF"/>
                  </a:solidFill>
                  <a:latin typeface="Arial"/>
                  <a:cs typeface="Arial"/>
                </a:rPr>
                <a:t>Conocimiento</a:t>
              </a:r>
            </a:p>
          </p:txBody>
        </p:sp>
        <p:sp>
          <p:nvSpPr>
            <p:cNvPr id="9" name="s"/>
            <p:cNvSpPr/>
            <p:nvPr/>
          </p:nvSpPr>
          <p:spPr>
            <a:xfrm>
              <a:off x="1348740" y="6701028"/>
              <a:ext cx="7635240" cy="1005840"/>
            </a:xfrm>
            <a:prstGeom prst="roundRect">
              <a:avLst>
                <a:gd name="adj" fmla="val 8000"/>
              </a:avLst>
            </a:prstGeom>
            <a:solidFill>
              <a:srgbClr val="52C4A6"/>
            </a:solidFill>
            <a:ln>
              <a:noFill/>
            </a:ln>
            <a:effectLst>
              <a:outerShdw blurRad="50800" dist="38100" dir="2700000" algn="tl" rotWithShape="0">
                <a:prstClr val="black">
                  <a:alpha val="40000"/>
                </a:prstClr>
              </a:outerShdw>
            </a:effectLst>
          </p:spPr>
          <p:txBody>
            <a:bodyPr wrap="square" lIns="91440" tIns="36576" rIns="91440" bIns="36576" anchor="ctr">
              <a:normAutofit/>
            </a:bodyPr>
            <a:lstStyle/>
            <a:p>
              <a:pPr algn="ctr"/>
              <a:r>
                <a:rPr lang="es-ES" sz="2600" b="1" dirty="0">
                  <a:solidFill>
                    <a:srgbClr val="FFFFFF"/>
                  </a:solidFill>
                  <a:latin typeface="Arial"/>
                  <a:cs typeface="Arial"/>
                </a:rPr>
                <a:t>Información</a:t>
              </a:r>
            </a:p>
          </p:txBody>
        </p:sp>
        <p:sp>
          <p:nvSpPr>
            <p:cNvPr id="11" name="s"/>
            <p:cNvSpPr/>
            <p:nvPr/>
          </p:nvSpPr>
          <p:spPr>
            <a:xfrm>
              <a:off x="594360" y="7871460"/>
              <a:ext cx="9144000" cy="1005840"/>
            </a:xfrm>
            <a:prstGeom prst="roundRect">
              <a:avLst>
                <a:gd name="adj" fmla="val 8000"/>
              </a:avLst>
            </a:prstGeom>
            <a:solidFill>
              <a:srgbClr val="8AEDDA"/>
            </a:solidFill>
            <a:ln>
              <a:noFill/>
            </a:ln>
            <a:effectLst>
              <a:outerShdw blurRad="50800" dist="38100" dir="2700000" algn="tl" rotWithShape="0">
                <a:prstClr val="black">
                  <a:alpha val="40000"/>
                </a:prstClr>
              </a:outerShdw>
            </a:effectLst>
          </p:spPr>
          <p:txBody>
            <a:bodyPr wrap="square" lIns="91440" tIns="36576" rIns="91440" bIns="36576" anchor="ctr">
              <a:normAutofit/>
            </a:bodyPr>
            <a:lstStyle/>
            <a:p>
              <a:pPr algn="ctr"/>
              <a:r>
                <a:rPr lang="es-ES" sz="2600" b="1" dirty="0">
                  <a:solidFill>
                    <a:srgbClr val="09534E"/>
                  </a:solidFill>
                  <a:latin typeface="Arial"/>
                  <a:cs typeface="Arial"/>
                </a:rPr>
                <a:t>Datos</a:t>
              </a:r>
            </a:p>
          </p:txBody>
        </p:sp>
      </p:grpSp>
      <p:sp>
        <p:nvSpPr>
          <p:cNvPr id="12" name="Nivel texto 12"/>
          <p:cNvSpPr txBox="1"/>
          <p:nvPr/>
        </p:nvSpPr>
        <p:spPr>
          <a:xfrm>
            <a:off x="10058400" y="7872983"/>
            <a:ext cx="7498079" cy="1005840"/>
          </a:xfrm>
          <a:prstGeom prst="rect">
            <a:avLst/>
          </a:prstGeom>
          <a:noFill/>
          <a:ln>
            <a:noFill/>
          </a:ln>
        </p:spPr>
        <p:txBody>
          <a:bodyPr wrap="square" lIns="0" tIns="0" rIns="0" bIns="0" anchor="ctr">
            <a:noAutofit/>
          </a:bodyPr>
          <a:lstStyle/>
          <a:p>
            <a:pPr>
              <a:lnSpc>
                <a:spcPct val="100000"/>
              </a:lnSpc>
              <a:spcBef>
                <a:spcPts val="0"/>
              </a:spcBef>
            </a:pPr>
            <a:r>
              <a:rPr lang="es-ES" sz="2200" b="1" dirty="0">
                <a:solidFill>
                  <a:srgbClr val="09534E"/>
                </a:solidFill>
                <a:latin typeface="Arial"/>
                <a:cs typeface="Arial"/>
              </a:rPr>
              <a:t>Hechos en bruto</a:t>
            </a:r>
          </a:p>
          <a:p>
            <a:pPr>
              <a:lnSpc>
                <a:spcPct val="100000"/>
              </a:lnSpc>
              <a:spcBef>
                <a:spcPts val="400"/>
              </a:spcBef>
            </a:pPr>
            <a:r>
              <a:rPr lang="es-ES" sz="1900" dirty="0">
                <a:solidFill>
                  <a:srgbClr val="09534E"/>
                </a:solidFill>
                <a:latin typeface="Arial"/>
                <a:cs typeface="Arial"/>
              </a:rPr>
              <a:t>Registros de sistemas y sensores, aún sin contexto</a:t>
            </a:r>
          </a:p>
        </p:txBody>
      </p:sp>
      <p:sp>
        <p:nvSpPr>
          <p:cNvPr id="14" name="s">
            <a:extLst>
              <a:ext uri="{FF2B5EF4-FFF2-40B4-BE49-F238E27FC236}">
                <a16:creationId xmlns:a16="http://schemas.microsoft.com/office/drawing/2014/main" id="{48B6ACB0-ED7E-8AAB-4709-5E9059899110}"/>
              </a:ext>
            </a:extLst>
          </p:cNvPr>
          <p:cNvSpPr/>
          <p:nvPr/>
        </p:nvSpPr>
        <p:spPr>
          <a:xfrm>
            <a:off x="774032" y="1562100"/>
            <a:ext cx="16764000" cy="1584323"/>
          </a:xfrm>
          <a:prstGeom prst="rect">
            <a:avLst/>
          </a:prstGeom>
          <a:noFill/>
          <a:ln>
            <a:noFill/>
          </a:ln>
        </p:spPr>
        <p:txBody>
          <a:bodyPr wrap="square" lIns="91440" tIns="36576" rIns="91440" bIns="36576" anchor="ctr">
            <a:normAutofit fontScale="77500" lnSpcReduction="20000"/>
          </a:bodyPr>
          <a:lstStyle/>
          <a:p>
            <a:r>
              <a:rPr lang="es-ES" sz="3000" dirty="0">
                <a:solidFill>
                  <a:srgbClr val="10635A"/>
                </a:solidFill>
                <a:latin typeface="Arial"/>
                <a:cs typeface="Arial"/>
              </a:rPr>
              <a:t>El valor no está solo en disponer de datos, sino en enriquecerlos progresivamente con significado, contexto y relaciones. </a:t>
            </a:r>
          </a:p>
          <a:p>
            <a:endParaRPr lang="es-ES" sz="3000" dirty="0">
              <a:solidFill>
                <a:srgbClr val="10635A"/>
              </a:solidFill>
              <a:latin typeface="Arial"/>
              <a:cs typeface="Arial"/>
            </a:endParaRPr>
          </a:p>
          <a:p>
            <a:r>
              <a:rPr lang="es-ES" sz="3000" dirty="0">
                <a:solidFill>
                  <a:srgbClr val="10635A"/>
                </a:solidFill>
                <a:latin typeface="Arial"/>
                <a:cs typeface="Arial"/>
              </a:rPr>
              <a:t>La ontología convierte la información en conocimiento estructurado sobre el que la IA puede razonar y actuar.</a:t>
            </a:r>
          </a:p>
        </p:txBody>
      </p:sp>
    </p:spTree>
    <p:extLst>
      <p:ext uri="{BB962C8B-B14F-4D97-AF65-F5344CB8AC3E}">
        <p14:creationId xmlns:p14="http://schemas.microsoft.com/office/powerpoint/2010/main" val="10763775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0704" y="342900"/>
            <a:ext cx="16184880" cy="1234440"/>
          </a:xfrm>
        </p:spPr>
        <p:txBody>
          <a:bodyPr/>
          <a:lstStyle/>
          <a:p>
            <a:r>
              <a:rPr sz="4000" b="1" dirty="0">
                <a:solidFill>
                  <a:srgbClr val="10635A"/>
                </a:solidFill>
                <a:latin typeface="Arial"/>
              </a:rPr>
              <a:t>¿</a:t>
            </a:r>
            <a:r>
              <a:rPr sz="4000" b="1" dirty="0" err="1">
                <a:solidFill>
                  <a:srgbClr val="10635A"/>
                </a:solidFill>
                <a:latin typeface="Arial"/>
              </a:rPr>
              <a:t>Qué</a:t>
            </a:r>
            <a:r>
              <a:rPr sz="4000" b="1" dirty="0">
                <a:solidFill>
                  <a:srgbClr val="10635A"/>
                </a:solidFill>
                <a:latin typeface="Arial"/>
              </a:rPr>
              <a:t> es </a:t>
            </a:r>
            <a:r>
              <a:rPr sz="4000" b="1" dirty="0" err="1">
                <a:solidFill>
                  <a:srgbClr val="10635A"/>
                </a:solidFill>
                <a:latin typeface="Arial"/>
              </a:rPr>
              <a:t>una</a:t>
            </a:r>
            <a:r>
              <a:rPr sz="4000" b="1" dirty="0">
                <a:solidFill>
                  <a:srgbClr val="10635A"/>
                </a:solidFill>
                <a:latin typeface="Arial"/>
              </a:rPr>
              <a:t> </a:t>
            </a:r>
            <a:r>
              <a:rPr sz="4000" b="1" dirty="0" err="1">
                <a:solidFill>
                  <a:srgbClr val="10635A"/>
                </a:solidFill>
                <a:latin typeface="Arial"/>
              </a:rPr>
              <a:t>ontología</a:t>
            </a:r>
            <a:r>
              <a:rPr sz="4000" b="1" dirty="0">
                <a:solidFill>
                  <a:srgbClr val="10635A"/>
                </a:solidFill>
                <a:latin typeface="Arial"/>
              </a:rPr>
              <a:t>?</a:t>
            </a:r>
          </a:p>
        </p:txBody>
      </p:sp>
      <p:sp>
        <p:nvSpPr>
          <p:cNvPr id="3" name="Mensaje clave 3"/>
          <p:cNvSpPr/>
          <p:nvPr/>
        </p:nvSpPr>
        <p:spPr>
          <a:xfrm>
            <a:off x="4114800" y="8412480"/>
            <a:ext cx="10058400" cy="512064"/>
          </a:xfrm>
          <a:prstGeom prst="roundRect">
            <a:avLst>
              <a:gd name="adj" fmla="val 50000"/>
            </a:avLst>
          </a:prstGeom>
          <a:solidFill>
            <a:srgbClr val="09534E"/>
          </a:solidFill>
          <a:ln>
            <a:noFill/>
          </a:ln>
          <a:effectLst>
            <a:outerShdw blurRad="50800" dist="25400" dir="5400000" algn="t" rotWithShape="0">
              <a:prstClr val="black">
                <a:alpha val="28000"/>
              </a:prstClr>
            </a:outerShdw>
          </a:effectLst>
        </p:spPr>
        <p:txBody>
          <a:bodyPr wrap="square" lIns="182880" tIns="0" rIns="182880" bIns="0" anchor="ctr">
            <a:noAutofit/>
          </a:bodyPr>
          <a:lstStyle/>
          <a:p>
            <a:pPr algn="ctr"/>
            <a:r>
              <a:rPr lang="es-ES" sz="2000" b="1" dirty="0">
                <a:solidFill>
                  <a:srgbClr val="7DE9B0"/>
                </a:solidFill>
                <a:latin typeface="Arial"/>
                <a:cs typeface="Arial"/>
              </a:rPr>
              <a:t xml:space="preserve">✓  Una ontología no modela tablas; </a:t>
            </a:r>
            <a:r>
              <a:rPr lang="es-ES" sz="2000" b="1" dirty="0">
                <a:solidFill>
                  <a:srgbClr val="FFFFFF"/>
                </a:solidFill>
                <a:latin typeface="Arial"/>
                <a:cs typeface="Arial"/>
              </a:rPr>
              <a:t xml:space="preserve">modela conceptos</a:t>
            </a:r>
          </a:p>
        </p:txBody>
      </p:sp>
      <p:sp>
        <p:nvSpPr>
          <p:cNvPr id="4" name="Rounded Rectangle 3"/>
          <p:cNvSpPr/>
          <p:nvPr/>
        </p:nvSpPr>
        <p:spPr>
          <a:xfrm>
            <a:off x="1060704" y="1562100"/>
            <a:ext cx="16184880" cy="1097280"/>
          </a:xfrm>
          <a:prstGeom prst="roundRect">
            <a:avLst>
              <a:gd name="adj" fmla="val 12000"/>
            </a:avLst>
          </a:prstGeom>
          <a:solidFill>
            <a:srgbClr val="10635A"/>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1417320" y="1562100"/>
            <a:ext cx="15453359" cy="1097280"/>
          </a:xfrm>
          <a:prstGeom prst="rect">
            <a:avLst/>
          </a:prstGeom>
          <a:noFill/>
        </p:spPr>
        <p:txBody>
          <a:bodyPr wrap="square" lIns="0" tIns="0" rIns="0" bIns="0" anchor="ctr">
            <a:spAutoFit/>
          </a:bodyPr>
          <a:lstStyle/>
          <a:p>
            <a:pPr algn="l"/>
            <a:r>
              <a:rPr sz="1600" b="1" i="0">
                <a:solidFill>
                  <a:srgbClr val="7DE9B0"/>
                </a:solidFill>
                <a:latin typeface="Arial"/>
              </a:rPr>
              <a:t>Definición: </a:t>
            </a:r>
            <a:r>
              <a:rPr sz="1600" b="0" i="0">
                <a:solidFill>
                  <a:srgbClr val="FFFFFF"/>
                </a:solidFill>
                <a:latin typeface="Arial"/>
              </a:rPr>
              <a:t>la representación digital del vocabulario de la empresa: una capa semántica que da un </a:t>
            </a:r>
            <a:r>
              <a:rPr sz="1600" b="1" i="0">
                <a:solidFill>
                  <a:srgbClr val="FFFFFF"/>
                </a:solidFill>
                <a:latin typeface="Arial"/>
              </a:rPr>
              <a:t>significado único y compartido</a:t>
            </a:r>
            <a:r>
              <a:rPr sz="1600" b="0" i="0">
                <a:solidFill>
                  <a:srgbClr val="FFFFFF"/>
                </a:solidFill>
                <a:latin typeface="Arial"/>
              </a:rPr>
              <a:t> a los datos de distintos dominios y orígenes de OneLake, entendible por personas y por agentes de IA.</a:t>
            </a:r>
          </a:p>
        </p:txBody>
      </p:sp>
      <p:sp>
        <p:nvSpPr>
          <p:cNvPr id="6" name="Rounded Rectangle 5"/>
          <p:cNvSpPr/>
          <p:nvPr/>
        </p:nvSpPr>
        <p:spPr>
          <a:xfrm>
            <a:off x="1060704" y="2979420"/>
            <a:ext cx="3840480" cy="4320000"/>
          </a:xfrm>
          <a:prstGeom prst="roundRect">
            <a:avLst>
              <a:gd name="adj" fmla="val 6000"/>
            </a:avLst>
          </a:prstGeom>
          <a:solidFill>
            <a:srgbClr val="E4F7E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1335024" y="3253740"/>
            <a:ext cx="640080" cy="640080"/>
          </a:xfrm>
          <a:prstGeom prst="ellipse">
            <a:avLst/>
          </a:prstGeom>
          <a:solidFill>
            <a:srgbClr val="106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cube_w.png"/>
          <p:cNvPicPr>
            <a:picLocks noChangeAspect="1"/>
          </p:cNvPicPr>
          <p:nvPr/>
        </p:nvPicPr>
        <p:blipFill>
          <a:blip r:embed="rId3"/>
          <a:stretch>
            <a:fillRect/>
          </a:stretch>
        </p:blipFill>
        <p:spPr>
          <a:xfrm>
            <a:off x="1495044" y="3413760"/>
            <a:ext cx="320040" cy="320040"/>
          </a:xfrm>
          <a:prstGeom prst="rect">
            <a:avLst/>
          </a:prstGeom>
        </p:spPr>
      </p:pic>
      <p:sp>
        <p:nvSpPr>
          <p:cNvPr id="9" name="TextBox 8"/>
          <p:cNvSpPr txBox="1"/>
          <p:nvPr/>
        </p:nvSpPr>
        <p:spPr>
          <a:xfrm>
            <a:off x="2112263" y="3235452"/>
            <a:ext cx="2651760" cy="411480"/>
          </a:xfrm>
          <a:prstGeom prst="rect">
            <a:avLst/>
          </a:prstGeom>
          <a:noFill/>
        </p:spPr>
        <p:txBody>
          <a:bodyPr wrap="square" lIns="0" tIns="0" rIns="0" bIns="0" anchor="t">
            <a:spAutoFit/>
          </a:bodyPr>
          <a:lstStyle/>
          <a:p>
            <a:pPr algn="l"/>
            <a:r>
              <a:rPr sz="1800" b="1" i="0">
                <a:solidFill>
                  <a:srgbClr val="10635A"/>
                </a:solidFill>
                <a:latin typeface="Arial"/>
              </a:rPr>
              <a:t>Entity Types</a:t>
            </a:r>
          </a:p>
        </p:txBody>
      </p:sp>
      <p:sp>
        <p:nvSpPr>
          <p:cNvPr id="10" name="TextBox 9"/>
          <p:cNvSpPr txBox="1"/>
          <p:nvPr/>
        </p:nvSpPr>
        <p:spPr>
          <a:xfrm>
            <a:off x="2112263" y="3637788"/>
            <a:ext cx="2651760" cy="320040"/>
          </a:xfrm>
          <a:prstGeom prst="rect">
            <a:avLst/>
          </a:prstGeom>
          <a:noFill/>
        </p:spPr>
        <p:txBody>
          <a:bodyPr wrap="square" lIns="0" tIns="0" rIns="0" bIns="0" anchor="t">
            <a:spAutoFit/>
          </a:bodyPr>
          <a:lstStyle/>
          <a:p>
            <a:pPr algn="l"/>
            <a:r>
              <a:rPr sz="1200" b="1" i="0">
                <a:solidFill>
                  <a:srgbClr val="1E8A7C"/>
                </a:solidFill>
                <a:latin typeface="Arial"/>
              </a:rPr>
              <a:t/>
            </a:r>
          </a:p>
        </p:txBody>
      </p:sp>
      <p:sp>
        <p:nvSpPr>
          <p:cNvPr id="11" name="TextBox 10"/>
          <p:cNvSpPr txBox="1"/>
          <p:nvPr/>
        </p:nvSpPr>
        <p:spPr>
          <a:xfrm>
            <a:off x="1335024" y="4168140"/>
            <a:ext cx="3291840" cy="1463040"/>
          </a:xfrm>
          <a:prstGeom prst="rect">
            <a:avLst/>
          </a:prstGeom>
          <a:noFill/>
        </p:spPr>
        <p:txBody>
          <a:bodyPr wrap="square" lIns="0" tIns="0" rIns="0" bIns="0" anchor="t">
            <a:spAutoFit/>
          </a:bodyPr>
          <a:lstStyle/>
          <a:p>
            <a:pPr algn="l"/>
            <a:r>
              <a:rPr sz="1400" b="0" i="0">
                <a:solidFill>
                  <a:srgbClr val="2B3A38"/>
                </a:solidFill>
                <a:latin typeface="Arial"/>
              </a:rPr>
              <a:t>Conceptos reales del negocio, definidos una sola vez y reutilizados por todos los equipos. Cada uno tiene una clave única.</a:t>
            </a:r>
          </a:p>
        </p:txBody>
      </p:sp>
      <p:sp>
        <p:nvSpPr>
          <p:cNvPr id="12" name="Rounded Rectangle 11"/>
          <p:cNvSpPr/>
          <p:nvPr/>
        </p:nvSpPr>
        <p:spPr>
          <a:xfrm>
            <a:off x="1289304" y="5814060"/>
            <a:ext cx="3383280" cy="123444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472184" y="5887212"/>
            <a:ext cx="3017520" cy="274320"/>
          </a:xfrm>
          <a:prstGeom prst="rect">
            <a:avLst/>
          </a:prstGeom>
          <a:noFill/>
        </p:spPr>
        <p:txBody>
          <a:bodyPr wrap="square" lIns="0" tIns="0" rIns="0" bIns="0" anchor="t">
            <a:spAutoFit/>
          </a:bodyPr>
          <a:lstStyle/>
          <a:p>
            <a:pPr algn="l"/>
            <a:r>
              <a:rPr sz="1000" b="1" i="0">
                <a:solidFill>
                  <a:srgbClr val="1E8A7C"/>
                </a:solidFill>
                <a:latin typeface="Arial"/>
              </a:rPr>
              <a:t>EJEMPLO EÓLICO</a:t>
            </a:r>
          </a:p>
        </p:txBody>
      </p:sp>
      <p:sp>
        <p:nvSpPr>
          <p:cNvPr id="14" name="TextBox 13"/>
          <p:cNvSpPr txBox="1"/>
          <p:nvPr/>
        </p:nvSpPr>
        <p:spPr>
          <a:xfrm>
            <a:off x="1472184" y="6179820"/>
            <a:ext cx="3017520" cy="822960"/>
          </a:xfrm>
          <a:prstGeom prst="rect">
            <a:avLst/>
          </a:prstGeom>
          <a:noFill/>
        </p:spPr>
        <p:txBody>
          <a:bodyPr wrap="square" lIns="0" tIns="0" rIns="0" bIns="0" anchor="t">
            <a:spAutoFit/>
          </a:bodyPr>
          <a:lstStyle/>
          <a:p>
            <a:pPr algn="l"/>
            <a:r>
              <a:rPr sz="1200" b="1" i="0">
                <a:solidFill>
                  <a:srgbClr val="10635A"/>
                </a:solidFill>
                <a:latin typeface="Arial"/>
              </a:rPr>
              <a:t>Parque · Aerogenerador · Sensor · Orden de trabajo · Técnico</a:t>
            </a:r>
          </a:p>
        </p:txBody>
      </p:sp>
      <p:sp>
        <p:nvSpPr>
          <p:cNvPr id="15" name="Rounded Rectangle 14"/>
          <p:cNvSpPr/>
          <p:nvPr/>
        </p:nvSpPr>
        <p:spPr>
          <a:xfrm>
            <a:off x="5175504" y="2979420"/>
            <a:ext cx="3840480" cy="4320000"/>
          </a:xfrm>
          <a:prstGeom prst="roundRect">
            <a:avLst>
              <a:gd name="adj" fmla="val 6000"/>
            </a:avLst>
          </a:prstGeom>
          <a:solidFill>
            <a:srgbClr val="E4F7E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Oval 15"/>
          <p:cNvSpPr/>
          <p:nvPr/>
        </p:nvSpPr>
        <p:spPr>
          <a:xfrm>
            <a:off x="5449824" y="3253740"/>
            <a:ext cx="640080" cy="640080"/>
          </a:xfrm>
          <a:prstGeom prst="ellipse">
            <a:avLst/>
          </a:prstGeom>
          <a:solidFill>
            <a:srgbClr val="106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7" name="Picture 16" descr="tags_w.png"/>
          <p:cNvPicPr>
            <a:picLocks noChangeAspect="1"/>
          </p:cNvPicPr>
          <p:nvPr/>
        </p:nvPicPr>
        <p:blipFill>
          <a:blip r:embed="rId4"/>
          <a:stretch>
            <a:fillRect/>
          </a:stretch>
        </p:blipFill>
        <p:spPr>
          <a:xfrm>
            <a:off x="5609844" y="3413760"/>
            <a:ext cx="320040" cy="320040"/>
          </a:xfrm>
          <a:prstGeom prst="rect">
            <a:avLst/>
          </a:prstGeom>
        </p:spPr>
      </p:pic>
      <p:sp>
        <p:nvSpPr>
          <p:cNvPr id="18" name="TextBox 17"/>
          <p:cNvSpPr txBox="1"/>
          <p:nvPr/>
        </p:nvSpPr>
        <p:spPr>
          <a:xfrm>
            <a:off x="6227064" y="3235452"/>
            <a:ext cx="2651760" cy="411480"/>
          </a:xfrm>
          <a:prstGeom prst="rect">
            <a:avLst/>
          </a:prstGeom>
          <a:noFill/>
        </p:spPr>
        <p:txBody>
          <a:bodyPr wrap="square" lIns="0" tIns="0" rIns="0" bIns="0" anchor="t">
            <a:spAutoFit/>
          </a:bodyPr>
          <a:lstStyle/>
          <a:p>
            <a:pPr algn="l"/>
            <a:r>
              <a:rPr sz="1800" b="1" i="0">
                <a:solidFill>
                  <a:srgbClr val="10635A"/>
                </a:solidFill>
                <a:latin typeface="Arial"/>
              </a:rPr>
              <a:t>Properties</a:t>
            </a:r>
          </a:p>
        </p:txBody>
      </p:sp>
      <p:sp>
        <p:nvSpPr>
          <p:cNvPr id="19" name="TextBox 18"/>
          <p:cNvSpPr txBox="1"/>
          <p:nvPr/>
        </p:nvSpPr>
        <p:spPr>
          <a:xfrm>
            <a:off x="6227064" y="3637788"/>
            <a:ext cx="2651760" cy="320040"/>
          </a:xfrm>
          <a:prstGeom prst="rect">
            <a:avLst/>
          </a:prstGeom>
          <a:noFill/>
        </p:spPr>
        <p:txBody>
          <a:bodyPr wrap="square" lIns="0" tIns="0" rIns="0" bIns="0" anchor="t">
            <a:spAutoFit/>
          </a:bodyPr>
          <a:lstStyle/>
          <a:p>
            <a:pPr algn="l"/>
            <a:r>
              <a:rPr sz="1200" b="1" i="0">
                <a:solidFill>
                  <a:srgbClr val="1E8A7C"/>
                </a:solidFill>
                <a:latin typeface="Arial"/>
              </a:rPr>
              <a:t/>
            </a:r>
          </a:p>
        </p:txBody>
      </p:sp>
      <p:sp>
        <p:nvSpPr>
          <p:cNvPr id="20" name="TextBox 19"/>
          <p:cNvSpPr txBox="1"/>
          <p:nvPr/>
        </p:nvSpPr>
        <p:spPr>
          <a:xfrm>
            <a:off x="5449824" y="4168140"/>
            <a:ext cx="3291840" cy="1463040"/>
          </a:xfrm>
          <a:prstGeom prst="rect">
            <a:avLst/>
          </a:prstGeom>
          <a:noFill/>
        </p:spPr>
        <p:txBody>
          <a:bodyPr wrap="square" lIns="0" tIns="0" rIns="0" bIns="0" anchor="t">
            <a:spAutoFit/>
          </a:bodyPr>
          <a:lstStyle/>
          <a:p>
            <a:pPr algn="l"/>
            <a:r>
              <a:rPr sz="1400" b="0" i="0">
                <a:solidFill>
                  <a:srgbClr val="2B3A38"/>
                </a:solidFill>
                <a:latin typeface="Arial"/>
              </a:rPr>
              <a:t>Hechos con nombre y tipo de dato, enlazados (binding) a columnas de OneLake y documentados con descripción y sinónimos.</a:t>
            </a:r>
          </a:p>
        </p:txBody>
      </p:sp>
      <p:sp>
        <p:nvSpPr>
          <p:cNvPr id="21" name="Rounded Rectangle 20"/>
          <p:cNvSpPr/>
          <p:nvPr/>
        </p:nvSpPr>
        <p:spPr>
          <a:xfrm>
            <a:off x="5404104" y="5814060"/>
            <a:ext cx="3383280" cy="123444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5586984" y="5887212"/>
            <a:ext cx="3017520" cy="274320"/>
          </a:xfrm>
          <a:prstGeom prst="rect">
            <a:avLst/>
          </a:prstGeom>
          <a:noFill/>
        </p:spPr>
        <p:txBody>
          <a:bodyPr wrap="square" lIns="0" tIns="0" rIns="0" bIns="0" anchor="t">
            <a:spAutoFit/>
          </a:bodyPr>
          <a:lstStyle/>
          <a:p>
            <a:pPr algn="l"/>
            <a:r>
              <a:rPr sz="1000" b="1" i="0">
                <a:solidFill>
                  <a:srgbClr val="1E8A7C"/>
                </a:solidFill>
                <a:latin typeface="Arial"/>
              </a:rPr>
              <a:t>EJEMPLO EÓLICO</a:t>
            </a:r>
          </a:p>
        </p:txBody>
      </p:sp>
      <p:sp>
        <p:nvSpPr>
          <p:cNvPr id="23" name="TextBox 22"/>
          <p:cNvSpPr txBox="1"/>
          <p:nvPr/>
        </p:nvSpPr>
        <p:spPr>
          <a:xfrm>
            <a:off x="5586984" y="6179820"/>
            <a:ext cx="3017520" cy="822960"/>
          </a:xfrm>
          <a:prstGeom prst="rect">
            <a:avLst/>
          </a:prstGeom>
          <a:noFill/>
        </p:spPr>
        <p:txBody>
          <a:bodyPr wrap="square" lIns="0" tIns="0" rIns="0" bIns="0" anchor="t">
            <a:spAutoFit/>
          </a:bodyPr>
          <a:lstStyle/>
          <a:p>
            <a:pPr algn="l"/>
            <a:r>
              <a:rPr sz="1200" b="1" i="0">
                <a:solidFill>
                  <a:srgbClr val="10635A"/>
                </a:solidFill>
                <a:latin typeface="Arial"/>
              </a:rPr>
              <a:t>potencia (MW) · modelo · altura · estado</a:t>
            </a:r>
          </a:p>
        </p:txBody>
      </p:sp>
      <p:sp>
        <p:nvSpPr>
          <p:cNvPr id="24" name="Rounded Rectangle 23"/>
          <p:cNvSpPr/>
          <p:nvPr/>
        </p:nvSpPr>
        <p:spPr>
          <a:xfrm>
            <a:off x="9290304" y="2979420"/>
            <a:ext cx="3840480" cy="4320000"/>
          </a:xfrm>
          <a:prstGeom prst="roundRect">
            <a:avLst>
              <a:gd name="adj" fmla="val 6000"/>
            </a:avLst>
          </a:prstGeom>
          <a:solidFill>
            <a:srgbClr val="E4F7E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Oval 24"/>
          <p:cNvSpPr/>
          <p:nvPr/>
        </p:nvSpPr>
        <p:spPr>
          <a:xfrm>
            <a:off x="9564624" y="3253740"/>
            <a:ext cx="640080" cy="640080"/>
          </a:xfrm>
          <a:prstGeom prst="ellipse">
            <a:avLst/>
          </a:prstGeom>
          <a:solidFill>
            <a:srgbClr val="106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6" name="Picture 25" descr="share_w.png"/>
          <p:cNvPicPr>
            <a:picLocks noChangeAspect="1"/>
          </p:cNvPicPr>
          <p:nvPr/>
        </p:nvPicPr>
        <p:blipFill>
          <a:blip r:embed="rId5"/>
          <a:stretch>
            <a:fillRect/>
          </a:stretch>
        </p:blipFill>
        <p:spPr>
          <a:xfrm>
            <a:off x="9724644" y="3413760"/>
            <a:ext cx="320040" cy="320040"/>
          </a:xfrm>
          <a:prstGeom prst="rect">
            <a:avLst/>
          </a:prstGeom>
        </p:spPr>
      </p:pic>
      <p:sp>
        <p:nvSpPr>
          <p:cNvPr id="27" name="TextBox 26"/>
          <p:cNvSpPr txBox="1"/>
          <p:nvPr/>
        </p:nvSpPr>
        <p:spPr>
          <a:xfrm>
            <a:off x="10341864" y="3235452"/>
            <a:ext cx="2651760" cy="411480"/>
          </a:xfrm>
          <a:prstGeom prst="rect">
            <a:avLst/>
          </a:prstGeom>
          <a:noFill/>
        </p:spPr>
        <p:txBody>
          <a:bodyPr wrap="square" lIns="0" tIns="0" rIns="0" bIns="0" anchor="t">
            <a:spAutoFit/>
          </a:bodyPr>
          <a:lstStyle/>
          <a:p>
            <a:pPr algn="l"/>
            <a:r>
              <a:rPr sz="1800" b="1" i="0">
                <a:solidFill>
                  <a:srgbClr val="10635A"/>
                </a:solidFill>
                <a:latin typeface="Arial"/>
              </a:rPr>
              <a:t>Relationships</a:t>
            </a:r>
          </a:p>
        </p:txBody>
      </p:sp>
      <p:sp>
        <p:nvSpPr>
          <p:cNvPr id="28" name="TextBox 27"/>
          <p:cNvSpPr txBox="1"/>
          <p:nvPr/>
        </p:nvSpPr>
        <p:spPr>
          <a:xfrm>
            <a:off x="10341864" y="3637788"/>
            <a:ext cx="2651760" cy="320040"/>
          </a:xfrm>
          <a:prstGeom prst="rect">
            <a:avLst/>
          </a:prstGeom>
          <a:noFill/>
        </p:spPr>
        <p:txBody>
          <a:bodyPr wrap="square" lIns="0" tIns="0" rIns="0" bIns="0" anchor="t">
            <a:spAutoFit/>
          </a:bodyPr>
          <a:lstStyle/>
          <a:p>
            <a:pPr algn="l"/>
            <a:r>
              <a:rPr sz="1200" b="1" i="0">
                <a:solidFill>
                  <a:srgbClr val="1E8A7C"/>
                </a:solidFill>
                <a:latin typeface="Arial"/>
              </a:rPr>
              <a:t/>
            </a:r>
          </a:p>
        </p:txBody>
      </p:sp>
      <p:sp>
        <p:nvSpPr>
          <p:cNvPr id="29" name="TextBox 28"/>
          <p:cNvSpPr txBox="1"/>
          <p:nvPr/>
        </p:nvSpPr>
        <p:spPr>
          <a:xfrm>
            <a:off x="9564624" y="4168140"/>
            <a:ext cx="3291840" cy="1463040"/>
          </a:xfrm>
          <a:prstGeom prst="rect">
            <a:avLst/>
          </a:prstGeom>
          <a:noFill/>
        </p:spPr>
        <p:txBody>
          <a:bodyPr wrap="square" lIns="0" tIns="0" rIns="0" bIns="0" anchor="t">
            <a:spAutoFit/>
          </a:bodyPr>
          <a:lstStyle/>
          <a:p>
            <a:pPr algn="l"/>
            <a:r>
              <a:rPr sz="1400" b="0" i="0">
                <a:solidFill>
                  <a:srgbClr val="2B3A38"/>
                </a:solidFill>
                <a:latin typeface="Arial"/>
              </a:rPr>
              <a:t>Vínculos con tipo y dirección entre entidades. Hacen explícito el contexto y se recorren sin escribir JOINs.</a:t>
            </a:r>
          </a:p>
        </p:txBody>
      </p:sp>
      <p:sp>
        <p:nvSpPr>
          <p:cNvPr id="30" name="Rounded Rectangle 29"/>
          <p:cNvSpPr/>
          <p:nvPr/>
        </p:nvSpPr>
        <p:spPr>
          <a:xfrm>
            <a:off x="9518904" y="5814060"/>
            <a:ext cx="3383280" cy="123444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9701784" y="5887212"/>
            <a:ext cx="3017520" cy="274320"/>
          </a:xfrm>
          <a:prstGeom prst="rect">
            <a:avLst/>
          </a:prstGeom>
          <a:noFill/>
        </p:spPr>
        <p:txBody>
          <a:bodyPr wrap="square" lIns="0" tIns="0" rIns="0" bIns="0" anchor="t">
            <a:spAutoFit/>
          </a:bodyPr>
          <a:lstStyle/>
          <a:p>
            <a:pPr algn="l"/>
            <a:r>
              <a:rPr sz="1000" b="1" i="0">
                <a:solidFill>
                  <a:srgbClr val="1E8A7C"/>
                </a:solidFill>
                <a:latin typeface="Arial"/>
              </a:rPr>
              <a:t>EJEMPLO EÓLICO</a:t>
            </a:r>
          </a:p>
        </p:txBody>
      </p:sp>
      <p:sp>
        <p:nvSpPr>
          <p:cNvPr id="32" name="TextBox 31"/>
          <p:cNvSpPr txBox="1"/>
          <p:nvPr/>
        </p:nvSpPr>
        <p:spPr>
          <a:xfrm>
            <a:off x="9701784" y="6179820"/>
            <a:ext cx="3017520" cy="822960"/>
          </a:xfrm>
          <a:prstGeom prst="rect">
            <a:avLst/>
          </a:prstGeom>
          <a:noFill/>
        </p:spPr>
        <p:txBody>
          <a:bodyPr wrap="square" lIns="0" tIns="0" rIns="0" bIns="0" anchor="t">
            <a:spAutoFit/>
          </a:bodyPr>
          <a:lstStyle/>
          <a:p>
            <a:pPr algn="l"/>
            <a:r>
              <a:rPr sz="1200" b="1" i="0">
                <a:solidFill>
                  <a:srgbClr val="10635A"/>
                </a:solidFill>
                <a:latin typeface="Arial"/>
              </a:rPr>
              <a:t>Aerogenerador → pertenece a → Parque
Sensor → monitoriza → Aerogenerador</a:t>
            </a:r>
          </a:p>
        </p:txBody>
      </p:sp>
      <p:sp>
        <p:nvSpPr>
          <p:cNvPr id="33" name="Rounded Rectangle 32"/>
          <p:cNvSpPr/>
          <p:nvPr/>
        </p:nvSpPr>
        <p:spPr>
          <a:xfrm>
            <a:off x="13405104" y="2979420"/>
            <a:ext cx="3840480" cy="4320000"/>
          </a:xfrm>
          <a:prstGeom prst="roundRect">
            <a:avLst>
              <a:gd name="adj" fmla="val 6000"/>
            </a:avLst>
          </a:prstGeom>
          <a:solidFill>
            <a:srgbClr val="E4F7E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Oval 33"/>
          <p:cNvSpPr/>
          <p:nvPr/>
        </p:nvSpPr>
        <p:spPr>
          <a:xfrm>
            <a:off x="13679424" y="3253740"/>
            <a:ext cx="640080" cy="640080"/>
          </a:xfrm>
          <a:prstGeom prst="ellipse">
            <a:avLst/>
          </a:prstGeom>
          <a:solidFill>
            <a:srgbClr val="106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5" name="Picture 34" descr="info_w.png"/>
          <p:cNvPicPr>
            <a:picLocks noChangeAspect="1"/>
          </p:cNvPicPr>
          <p:nvPr/>
        </p:nvPicPr>
        <p:blipFill>
          <a:blip r:embed="rId6"/>
          <a:stretch>
            <a:fillRect/>
          </a:stretch>
        </p:blipFill>
        <p:spPr>
          <a:xfrm>
            <a:off x="13839444" y="3413760"/>
            <a:ext cx="320040" cy="320040"/>
          </a:xfrm>
          <a:prstGeom prst="rect">
            <a:avLst/>
          </a:prstGeom>
        </p:spPr>
      </p:pic>
      <p:sp>
        <p:nvSpPr>
          <p:cNvPr id="36" name="TextBox 35"/>
          <p:cNvSpPr txBox="1"/>
          <p:nvPr/>
        </p:nvSpPr>
        <p:spPr>
          <a:xfrm>
            <a:off x="14456664" y="3235452"/>
            <a:ext cx="2651760" cy="411480"/>
          </a:xfrm>
          <a:prstGeom prst="rect">
            <a:avLst/>
          </a:prstGeom>
          <a:noFill/>
        </p:spPr>
        <p:txBody>
          <a:bodyPr wrap="square" lIns="0" tIns="0" rIns="0" bIns="0" anchor="t">
            <a:spAutoFit/>
          </a:bodyPr>
          <a:lstStyle/>
          <a:p>
            <a:pPr algn="l"/>
            <a:r>
              <a:rPr sz="1800" b="1" i="0">
                <a:solidFill>
                  <a:srgbClr val="10635A"/>
                </a:solidFill>
                <a:latin typeface="Arial"/>
              </a:rPr>
              <a:t>Business Rules</a:t>
            </a:r>
          </a:p>
        </p:txBody>
      </p:sp>
      <p:sp>
        <p:nvSpPr>
          <p:cNvPr id="37" name="TextBox 36"/>
          <p:cNvSpPr txBox="1"/>
          <p:nvPr/>
        </p:nvSpPr>
        <p:spPr>
          <a:xfrm>
            <a:off x="14456664" y="3637788"/>
            <a:ext cx="2651760" cy="320040"/>
          </a:xfrm>
          <a:prstGeom prst="rect">
            <a:avLst/>
          </a:prstGeom>
          <a:noFill/>
        </p:spPr>
        <p:txBody>
          <a:bodyPr wrap="square" lIns="0" tIns="0" rIns="0" bIns="0" anchor="t">
            <a:spAutoFit/>
          </a:bodyPr>
          <a:lstStyle/>
          <a:p>
            <a:pPr algn="l"/>
            <a:r>
              <a:rPr sz="1200" b="1" i="0">
                <a:solidFill>
                  <a:srgbClr val="1E8A7C"/>
                </a:solidFill>
                <a:latin typeface="Arial"/>
              </a:rPr>
              <a:t/>
            </a:r>
          </a:p>
        </p:txBody>
      </p:sp>
      <p:sp>
        <p:nvSpPr>
          <p:cNvPr id="38" name="TextBox 37"/>
          <p:cNvSpPr txBox="1"/>
          <p:nvPr/>
        </p:nvSpPr>
        <p:spPr>
          <a:xfrm>
            <a:off x="13679424" y="4168140"/>
            <a:ext cx="3291840" cy="1463040"/>
          </a:xfrm>
          <a:prstGeom prst="rect">
            <a:avLst/>
          </a:prstGeom>
          <a:noFill/>
        </p:spPr>
        <p:txBody>
          <a:bodyPr wrap="square" lIns="0" tIns="0" rIns="0" bIns="0" anchor="t">
            <a:spAutoFit/>
          </a:bodyPr>
          <a:lstStyle/>
          <a:p>
            <a:pPr algn="l"/>
            <a:r>
              <a:rPr sz="1400" b="0" i="0">
                <a:solidFill>
                  <a:srgbClr val="2B3A38"/>
                </a:solidFill>
                <a:latin typeface="Arial"/>
              </a:rPr>
              <a:t>El conocimiento operativo, escrito una sola vez y aplicado igual por personas, informes y agentes.</a:t>
            </a:r>
          </a:p>
        </p:txBody>
      </p:sp>
      <p:sp>
        <p:nvSpPr>
          <p:cNvPr id="39" name="Rounded Rectangle 38"/>
          <p:cNvSpPr/>
          <p:nvPr/>
        </p:nvSpPr>
        <p:spPr>
          <a:xfrm>
            <a:off x="13633704" y="5814060"/>
            <a:ext cx="3383280" cy="123444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TextBox 39"/>
          <p:cNvSpPr txBox="1"/>
          <p:nvPr/>
        </p:nvSpPr>
        <p:spPr>
          <a:xfrm>
            <a:off x="13816584" y="5887212"/>
            <a:ext cx="3017520" cy="274320"/>
          </a:xfrm>
          <a:prstGeom prst="rect">
            <a:avLst/>
          </a:prstGeom>
          <a:noFill/>
        </p:spPr>
        <p:txBody>
          <a:bodyPr wrap="square" lIns="0" tIns="0" rIns="0" bIns="0" anchor="t">
            <a:spAutoFit/>
          </a:bodyPr>
          <a:lstStyle/>
          <a:p>
            <a:pPr algn="l"/>
            <a:r>
              <a:rPr sz="1000" b="1" i="0">
                <a:solidFill>
                  <a:srgbClr val="1E8A7C"/>
                </a:solidFill>
                <a:latin typeface="Arial"/>
              </a:rPr>
              <a:t>EJEMPLO EÓLICO</a:t>
            </a:r>
          </a:p>
        </p:txBody>
      </p:sp>
      <p:sp>
        <p:nvSpPr>
          <p:cNvPr id="41" name="TextBox 40"/>
          <p:cNvSpPr txBox="1"/>
          <p:nvPr/>
        </p:nvSpPr>
        <p:spPr>
          <a:xfrm>
            <a:off x="13816584" y="6179820"/>
            <a:ext cx="3017520" cy="822960"/>
          </a:xfrm>
          <a:prstGeom prst="rect">
            <a:avLst/>
          </a:prstGeom>
          <a:noFill/>
        </p:spPr>
        <p:txBody>
          <a:bodyPr wrap="square" lIns="0" tIns="0" rIns="0" bIns="0" anchor="t">
            <a:spAutoFit/>
          </a:bodyPr>
          <a:lstStyle/>
          <a:p>
            <a:pPr algn="l"/>
            <a:r>
              <a:rPr sz="1200" b="1" i="0">
                <a:solidFill>
                  <a:srgbClr val="10635A"/>
                </a:solidFill>
                <a:latin typeface="Arial"/>
              </a:rPr>
              <a:t>Si la vibración supera el umbral → abrir orden de trabajo</a:t>
            </a:r>
          </a:p>
        </p:txBody>
      </p:sp>
      <p:sp>
        <p:nvSpPr>
          <p:cNvPr id="70" name="Formula 70"/>
          <p:cNvSpPr/>
          <p:nvPr/>
        </p:nvSpPr>
        <p:spPr>
          <a:xfrm>
            <a:off x="1106423" y="7518876"/>
            <a:ext cx="2148840" cy="603504"/>
          </a:xfrm>
          <a:prstGeom prst="roundRect">
            <a:avLst>
              <a:gd name="adj" fmla="val 50000"/>
            </a:avLst>
          </a:prstGeom>
          <a:solidFill>
            <a:srgbClr val="FFFFFF"/>
          </a:solidFill>
          <a:ln>
            <a:noFill/>
          </a:ln>
          <a:effectLst>
            <a:outerShdw blurRad="38100" dist="19050" dir="5400000" algn="t" rotWithShape="0">
              <a:prstClr val="black">
                <a:alpha val="22000"/>
              </a:prstClr>
            </a:outerShdw>
          </a:effectLst>
        </p:spPr>
        <p:txBody>
          <a:bodyPr wrap="none" lIns="0" tIns="0" rIns="0" bIns="0" anchor="ctr">
            <a:noAutofit/>
          </a:bodyPr>
          <a:lstStyle/>
          <a:p>
            <a:pPr algn="ctr"/>
            <a:r>
              <a:rPr lang="es-ES" sz="2000" b="1" dirty="0">
                <a:solidFill>
                  <a:srgbClr val="10635A"/>
                </a:solidFill>
                <a:latin typeface="Arial"/>
                <a:cs typeface="Arial"/>
              </a:rPr>
              <a:t>Tablas</a:t>
            </a:r>
          </a:p>
        </p:txBody>
      </p:sp>
      <p:sp>
        <p:nvSpPr>
          <p:cNvPr id="71" name="Formula 71"/>
          <p:cNvSpPr/>
          <p:nvPr/>
        </p:nvSpPr>
        <p:spPr>
          <a:xfrm>
            <a:off x="3255263" y="7518876"/>
            <a:ext cx="457200" cy="603504"/>
          </a:xfrm>
          <a:prstGeom prst="rect">
            <a:avLst/>
          </a:prstGeom>
          <a:noFill/>
          <a:ln>
            <a:noFill/>
          </a:ln>
        </p:spPr>
        <p:txBody>
          <a:bodyPr wrap="none" lIns="0" tIns="0" rIns="0" bIns="0" anchor="ctr">
            <a:noAutofit/>
          </a:bodyPr>
          <a:lstStyle/>
          <a:p>
            <a:pPr algn="ctr"/>
            <a:r>
              <a:rPr lang="es-ES" sz="2800" b="1" dirty="0">
                <a:solidFill>
                  <a:srgbClr val="10635A"/>
                </a:solidFill>
                <a:latin typeface="Arial"/>
                <a:cs typeface="Arial"/>
              </a:rPr>
              <a:t>+</a:t>
            </a:r>
          </a:p>
        </p:txBody>
      </p:sp>
      <p:sp>
        <p:nvSpPr>
          <p:cNvPr id="72" name="Formula 72"/>
          <p:cNvSpPr/>
          <p:nvPr/>
        </p:nvSpPr>
        <p:spPr>
          <a:xfrm>
            <a:off x="3712463" y="7518876"/>
            <a:ext cx="2148840" cy="603504"/>
          </a:xfrm>
          <a:prstGeom prst="roundRect">
            <a:avLst>
              <a:gd name="adj" fmla="val 50000"/>
            </a:avLst>
          </a:prstGeom>
          <a:solidFill>
            <a:srgbClr val="FFFFFF"/>
          </a:solidFill>
          <a:ln>
            <a:noFill/>
          </a:ln>
          <a:effectLst>
            <a:outerShdw blurRad="38100" dist="19050" dir="5400000" algn="t" rotWithShape="0">
              <a:prstClr val="black">
                <a:alpha val="22000"/>
              </a:prstClr>
            </a:outerShdw>
          </a:effectLst>
        </p:spPr>
        <p:txBody>
          <a:bodyPr wrap="none" lIns="0" tIns="0" rIns="0" bIns="0" anchor="ctr">
            <a:noAutofit/>
          </a:bodyPr>
          <a:lstStyle/>
          <a:p>
            <a:pPr algn="ctr"/>
            <a:r>
              <a:rPr lang="es-ES" sz="2000" b="1" dirty="0">
                <a:solidFill>
                  <a:srgbClr val="10635A"/>
                </a:solidFill>
                <a:latin typeface="Arial"/>
                <a:cs typeface="Arial"/>
              </a:rPr>
              <a:t>Significado</a:t>
            </a:r>
          </a:p>
        </p:txBody>
      </p:sp>
      <p:sp>
        <p:nvSpPr>
          <p:cNvPr id="73" name="Formula 73"/>
          <p:cNvSpPr/>
          <p:nvPr/>
        </p:nvSpPr>
        <p:spPr>
          <a:xfrm>
            <a:off x="5861303" y="7518876"/>
            <a:ext cx="457200" cy="603504"/>
          </a:xfrm>
          <a:prstGeom prst="rect">
            <a:avLst/>
          </a:prstGeom>
          <a:noFill/>
          <a:ln>
            <a:noFill/>
          </a:ln>
        </p:spPr>
        <p:txBody>
          <a:bodyPr wrap="none" lIns="0" tIns="0" rIns="0" bIns="0" anchor="ctr">
            <a:noAutofit/>
          </a:bodyPr>
          <a:lstStyle/>
          <a:p>
            <a:pPr algn="ctr"/>
            <a:r>
              <a:rPr lang="es-ES" sz="2800" b="1" dirty="0">
                <a:solidFill>
                  <a:srgbClr val="10635A"/>
                </a:solidFill>
                <a:latin typeface="Arial"/>
                <a:cs typeface="Arial"/>
              </a:rPr>
              <a:t>+</a:t>
            </a:r>
          </a:p>
        </p:txBody>
      </p:sp>
      <p:sp>
        <p:nvSpPr>
          <p:cNvPr id="74" name="Formula 74"/>
          <p:cNvSpPr/>
          <p:nvPr/>
        </p:nvSpPr>
        <p:spPr>
          <a:xfrm>
            <a:off x="6318503" y="7518876"/>
            <a:ext cx="2148840" cy="603504"/>
          </a:xfrm>
          <a:prstGeom prst="roundRect">
            <a:avLst>
              <a:gd name="adj" fmla="val 50000"/>
            </a:avLst>
          </a:prstGeom>
          <a:solidFill>
            <a:srgbClr val="FFFFFF"/>
          </a:solidFill>
          <a:ln>
            <a:noFill/>
          </a:ln>
          <a:effectLst>
            <a:outerShdw blurRad="38100" dist="19050" dir="5400000" algn="t" rotWithShape="0">
              <a:prstClr val="black">
                <a:alpha val="22000"/>
              </a:prstClr>
            </a:outerShdw>
          </a:effectLst>
        </p:spPr>
        <p:txBody>
          <a:bodyPr wrap="none" lIns="0" tIns="0" rIns="0" bIns="0" anchor="ctr">
            <a:noAutofit/>
          </a:bodyPr>
          <a:lstStyle/>
          <a:p>
            <a:pPr algn="ctr"/>
            <a:r>
              <a:rPr lang="es-ES" sz="2000" b="1" dirty="0">
                <a:solidFill>
                  <a:srgbClr val="10635A"/>
                </a:solidFill>
                <a:latin typeface="Arial"/>
                <a:cs typeface="Arial"/>
              </a:rPr>
              <a:t>Relaciones</a:t>
            </a:r>
          </a:p>
        </p:txBody>
      </p:sp>
      <p:sp>
        <p:nvSpPr>
          <p:cNvPr id="75" name="Formula 75"/>
          <p:cNvSpPr/>
          <p:nvPr/>
        </p:nvSpPr>
        <p:spPr>
          <a:xfrm>
            <a:off x="8467343" y="7518876"/>
            <a:ext cx="457200" cy="603504"/>
          </a:xfrm>
          <a:prstGeom prst="rect">
            <a:avLst/>
          </a:prstGeom>
          <a:noFill/>
          <a:ln>
            <a:noFill/>
          </a:ln>
        </p:spPr>
        <p:txBody>
          <a:bodyPr wrap="none" lIns="0" tIns="0" rIns="0" bIns="0" anchor="ctr">
            <a:noAutofit/>
          </a:bodyPr>
          <a:lstStyle/>
          <a:p>
            <a:pPr algn="ctr"/>
            <a:r>
              <a:rPr lang="es-ES" sz="2800" b="1" dirty="0">
                <a:solidFill>
                  <a:srgbClr val="10635A"/>
                </a:solidFill>
                <a:latin typeface="Arial"/>
                <a:cs typeface="Arial"/>
              </a:rPr>
              <a:t>+</a:t>
            </a:r>
          </a:p>
        </p:txBody>
      </p:sp>
      <p:sp>
        <p:nvSpPr>
          <p:cNvPr id="76" name="Formula 76"/>
          <p:cNvSpPr/>
          <p:nvPr/>
        </p:nvSpPr>
        <p:spPr>
          <a:xfrm>
            <a:off x="8924543" y="7518876"/>
            <a:ext cx="2148840" cy="603504"/>
          </a:xfrm>
          <a:prstGeom prst="roundRect">
            <a:avLst>
              <a:gd name="adj" fmla="val 50000"/>
            </a:avLst>
          </a:prstGeom>
          <a:solidFill>
            <a:srgbClr val="FFFFFF"/>
          </a:solidFill>
          <a:ln>
            <a:noFill/>
          </a:ln>
          <a:effectLst>
            <a:outerShdw blurRad="38100" dist="19050" dir="5400000" algn="t" rotWithShape="0">
              <a:prstClr val="black">
                <a:alpha val="22000"/>
              </a:prstClr>
            </a:outerShdw>
          </a:effectLst>
        </p:spPr>
        <p:txBody>
          <a:bodyPr wrap="none" lIns="0" tIns="0" rIns="0" bIns="0" anchor="ctr">
            <a:noAutofit/>
          </a:bodyPr>
          <a:lstStyle/>
          <a:p>
            <a:pPr algn="ctr"/>
            <a:r>
              <a:rPr lang="es-ES" sz="2000" b="1" dirty="0">
                <a:solidFill>
                  <a:srgbClr val="10635A"/>
                </a:solidFill>
                <a:latin typeface="Arial"/>
                <a:cs typeface="Arial"/>
              </a:rPr>
              <a:t>Reglas</a:t>
            </a:r>
          </a:p>
        </p:txBody>
      </p:sp>
      <p:sp>
        <p:nvSpPr>
          <p:cNvPr id="77" name="Formula 77"/>
          <p:cNvSpPr/>
          <p:nvPr/>
        </p:nvSpPr>
        <p:spPr>
          <a:xfrm>
            <a:off x="11073383" y="7518876"/>
            <a:ext cx="457200" cy="603504"/>
          </a:xfrm>
          <a:prstGeom prst="rect">
            <a:avLst/>
          </a:prstGeom>
          <a:noFill/>
          <a:ln>
            <a:noFill/>
          </a:ln>
        </p:spPr>
        <p:txBody>
          <a:bodyPr wrap="none" lIns="0" tIns="0" rIns="0" bIns="0" anchor="ctr">
            <a:noAutofit/>
          </a:bodyPr>
          <a:lstStyle/>
          <a:p>
            <a:pPr algn="ctr"/>
            <a:r>
              <a:rPr lang="es-ES" sz="2800" b="1" dirty="0">
                <a:solidFill>
                  <a:srgbClr val="10635A"/>
                </a:solidFill>
                <a:latin typeface="Arial"/>
                <a:cs typeface="Arial"/>
              </a:rPr>
              <a:t>=</a:t>
            </a:r>
          </a:p>
        </p:txBody>
      </p:sp>
      <p:sp>
        <p:nvSpPr>
          <p:cNvPr id="78" name="Formula 78"/>
          <p:cNvSpPr/>
          <p:nvPr/>
        </p:nvSpPr>
        <p:spPr>
          <a:xfrm>
            <a:off x="11530583" y="7518876"/>
            <a:ext cx="5705854" cy="603504"/>
          </a:xfrm>
          <a:prstGeom prst="roundRect">
            <a:avLst>
              <a:gd name="adj" fmla="val 50000"/>
            </a:avLst>
          </a:prstGeom>
          <a:solidFill>
            <a:srgbClr val="09534E"/>
          </a:solidFill>
          <a:ln>
            <a:noFill/>
          </a:ln>
          <a:effectLst>
            <a:outerShdw blurRad="38100" dist="19050" dir="5400000" algn="t" rotWithShape="0">
              <a:prstClr val="black">
                <a:alpha val="22000"/>
              </a:prstClr>
            </a:outerShdw>
          </a:effectLst>
        </p:spPr>
        <p:txBody>
          <a:bodyPr wrap="none" lIns="0" tIns="0" rIns="0" bIns="0" anchor="ctr">
            <a:noAutofit/>
          </a:bodyPr>
          <a:lstStyle/>
          <a:p>
            <a:pPr algn="ctr"/>
            <a:r>
              <a:rPr lang="es-ES" sz="2000" b="1" dirty="0">
                <a:solidFill>
                  <a:srgbClr val="FFFFFF"/>
                </a:solidFill>
                <a:latin typeface="Arial"/>
                <a:cs typeface="Arial"/>
              </a:rPr>
              <a:t>Conocimiento que un agente puede usar</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0704" y="566928"/>
            <a:ext cx="16184880" cy="1234440"/>
          </a:xfrm>
        </p:spPr>
        <p:txBody>
          <a:bodyPr/>
          <a:lstStyle/>
          <a:p>
            <a:r>
              <a:rPr sz="4000" b="1">
                <a:solidFill>
                  <a:srgbClr val="10635A"/>
                </a:solidFill>
                <a:latin typeface="Arial"/>
              </a:rPr>
              <a:t>Diseñar una ontología: consideraciones clave</a:t>
            </a:r>
          </a:p>
        </p:txBody>
      </p:sp>
      <p:sp>
        <p:nvSpPr>
          <p:cNvPr id="3" name="TextBox 2"/>
          <p:cNvSpPr txBox="1"/>
          <p:nvPr/>
        </p:nvSpPr>
        <p:spPr>
          <a:xfrm>
            <a:off x="1060704" y="1781294"/>
            <a:ext cx="16184880" cy="369332"/>
          </a:xfrm>
          <a:prstGeom prst="rect">
            <a:avLst/>
          </a:prstGeom>
          <a:noFill/>
        </p:spPr>
        <p:txBody>
          <a:bodyPr wrap="square" lIns="0" tIns="0" rIns="0" bIns="0" anchor="ctr">
            <a:spAutoFit/>
          </a:bodyPr>
          <a:lstStyle/>
          <a:p>
            <a:pPr algn="ctr"/>
            <a:r>
              <a:rPr sz="2400" i="0" dirty="0">
                <a:solidFill>
                  <a:srgbClr val="10635A"/>
                </a:solidFill>
                <a:latin typeface="Arial"/>
              </a:rPr>
              <a:t>Una </a:t>
            </a:r>
            <a:r>
              <a:rPr sz="2400" i="0" dirty="0" err="1">
                <a:solidFill>
                  <a:srgbClr val="10635A"/>
                </a:solidFill>
                <a:latin typeface="Arial"/>
              </a:rPr>
              <a:t>buena</a:t>
            </a:r>
            <a:r>
              <a:rPr sz="2400" i="0" dirty="0">
                <a:solidFill>
                  <a:srgbClr val="10635A"/>
                </a:solidFill>
                <a:latin typeface="Arial"/>
              </a:rPr>
              <a:t> </a:t>
            </a:r>
            <a:r>
              <a:rPr sz="2400" i="0" dirty="0" err="1">
                <a:solidFill>
                  <a:srgbClr val="10635A"/>
                </a:solidFill>
                <a:latin typeface="Arial"/>
              </a:rPr>
              <a:t>ontología</a:t>
            </a:r>
            <a:r>
              <a:rPr sz="2400" i="0" dirty="0">
                <a:solidFill>
                  <a:srgbClr val="10635A"/>
                </a:solidFill>
                <a:latin typeface="Arial"/>
              </a:rPr>
              <a:t> se </a:t>
            </a:r>
            <a:r>
              <a:rPr sz="2400" i="0" dirty="0" err="1">
                <a:solidFill>
                  <a:srgbClr val="10635A"/>
                </a:solidFill>
                <a:latin typeface="Arial"/>
              </a:rPr>
              <a:t>diseña</a:t>
            </a:r>
            <a:r>
              <a:rPr sz="2400" i="0" dirty="0">
                <a:solidFill>
                  <a:srgbClr val="10635A"/>
                </a:solidFill>
                <a:latin typeface="Arial"/>
              </a:rPr>
              <a:t> </a:t>
            </a:r>
            <a:r>
              <a:rPr sz="2400" i="0" dirty="0" err="1">
                <a:solidFill>
                  <a:srgbClr val="10635A"/>
                </a:solidFill>
                <a:latin typeface="Arial"/>
              </a:rPr>
              <a:t>desde</a:t>
            </a:r>
            <a:r>
              <a:rPr sz="2400" i="0" dirty="0">
                <a:solidFill>
                  <a:srgbClr val="10635A"/>
                </a:solidFill>
                <a:latin typeface="Arial"/>
              </a:rPr>
              <a:t> las </a:t>
            </a:r>
            <a:r>
              <a:rPr sz="2400" i="0" dirty="0" err="1">
                <a:solidFill>
                  <a:srgbClr val="10635A"/>
                </a:solidFill>
                <a:latin typeface="Arial"/>
              </a:rPr>
              <a:t>preguntas</a:t>
            </a:r>
            <a:r>
              <a:rPr sz="2400" i="0" dirty="0">
                <a:solidFill>
                  <a:srgbClr val="10635A"/>
                </a:solidFill>
                <a:latin typeface="Arial"/>
              </a:rPr>
              <a:t>, no </a:t>
            </a:r>
            <a:r>
              <a:rPr sz="2400" i="0" dirty="0" err="1">
                <a:solidFill>
                  <a:srgbClr val="10635A"/>
                </a:solidFill>
                <a:latin typeface="Arial"/>
              </a:rPr>
              <a:t>desde</a:t>
            </a:r>
            <a:r>
              <a:rPr sz="2400" i="0" dirty="0">
                <a:solidFill>
                  <a:srgbClr val="10635A"/>
                </a:solidFill>
                <a:latin typeface="Arial"/>
              </a:rPr>
              <a:t> las </a:t>
            </a:r>
            <a:r>
              <a:rPr sz="2400" i="0" dirty="0" err="1">
                <a:solidFill>
                  <a:srgbClr val="10635A"/>
                </a:solidFill>
                <a:latin typeface="Arial"/>
              </a:rPr>
              <a:t>tablas</a:t>
            </a:r>
            <a:r>
              <a:rPr sz="2400" i="0" dirty="0">
                <a:solidFill>
                  <a:srgbClr val="10635A"/>
                </a:solidFill>
                <a:latin typeface="Arial"/>
              </a:rPr>
              <a:t>.</a:t>
            </a:r>
          </a:p>
        </p:txBody>
      </p:sp>
      <p:grpSp>
        <p:nvGrpSpPr>
          <p:cNvPr id="41" name="Grupo 40">
            <a:extLst>
              <a:ext uri="{FF2B5EF4-FFF2-40B4-BE49-F238E27FC236}">
                <a16:creationId xmlns:a16="http://schemas.microsoft.com/office/drawing/2014/main" id="{21E1F8C5-4EAB-7B99-6500-8698B97A9EF2}"/>
              </a:ext>
            </a:extLst>
          </p:cNvPr>
          <p:cNvGrpSpPr/>
          <p:nvPr/>
        </p:nvGrpSpPr>
        <p:grpSpPr>
          <a:xfrm>
            <a:off x="1060704" y="2423160"/>
            <a:ext cx="9418320" cy="5669280"/>
            <a:chOff x="1060704" y="2423160"/>
            <a:chExt cx="9418320" cy="5669280"/>
          </a:xfrm>
        </p:grpSpPr>
        <p:sp>
          <p:nvSpPr>
            <p:cNvPr id="4" name="Rounded Rectangle 3"/>
            <p:cNvSpPr/>
            <p:nvPr/>
          </p:nvSpPr>
          <p:spPr>
            <a:xfrm>
              <a:off x="1060704" y="2423160"/>
              <a:ext cx="9418320" cy="5669280"/>
            </a:xfrm>
            <a:prstGeom prst="roundRect">
              <a:avLst>
                <a:gd name="adj" fmla="val 4000"/>
              </a:avLst>
            </a:prstGeom>
            <a:solidFill>
              <a:srgbClr val="E4F7E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Oval 4"/>
            <p:cNvSpPr/>
            <p:nvPr/>
          </p:nvSpPr>
          <p:spPr>
            <a:xfrm>
              <a:off x="1325880" y="2651760"/>
              <a:ext cx="594360" cy="594360"/>
            </a:xfrm>
            <a:prstGeom prst="ellipse">
              <a:avLst/>
            </a:prstGeom>
            <a:solidFill>
              <a:srgbClr val="106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6" name="Picture 5" descr="edit_w.png"/>
            <p:cNvPicPr>
              <a:picLocks noChangeAspect="1"/>
            </p:cNvPicPr>
            <p:nvPr/>
          </p:nvPicPr>
          <p:blipFill>
            <a:blip r:embed="rId3"/>
            <a:stretch>
              <a:fillRect/>
            </a:stretch>
          </p:blipFill>
          <p:spPr>
            <a:xfrm>
              <a:off x="1474470" y="2800350"/>
              <a:ext cx="297180" cy="297180"/>
            </a:xfrm>
            <a:prstGeom prst="rect">
              <a:avLst/>
            </a:prstGeom>
          </p:spPr>
        </p:pic>
        <p:sp>
          <p:nvSpPr>
            <p:cNvPr id="7" name="TextBox 6"/>
            <p:cNvSpPr txBox="1"/>
            <p:nvPr/>
          </p:nvSpPr>
          <p:spPr>
            <a:xfrm>
              <a:off x="2103120" y="2651760"/>
              <a:ext cx="8046720" cy="594360"/>
            </a:xfrm>
            <a:prstGeom prst="rect">
              <a:avLst/>
            </a:prstGeom>
            <a:noFill/>
          </p:spPr>
          <p:txBody>
            <a:bodyPr wrap="square" lIns="0" tIns="0" rIns="0" bIns="0" anchor="ctr">
              <a:spAutoFit/>
            </a:bodyPr>
            <a:lstStyle/>
            <a:p>
              <a:pPr algn="l"/>
              <a:r>
                <a:rPr sz="1900" b="1" i="0">
                  <a:solidFill>
                    <a:srgbClr val="10635A"/>
                  </a:solidFill>
                  <a:latin typeface="Arial"/>
                </a:rPr>
                <a:t>Buenas prácticas de diseño</a:t>
              </a:r>
            </a:p>
          </p:txBody>
        </p:sp>
        <p:sp>
          <p:nvSpPr>
            <p:cNvPr id="8" name="Oval 7"/>
            <p:cNvSpPr/>
            <p:nvPr/>
          </p:nvSpPr>
          <p:spPr>
            <a:xfrm>
              <a:off x="1325880" y="3502152"/>
              <a:ext cx="457200" cy="457200"/>
            </a:xfrm>
            <a:prstGeom prst="ellipse">
              <a:avLst/>
            </a:prstGeom>
            <a:solidFill>
              <a:srgbClr val="10635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Arial"/>
                </a:rPr>
                <a:t>1</a:t>
              </a:r>
            </a:p>
          </p:txBody>
        </p:sp>
        <p:sp>
          <p:nvSpPr>
            <p:cNvPr id="9" name="TextBox 8"/>
            <p:cNvSpPr txBox="1"/>
            <p:nvPr/>
          </p:nvSpPr>
          <p:spPr>
            <a:xfrm>
              <a:off x="2011680" y="3429000"/>
              <a:ext cx="8229600" cy="329184"/>
            </a:xfrm>
            <a:prstGeom prst="rect">
              <a:avLst/>
            </a:prstGeom>
            <a:noFill/>
          </p:spPr>
          <p:txBody>
            <a:bodyPr wrap="square" lIns="0" tIns="0" rIns="0" bIns="0" anchor="t">
              <a:spAutoFit/>
            </a:bodyPr>
            <a:lstStyle/>
            <a:p>
              <a:pPr algn="l"/>
              <a:r>
                <a:rPr sz="1450" b="1" i="0">
                  <a:solidFill>
                    <a:srgbClr val="10635A"/>
                  </a:solidFill>
                  <a:latin typeface="Arial"/>
                </a:rPr>
                <a:t>Empieza por las preguntas de negocio</a:t>
              </a:r>
            </a:p>
          </p:txBody>
        </p:sp>
        <p:sp>
          <p:nvSpPr>
            <p:cNvPr id="10" name="TextBox 9"/>
            <p:cNvSpPr txBox="1"/>
            <p:nvPr/>
          </p:nvSpPr>
          <p:spPr>
            <a:xfrm>
              <a:off x="2011680" y="3758184"/>
              <a:ext cx="8229600" cy="384048"/>
            </a:xfrm>
            <a:prstGeom prst="rect">
              <a:avLst/>
            </a:prstGeom>
            <a:noFill/>
          </p:spPr>
          <p:txBody>
            <a:bodyPr wrap="square" lIns="0" tIns="0" rIns="0" bIns="0" anchor="t">
              <a:spAutoFit/>
            </a:bodyPr>
            <a:lstStyle/>
            <a:p>
              <a:pPr algn="l"/>
              <a:r>
                <a:rPr sz="1200" b="0" i="0">
                  <a:solidFill>
                    <a:srgbClr val="2B3A38"/>
                  </a:solidFill>
                  <a:latin typeface="Arial"/>
                </a:rPr>
                <a:t>¿Qué necesitan saber usuarios y agentes? Eso define entidades y relaciones.</a:t>
              </a:r>
            </a:p>
          </p:txBody>
        </p:sp>
        <p:sp>
          <p:nvSpPr>
            <p:cNvPr id="11" name="Oval 10"/>
            <p:cNvSpPr/>
            <p:nvPr/>
          </p:nvSpPr>
          <p:spPr>
            <a:xfrm>
              <a:off x="1325880" y="4261104"/>
              <a:ext cx="457200" cy="457200"/>
            </a:xfrm>
            <a:prstGeom prst="ellipse">
              <a:avLst/>
            </a:prstGeom>
            <a:solidFill>
              <a:srgbClr val="10635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Arial"/>
                </a:rPr>
                <a:t>2</a:t>
              </a:r>
            </a:p>
          </p:txBody>
        </p:sp>
        <p:sp>
          <p:nvSpPr>
            <p:cNvPr id="12" name="TextBox 11"/>
            <p:cNvSpPr txBox="1"/>
            <p:nvPr/>
          </p:nvSpPr>
          <p:spPr>
            <a:xfrm>
              <a:off x="2011680" y="4187952"/>
              <a:ext cx="8229600" cy="329184"/>
            </a:xfrm>
            <a:prstGeom prst="rect">
              <a:avLst/>
            </a:prstGeom>
            <a:noFill/>
          </p:spPr>
          <p:txBody>
            <a:bodyPr wrap="square" lIns="0" tIns="0" rIns="0" bIns="0" anchor="t">
              <a:spAutoFit/>
            </a:bodyPr>
            <a:lstStyle/>
            <a:p>
              <a:pPr algn="l"/>
              <a:r>
                <a:rPr sz="1450" b="1" i="0">
                  <a:solidFill>
                    <a:srgbClr val="10635A"/>
                  </a:solidFill>
                  <a:latin typeface="Arial"/>
                </a:rPr>
                <a:t>Nombra en lenguaje de negocio</a:t>
              </a:r>
            </a:p>
          </p:txBody>
        </p:sp>
        <p:sp>
          <p:nvSpPr>
            <p:cNvPr id="13" name="TextBox 12"/>
            <p:cNvSpPr txBox="1"/>
            <p:nvPr/>
          </p:nvSpPr>
          <p:spPr>
            <a:xfrm>
              <a:off x="2011680" y="4517136"/>
              <a:ext cx="8229600" cy="384048"/>
            </a:xfrm>
            <a:prstGeom prst="rect">
              <a:avLst/>
            </a:prstGeom>
            <a:noFill/>
          </p:spPr>
          <p:txBody>
            <a:bodyPr wrap="square" lIns="0" tIns="0" rIns="0" bIns="0" anchor="t">
              <a:spAutoFit/>
            </a:bodyPr>
            <a:lstStyle/>
            <a:p>
              <a:pPr algn="l"/>
              <a:r>
                <a:rPr sz="1200" b="0" i="0">
                  <a:solidFill>
                    <a:srgbClr val="2B3A38"/>
                  </a:solidFill>
                  <a:latin typeface="Arial"/>
                </a:rPr>
                <a:t>“Propietarios”, no “D_Propietarios_Instalaciones”. Sin prefijos técnicos.</a:t>
              </a:r>
            </a:p>
          </p:txBody>
        </p:sp>
        <p:sp>
          <p:nvSpPr>
            <p:cNvPr id="14" name="Oval 13"/>
            <p:cNvSpPr/>
            <p:nvPr/>
          </p:nvSpPr>
          <p:spPr>
            <a:xfrm>
              <a:off x="1325880" y="5020056"/>
              <a:ext cx="457200" cy="457200"/>
            </a:xfrm>
            <a:prstGeom prst="ellipse">
              <a:avLst/>
            </a:prstGeom>
            <a:solidFill>
              <a:srgbClr val="10635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Arial"/>
                </a:rPr>
                <a:t>3</a:t>
              </a:r>
            </a:p>
          </p:txBody>
        </p:sp>
        <p:sp>
          <p:nvSpPr>
            <p:cNvPr id="15" name="TextBox 14"/>
            <p:cNvSpPr txBox="1"/>
            <p:nvPr/>
          </p:nvSpPr>
          <p:spPr>
            <a:xfrm>
              <a:off x="2011680" y="4946904"/>
              <a:ext cx="8229600" cy="329184"/>
            </a:xfrm>
            <a:prstGeom prst="rect">
              <a:avLst/>
            </a:prstGeom>
            <a:noFill/>
          </p:spPr>
          <p:txBody>
            <a:bodyPr wrap="square" lIns="0" tIns="0" rIns="0" bIns="0" anchor="t">
              <a:spAutoFit/>
            </a:bodyPr>
            <a:lstStyle/>
            <a:p>
              <a:pPr algn="l"/>
              <a:r>
                <a:rPr sz="1450" b="1" i="0">
                  <a:solidFill>
                    <a:srgbClr val="10635A"/>
                  </a:solidFill>
                  <a:latin typeface="Arial"/>
                </a:rPr>
                <a:t>Una clave única y estable por Entity Type</a:t>
              </a:r>
            </a:p>
          </p:txBody>
        </p:sp>
        <p:sp>
          <p:nvSpPr>
            <p:cNvPr id="16" name="TextBox 15"/>
            <p:cNvSpPr txBox="1"/>
            <p:nvPr/>
          </p:nvSpPr>
          <p:spPr>
            <a:xfrm>
              <a:off x="2011680" y="5276088"/>
              <a:ext cx="8229600" cy="384048"/>
            </a:xfrm>
            <a:prstGeom prst="rect">
              <a:avLst/>
            </a:prstGeom>
            <a:noFill/>
          </p:spPr>
          <p:txBody>
            <a:bodyPr wrap="square" lIns="0" tIns="0" rIns="0" bIns="0" anchor="t">
              <a:spAutoFit/>
            </a:bodyPr>
            <a:lstStyle/>
            <a:p>
              <a:pPr algn="l"/>
              <a:r>
                <a:rPr sz="1200" b="0" i="0">
                  <a:solidFill>
                    <a:srgbClr val="2B3A38"/>
                  </a:solidFill>
                  <a:latin typeface="Arial"/>
                </a:rPr>
                <a:t>Sin ella no hay instancias fiables ni relaciones correctas.</a:t>
              </a:r>
            </a:p>
          </p:txBody>
        </p:sp>
        <p:sp>
          <p:nvSpPr>
            <p:cNvPr id="17" name="Oval 16"/>
            <p:cNvSpPr/>
            <p:nvPr/>
          </p:nvSpPr>
          <p:spPr>
            <a:xfrm>
              <a:off x="1325880" y="5779008"/>
              <a:ext cx="457200" cy="457200"/>
            </a:xfrm>
            <a:prstGeom prst="ellipse">
              <a:avLst/>
            </a:prstGeom>
            <a:solidFill>
              <a:srgbClr val="10635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Arial"/>
                </a:rPr>
                <a:t>4</a:t>
              </a:r>
            </a:p>
          </p:txBody>
        </p:sp>
        <p:sp>
          <p:nvSpPr>
            <p:cNvPr id="18" name="TextBox 17"/>
            <p:cNvSpPr txBox="1"/>
            <p:nvPr/>
          </p:nvSpPr>
          <p:spPr>
            <a:xfrm>
              <a:off x="2011680" y="5705856"/>
              <a:ext cx="8229600" cy="329184"/>
            </a:xfrm>
            <a:prstGeom prst="rect">
              <a:avLst/>
            </a:prstGeom>
            <a:noFill/>
          </p:spPr>
          <p:txBody>
            <a:bodyPr wrap="square" lIns="0" tIns="0" rIns="0" bIns="0" anchor="t">
              <a:spAutoFit/>
            </a:bodyPr>
            <a:lstStyle/>
            <a:p>
              <a:pPr algn="l"/>
              <a:r>
                <a:rPr sz="1450" b="1" i="0">
                  <a:solidFill>
                    <a:srgbClr val="10635A"/>
                  </a:solidFill>
                  <a:latin typeface="Arial"/>
                </a:rPr>
                <a:t>Documenta Entity Types y Properties</a:t>
              </a:r>
            </a:p>
          </p:txBody>
        </p:sp>
        <p:sp>
          <p:nvSpPr>
            <p:cNvPr id="19" name="TextBox 18"/>
            <p:cNvSpPr txBox="1"/>
            <p:nvPr/>
          </p:nvSpPr>
          <p:spPr>
            <a:xfrm>
              <a:off x="2011680" y="6035040"/>
              <a:ext cx="8229600" cy="384048"/>
            </a:xfrm>
            <a:prstGeom prst="rect">
              <a:avLst/>
            </a:prstGeom>
            <a:noFill/>
          </p:spPr>
          <p:txBody>
            <a:bodyPr wrap="square" lIns="0" tIns="0" rIns="0" bIns="0" anchor="t">
              <a:spAutoFit/>
            </a:bodyPr>
            <a:lstStyle/>
            <a:p>
              <a:pPr algn="l"/>
              <a:r>
                <a:rPr sz="1200" b="0" i="0">
                  <a:solidFill>
                    <a:srgbClr val="2B3A38"/>
                  </a:solidFill>
                  <a:latin typeface="Arial"/>
                </a:rPr>
                <a:t>Descripción, sinónimos y unidades: es el contexto que usa la IA.</a:t>
              </a:r>
            </a:p>
          </p:txBody>
        </p:sp>
        <p:sp>
          <p:nvSpPr>
            <p:cNvPr id="20" name="Oval 19"/>
            <p:cNvSpPr/>
            <p:nvPr/>
          </p:nvSpPr>
          <p:spPr>
            <a:xfrm>
              <a:off x="1325880" y="6537960"/>
              <a:ext cx="457200" cy="457200"/>
            </a:xfrm>
            <a:prstGeom prst="ellipse">
              <a:avLst/>
            </a:prstGeom>
            <a:solidFill>
              <a:srgbClr val="10635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Arial"/>
                </a:rPr>
                <a:t>5</a:t>
              </a:r>
            </a:p>
          </p:txBody>
        </p:sp>
        <p:sp>
          <p:nvSpPr>
            <p:cNvPr id="21" name="TextBox 20"/>
            <p:cNvSpPr txBox="1"/>
            <p:nvPr/>
          </p:nvSpPr>
          <p:spPr>
            <a:xfrm>
              <a:off x="2011680" y="6464808"/>
              <a:ext cx="8229600" cy="329184"/>
            </a:xfrm>
            <a:prstGeom prst="rect">
              <a:avLst/>
            </a:prstGeom>
            <a:noFill/>
          </p:spPr>
          <p:txBody>
            <a:bodyPr wrap="square" lIns="0" tIns="0" rIns="0" bIns="0" anchor="t">
              <a:spAutoFit/>
            </a:bodyPr>
            <a:lstStyle/>
            <a:p>
              <a:pPr algn="l"/>
              <a:r>
                <a:rPr sz="1450" b="1" i="0">
                  <a:solidFill>
                    <a:srgbClr val="10635A"/>
                  </a:solidFill>
                  <a:latin typeface="Arial"/>
                </a:rPr>
                <a:t>Relationships con significado</a:t>
              </a:r>
            </a:p>
          </p:txBody>
        </p:sp>
        <p:sp>
          <p:nvSpPr>
            <p:cNvPr id="22" name="TextBox 21"/>
            <p:cNvSpPr txBox="1"/>
            <p:nvPr/>
          </p:nvSpPr>
          <p:spPr>
            <a:xfrm>
              <a:off x="2011680" y="6793992"/>
              <a:ext cx="8229600" cy="384048"/>
            </a:xfrm>
            <a:prstGeom prst="rect">
              <a:avLst/>
            </a:prstGeom>
            <a:noFill/>
          </p:spPr>
          <p:txBody>
            <a:bodyPr wrap="square" lIns="0" tIns="0" rIns="0" bIns="0" anchor="t">
              <a:spAutoFit/>
            </a:bodyPr>
            <a:lstStyle/>
            <a:p>
              <a:pPr algn="l"/>
              <a:r>
                <a:rPr sz="1200" b="0" i="0">
                  <a:solidFill>
                    <a:srgbClr val="2B3A38"/>
                  </a:solidFill>
                  <a:latin typeface="Arial"/>
                </a:rPr>
                <a:t>Nómbralas con un verbo (genera, pertenece a) y revisa su dirección.</a:t>
              </a:r>
            </a:p>
          </p:txBody>
        </p:sp>
        <p:sp>
          <p:nvSpPr>
            <p:cNvPr id="23" name="Oval 22"/>
            <p:cNvSpPr/>
            <p:nvPr/>
          </p:nvSpPr>
          <p:spPr>
            <a:xfrm>
              <a:off x="1325880" y="7296912"/>
              <a:ext cx="457200" cy="457200"/>
            </a:xfrm>
            <a:prstGeom prst="ellipse">
              <a:avLst/>
            </a:prstGeom>
            <a:solidFill>
              <a:srgbClr val="10635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Arial"/>
                </a:rPr>
                <a:t>6</a:t>
              </a:r>
            </a:p>
          </p:txBody>
        </p:sp>
        <p:sp>
          <p:nvSpPr>
            <p:cNvPr id="24" name="TextBox 23"/>
            <p:cNvSpPr txBox="1"/>
            <p:nvPr/>
          </p:nvSpPr>
          <p:spPr>
            <a:xfrm>
              <a:off x="2011680" y="7223759"/>
              <a:ext cx="8229600" cy="329184"/>
            </a:xfrm>
            <a:prstGeom prst="rect">
              <a:avLst/>
            </a:prstGeom>
            <a:noFill/>
          </p:spPr>
          <p:txBody>
            <a:bodyPr wrap="square" lIns="0" tIns="0" rIns="0" bIns="0" anchor="t">
              <a:spAutoFit/>
            </a:bodyPr>
            <a:lstStyle/>
            <a:p>
              <a:pPr algn="l"/>
              <a:r>
                <a:rPr sz="1450" b="1" i="0">
                  <a:solidFill>
                    <a:srgbClr val="10635A"/>
                  </a:solidFill>
                  <a:latin typeface="Arial"/>
                </a:rPr>
                <a:t>Empieza pequeño e itera</a:t>
              </a:r>
            </a:p>
          </p:txBody>
        </p:sp>
        <p:sp>
          <p:nvSpPr>
            <p:cNvPr id="25" name="TextBox 24"/>
            <p:cNvSpPr txBox="1"/>
            <p:nvPr/>
          </p:nvSpPr>
          <p:spPr>
            <a:xfrm>
              <a:off x="2011680" y="7552944"/>
              <a:ext cx="8229600" cy="384048"/>
            </a:xfrm>
            <a:prstGeom prst="rect">
              <a:avLst/>
            </a:prstGeom>
            <a:noFill/>
          </p:spPr>
          <p:txBody>
            <a:bodyPr wrap="square" lIns="0" tIns="0" rIns="0" bIns="0" anchor="t">
              <a:spAutoFit/>
            </a:bodyPr>
            <a:lstStyle/>
            <a:p>
              <a:pPr algn="l"/>
              <a:r>
                <a:rPr sz="1200" b="0" i="0">
                  <a:solidFill>
                    <a:srgbClr val="2B3A38"/>
                  </a:solidFill>
                  <a:latin typeface="Arial"/>
                </a:rPr>
                <a:t>Un dominio acotado primero; amplía cuando esté validado.</a:t>
              </a:r>
            </a:p>
          </p:txBody>
        </p:sp>
      </p:grpSp>
      <p:grpSp>
        <p:nvGrpSpPr>
          <p:cNvPr id="42" name="Grupo 41">
            <a:extLst>
              <a:ext uri="{FF2B5EF4-FFF2-40B4-BE49-F238E27FC236}">
                <a16:creationId xmlns:a16="http://schemas.microsoft.com/office/drawing/2014/main" id="{C19930B8-B95D-91FB-F2C0-039C92F3F964}"/>
              </a:ext>
            </a:extLst>
          </p:cNvPr>
          <p:cNvGrpSpPr/>
          <p:nvPr/>
        </p:nvGrpSpPr>
        <p:grpSpPr>
          <a:xfrm>
            <a:off x="10789920" y="2423160"/>
            <a:ext cx="6446520" cy="5669280"/>
            <a:chOff x="10789920" y="2423160"/>
            <a:chExt cx="6446520" cy="5669280"/>
          </a:xfrm>
        </p:grpSpPr>
        <p:sp>
          <p:nvSpPr>
            <p:cNvPr id="26" name="Rounded Rectangle 25"/>
            <p:cNvSpPr/>
            <p:nvPr/>
          </p:nvSpPr>
          <p:spPr>
            <a:xfrm>
              <a:off x="10789920" y="2423160"/>
              <a:ext cx="6446520" cy="5669280"/>
            </a:xfrm>
            <a:prstGeom prst="roundRect">
              <a:avLst>
                <a:gd name="adj" fmla="val 4000"/>
              </a:avLst>
            </a:prstGeom>
            <a:solidFill>
              <a:srgbClr val="10635A"/>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Oval 26"/>
            <p:cNvSpPr/>
            <p:nvPr/>
          </p:nvSpPr>
          <p:spPr>
            <a:xfrm>
              <a:off x="11064240" y="2651760"/>
              <a:ext cx="594360" cy="594360"/>
            </a:xfrm>
            <a:prstGeom prst="ellipse">
              <a:avLst/>
            </a:prstGeom>
            <a:solidFill>
              <a:srgbClr val="7DE9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8" name="Picture 27" descr="db_d.png"/>
            <p:cNvPicPr>
              <a:picLocks noChangeAspect="1"/>
            </p:cNvPicPr>
            <p:nvPr/>
          </p:nvPicPr>
          <p:blipFill>
            <a:blip r:embed="rId4"/>
            <a:stretch>
              <a:fillRect/>
            </a:stretch>
          </p:blipFill>
          <p:spPr>
            <a:xfrm>
              <a:off x="11212830" y="2800350"/>
              <a:ext cx="297180" cy="297180"/>
            </a:xfrm>
            <a:prstGeom prst="rect">
              <a:avLst/>
            </a:prstGeom>
          </p:spPr>
        </p:pic>
        <p:sp>
          <p:nvSpPr>
            <p:cNvPr id="29" name="TextBox 28"/>
            <p:cNvSpPr txBox="1"/>
            <p:nvPr/>
          </p:nvSpPr>
          <p:spPr>
            <a:xfrm>
              <a:off x="11841480" y="2651760"/>
              <a:ext cx="5212080" cy="594360"/>
            </a:xfrm>
            <a:prstGeom prst="rect">
              <a:avLst/>
            </a:prstGeom>
            <a:noFill/>
          </p:spPr>
          <p:txBody>
            <a:bodyPr wrap="square" lIns="0" tIns="0" rIns="0" bIns="0" anchor="ctr">
              <a:spAutoFit/>
            </a:bodyPr>
            <a:lstStyle/>
            <a:p>
              <a:pPr algn="l"/>
              <a:r>
                <a:rPr sz="1900" b="1" i="0">
                  <a:solidFill>
                    <a:srgbClr val="FFFFFF"/>
                  </a:solidFill>
                  <a:latin typeface="Arial"/>
                </a:rPr>
                <a:t>A tener en cuenta en Fabric</a:t>
              </a:r>
            </a:p>
          </p:txBody>
        </p:sp>
        <p:sp>
          <p:nvSpPr>
            <p:cNvPr id="30" name="TextBox 29"/>
            <p:cNvSpPr txBox="1"/>
            <p:nvPr/>
          </p:nvSpPr>
          <p:spPr>
            <a:xfrm>
              <a:off x="11064240" y="3429000"/>
              <a:ext cx="5943600" cy="365760"/>
            </a:xfrm>
            <a:prstGeom prst="rect">
              <a:avLst/>
            </a:prstGeom>
            <a:noFill/>
          </p:spPr>
          <p:txBody>
            <a:bodyPr wrap="square" lIns="0" tIns="0" rIns="0" bIns="0" anchor="t">
              <a:spAutoFit/>
            </a:bodyPr>
            <a:lstStyle/>
            <a:p>
              <a:pPr algn="l"/>
              <a:r>
                <a:rPr sz="1500" b="1" i="0">
                  <a:solidFill>
                    <a:srgbClr val="7DE9B0"/>
                  </a:solidFill>
                  <a:latin typeface="Arial"/>
                </a:rPr>
                <a:t>▸ En preview</a:t>
              </a:r>
            </a:p>
          </p:txBody>
        </p:sp>
        <p:sp>
          <p:nvSpPr>
            <p:cNvPr id="31" name="TextBox 30"/>
            <p:cNvSpPr txBox="1"/>
            <p:nvPr/>
          </p:nvSpPr>
          <p:spPr>
            <a:xfrm>
              <a:off x="11338560" y="3794760"/>
              <a:ext cx="5669280" cy="548640"/>
            </a:xfrm>
            <a:prstGeom prst="rect">
              <a:avLst/>
            </a:prstGeom>
            <a:noFill/>
          </p:spPr>
          <p:txBody>
            <a:bodyPr wrap="square" lIns="0" tIns="0" rIns="0" bIns="0" anchor="t">
              <a:spAutoFit/>
            </a:bodyPr>
            <a:lstStyle/>
            <a:p>
              <a:pPr algn="l"/>
              <a:r>
                <a:rPr sz="1200" b="0" i="0">
                  <a:solidFill>
                    <a:srgbClr val="FFFFFF"/>
                  </a:solidFill>
                  <a:latin typeface="Arial"/>
                </a:rPr>
                <a:t>Funcionalidades y comportamiento pueden cambiar.</a:t>
              </a:r>
            </a:p>
          </p:txBody>
        </p:sp>
        <p:sp>
          <p:nvSpPr>
            <p:cNvPr id="32" name="TextBox 31"/>
            <p:cNvSpPr txBox="1"/>
            <p:nvPr/>
          </p:nvSpPr>
          <p:spPr>
            <a:xfrm>
              <a:off x="11064240" y="4343400"/>
              <a:ext cx="5943600" cy="365760"/>
            </a:xfrm>
            <a:prstGeom prst="rect">
              <a:avLst/>
            </a:prstGeom>
            <a:noFill/>
          </p:spPr>
          <p:txBody>
            <a:bodyPr wrap="square" lIns="0" tIns="0" rIns="0" bIns="0" anchor="t">
              <a:spAutoFit/>
            </a:bodyPr>
            <a:lstStyle/>
            <a:p>
              <a:pPr algn="l"/>
              <a:r>
                <a:rPr sz="1500" b="1" i="0">
                  <a:solidFill>
                    <a:srgbClr val="7DE9B0"/>
                  </a:solidFill>
                  <a:latin typeface="Arial"/>
                </a:rPr>
                <a:t>▸ Orígenes en OneLake</a:t>
              </a:r>
            </a:p>
          </p:txBody>
        </p:sp>
        <p:sp>
          <p:nvSpPr>
            <p:cNvPr id="33" name="TextBox 32"/>
            <p:cNvSpPr txBox="1"/>
            <p:nvPr/>
          </p:nvSpPr>
          <p:spPr>
            <a:xfrm>
              <a:off x="11338560" y="4709160"/>
              <a:ext cx="5669280" cy="548640"/>
            </a:xfrm>
            <a:prstGeom prst="rect">
              <a:avLst/>
            </a:prstGeom>
            <a:noFill/>
          </p:spPr>
          <p:txBody>
            <a:bodyPr wrap="square" lIns="0" tIns="0" rIns="0" bIns="0" anchor="t">
              <a:spAutoFit/>
            </a:bodyPr>
            <a:lstStyle/>
            <a:p>
              <a:pPr algn="l"/>
              <a:r>
                <a:rPr sz="1200" b="0" i="0">
                  <a:solidFill>
                    <a:srgbClr val="FFFFFF"/>
                  </a:solidFill>
                  <a:latin typeface="Arial"/>
                </a:rPr>
                <a:t>Lakehouse, Eventhouse y modelos semánticos de Power BI.</a:t>
              </a:r>
            </a:p>
          </p:txBody>
        </p:sp>
        <p:sp>
          <p:nvSpPr>
            <p:cNvPr id="34" name="TextBox 33"/>
            <p:cNvSpPr txBox="1"/>
            <p:nvPr/>
          </p:nvSpPr>
          <p:spPr>
            <a:xfrm>
              <a:off x="11064240" y="5257800"/>
              <a:ext cx="5943600" cy="365760"/>
            </a:xfrm>
            <a:prstGeom prst="rect">
              <a:avLst/>
            </a:prstGeom>
            <a:noFill/>
          </p:spPr>
          <p:txBody>
            <a:bodyPr wrap="square" lIns="0" tIns="0" rIns="0" bIns="0" anchor="t">
              <a:spAutoFit/>
            </a:bodyPr>
            <a:lstStyle/>
            <a:p>
              <a:pPr algn="l"/>
              <a:r>
                <a:rPr sz="1500" b="1" i="0">
                  <a:solidFill>
                    <a:srgbClr val="7DE9B0"/>
                  </a:solidFill>
                  <a:latin typeface="Arial"/>
                </a:rPr>
                <a:t>▸ Refresco manual</a:t>
              </a:r>
            </a:p>
          </p:txBody>
        </p:sp>
        <p:sp>
          <p:nvSpPr>
            <p:cNvPr id="35" name="TextBox 34"/>
            <p:cNvSpPr txBox="1"/>
            <p:nvPr/>
          </p:nvSpPr>
          <p:spPr>
            <a:xfrm>
              <a:off x="11338560" y="5623560"/>
              <a:ext cx="5669280" cy="548640"/>
            </a:xfrm>
            <a:prstGeom prst="rect">
              <a:avLst/>
            </a:prstGeom>
            <a:noFill/>
          </p:spPr>
          <p:txBody>
            <a:bodyPr wrap="square" lIns="0" tIns="0" rIns="0" bIns="0" anchor="t">
              <a:spAutoFit/>
            </a:bodyPr>
            <a:lstStyle/>
            <a:p>
              <a:pPr algn="l"/>
              <a:r>
                <a:rPr sz="1200" b="0" i="0">
                  <a:solidFill>
                    <a:srgbClr val="FFFFFF"/>
                  </a:solidFill>
                  <a:latin typeface="Arial"/>
                </a:rPr>
                <a:t>Los cambios en el origen deben refrescarse para verse en la ontología.</a:t>
              </a:r>
            </a:p>
          </p:txBody>
        </p:sp>
        <p:sp>
          <p:nvSpPr>
            <p:cNvPr id="36" name="TextBox 35"/>
            <p:cNvSpPr txBox="1"/>
            <p:nvPr/>
          </p:nvSpPr>
          <p:spPr>
            <a:xfrm>
              <a:off x="11064240" y="6172200"/>
              <a:ext cx="5943600" cy="365760"/>
            </a:xfrm>
            <a:prstGeom prst="rect">
              <a:avLst/>
            </a:prstGeom>
            <a:noFill/>
          </p:spPr>
          <p:txBody>
            <a:bodyPr wrap="square" lIns="0" tIns="0" rIns="0" bIns="0" anchor="t">
              <a:spAutoFit/>
            </a:bodyPr>
            <a:lstStyle/>
            <a:p>
              <a:pPr algn="l"/>
              <a:r>
                <a:rPr sz="1500" b="1" i="0">
                  <a:solidFill>
                    <a:srgbClr val="7DE9B0"/>
                  </a:solidFill>
                  <a:latin typeface="Arial"/>
                </a:rPr>
                <a:t>▸ Generar ≠ terminar</a:t>
              </a:r>
            </a:p>
          </p:txBody>
        </p:sp>
        <p:sp>
          <p:nvSpPr>
            <p:cNvPr id="37" name="TextBox 36"/>
            <p:cNvSpPr txBox="1"/>
            <p:nvPr/>
          </p:nvSpPr>
          <p:spPr>
            <a:xfrm>
              <a:off x="11338560" y="6537960"/>
              <a:ext cx="5669280" cy="548640"/>
            </a:xfrm>
            <a:prstGeom prst="rect">
              <a:avLst/>
            </a:prstGeom>
            <a:noFill/>
          </p:spPr>
          <p:txBody>
            <a:bodyPr wrap="square" lIns="0" tIns="0" rIns="0" bIns="0" anchor="t">
              <a:spAutoFit/>
            </a:bodyPr>
            <a:lstStyle/>
            <a:p>
              <a:pPr algn="l"/>
              <a:r>
                <a:rPr sz="1200" b="0" i="0">
                  <a:solidFill>
                    <a:srgbClr val="FFFFFF"/>
                  </a:solidFill>
                  <a:latin typeface="Arial"/>
                </a:rPr>
                <a:t>Desde un modelo semántico se obtiene un borrador: hay que renombrar, documentar y revisar.</a:t>
              </a:r>
            </a:p>
          </p:txBody>
        </p:sp>
        <p:sp>
          <p:nvSpPr>
            <p:cNvPr id="38" name="TextBox 37"/>
            <p:cNvSpPr txBox="1"/>
            <p:nvPr/>
          </p:nvSpPr>
          <p:spPr>
            <a:xfrm>
              <a:off x="11064240" y="7086600"/>
              <a:ext cx="5943600" cy="365760"/>
            </a:xfrm>
            <a:prstGeom prst="rect">
              <a:avLst/>
            </a:prstGeom>
            <a:noFill/>
          </p:spPr>
          <p:txBody>
            <a:bodyPr wrap="square" lIns="0" tIns="0" rIns="0" bIns="0" anchor="t">
              <a:spAutoFit/>
            </a:bodyPr>
            <a:lstStyle/>
            <a:p>
              <a:pPr algn="l"/>
              <a:r>
                <a:rPr sz="1500" b="1" i="0">
                  <a:solidFill>
                    <a:srgbClr val="7DE9B0"/>
                  </a:solidFill>
                  <a:latin typeface="Arial"/>
                </a:rPr>
                <a:t>▸ No copia datos</a:t>
              </a:r>
            </a:p>
          </p:txBody>
        </p:sp>
        <p:sp>
          <p:nvSpPr>
            <p:cNvPr id="39" name="TextBox 38"/>
            <p:cNvSpPr txBox="1"/>
            <p:nvPr/>
          </p:nvSpPr>
          <p:spPr>
            <a:xfrm>
              <a:off x="11338560" y="7452360"/>
              <a:ext cx="5669280" cy="548640"/>
            </a:xfrm>
            <a:prstGeom prst="rect">
              <a:avLst/>
            </a:prstGeom>
            <a:noFill/>
          </p:spPr>
          <p:txBody>
            <a:bodyPr wrap="square" lIns="0" tIns="0" rIns="0" bIns="0" anchor="t">
              <a:spAutoFit/>
            </a:bodyPr>
            <a:lstStyle/>
            <a:p>
              <a:pPr algn="l"/>
              <a:r>
                <a:rPr sz="1200" b="0" i="0">
                  <a:solidFill>
                    <a:srgbClr val="FFFFFF"/>
                  </a:solidFill>
                  <a:latin typeface="Arial"/>
                </a:rPr>
                <a:t>Los enlaza: la calidad de la capa gold sigue siendo la base.</a:t>
              </a:r>
            </a:p>
          </p:txBody>
        </p:sp>
      </p:grpSp>
      <p:sp>
        <p:nvSpPr>
          <p:cNvPr id="40" name="Mensaje clave 40"/>
          <p:cNvSpPr/>
          <p:nvPr/>
        </p:nvSpPr>
        <p:spPr>
          <a:xfrm>
            <a:off x="1828800" y="8394192"/>
            <a:ext cx="14630400" cy="512064"/>
          </a:xfrm>
          <a:prstGeom prst="roundRect">
            <a:avLst>
              <a:gd name="adj" fmla="val 50000"/>
            </a:avLst>
          </a:prstGeom>
          <a:solidFill>
            <a:srgbClr val="09534E"/>
          </a:solidFill>
          <a:ln>
            <a:noFill/>
          </a:ln>
          <a:effectLst>
            <a:outerShdw blurRad="50800" dist="25400" dir="5400000" algn="t" rotWithShape="0">
              <a:prstClr val="black">
                <a:alpha val="28000"/>
              </a:prstClr>
            </a:outerShdw>
          </a:effectLst>
        </p:spPr>
        <p:txBody>
          <a:bodyPr wrap="square" lIns="182880" tIns="0" rIns="182880" bIns="0" anchor="ctr">
            <a:noAutofit/>
          </a:bodyPr>
          <a:lstStyle/>
          <a:p>
            <a:pPr algn="ctr"/>
            <a:r>
              <a:rPr lang="es-ES" sz="2000" b="1" dirty="0">
                <a:solidFill>
                  <a:srgbClr val="7DE9B0"/>
                </a:solidFill>
                <a:latin typeface="Arial"/>
                <a:cs typeface="Arial"/>
              </a:rPr>
              <a:t xml:space="preserve">✓  Cuanto mejor el significado que definimos, </a:t>
            </a:r>
            <a:r>
              <a:rPr lang="es-ES" sz="2000" b="1" dirty="0">
                <a:solidFill>
                  <a:srgbClr val="FFFFFF"/>
                </a:solidFill>
                <a:latin typeface="Arial"/>
                <a:cs typeface="Arial"/>
              </a:rPr>
              <a:t xml:space="preserve">mejores las respuestas que obtendremos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3F4A5E4-F64A-E1B2-B889-39E0E4C08A1E}"/>
              </a:ext>
            </a:extLst>
          </p:cNvPr>
          <p:cNvSpPr>
            <a:spLocks noGrp="1"/>
          </p:cNvSpPr>
          <p:nvPr>
            <p:ph type="title"/>
          </p:nvPr>
        </p:nvSpPr>
        <p:spPr>
          <a:xfrm>
            <a:off x="990600" y="190500"/>
            <a:ext cx="15773400" cy="1584323"/>
          </a:xfrm>
        </p:spPr>
        <p:txBody>
          <a:bodyPr/>
          <a:lstStyle/>
          <a:p>
            <a:pPr marL="0" indent="0">
              <a:buNone/>
            </a:pPr>
            <a:r>
              <a:rPr lang="es-ES" sz="4400" b="1" dirty="0">
                <a:latin typeface="Arial"/>
                <a:cs typeface="Arial"/>
              </a:rPr>
              <a:t>¿Qué es Fabric IQ?</a:t>
            </a:r>
          </a:p>
        </p:txBody>
      </p:sp>
      <p:sp>
        <p:nvSpPr>
          <p:cNvPr id="11" name="Caption 11">
            <a:extLst>
              <a:ext uri="{FF2B5EF4-FFF2-40B4-BE49-F238E27FC236}">
                <a16:creationId xmlns:a16="http://schemas.microsoft.com/office/drawing/2014/main" id="{CC858128-CB5C-DE30-3D2D-E1161B6346F2}"/>
              </a:ext>
            </a:extLst>
          </p:cNvPr>
          <p:cNvSpPr txBox="1"/>
          <p:nvPr/>
        </p:nvSpPr>
        <p:spPr>
          <a:xfrm>
            <a:off x="826121" y="1393648"/>
            <a:ext cx="16176000" cy="400000"/>
          </a:xfrm>
          <a:prstGeom prst="rect">
            <a:avLst/>
          </a:prstGeom>
          <a:noFill/>
          <a:ln>
            <a:noFill/>
          </a:ln>
        </p:spPr>
        <p:txBody>
          <a:bodyPr wrap="square" lIns="0" tIns="0" rIns="0" bIns="0" anchor="ctr">
            <a:normAutofit/>
          </a:bodyPr>
          <a:lstStyle/>
          <a:p>
            <a:pPr marL="0" indent="0" algn="ctr">
              <a:spcBef>
                <a:spcPts val="0"/>
              </a:spcBef>
              <a:spcAft>
                <a:spcPts val="0"/>
              </a:spcAft>
              <a:buNone/>
            </a:pPr>
            <a:r>
              <a:rPr lang="es-ES" sz="2300" dirty="0">
                <a:solidFill>
                  <a:srgbClr val="09534E"/>
                </a:solidFill>
                <a:latin typeface="Arial"/>
                <a:cs typeface="Arial"/>
              </a:rPr>
              <a:t>La Enterprise Intelligence Layer: unificar datos</a:t>
            </a:r>
            <a:r>
              <a:rPr lang="es-ES" sz="2300" dirty="0">
                <a:solidFill>
                  <a:srgbClr val="09534E"/>
                </a:solidFill>
              </a:rPr>
              <a:t> y </a:t>
            </a:r>
            <a:r>
              <a:rPr lang="es-ES" sz="2300" dirty="0">
                <a:solidFill>
                  <a:srgbClr val="09534E"/>
                </a:solidFill>
                <a:latin typeface="Arial"/>
                <a:cs typeface="Arial"/>
              </a:rPr>
              <a:t>lenguaje para preparar la empresa para los agentes</a:t>
            </a:r>
          </a:p>
        </p:txBody>
      </p:sp>
      <p:sp>
        <p:nvSpPr>
          <p:cNvPr id="13" name="Mensaje clave 13"/>
          <p:cNvSpPr/>
          <p:nvPr/>
        </p:nvSpPr>
        <p:spPr>
          <a:xfrm>
            <a:off x="1280160" y="8558784"/>
            <a:ext cx="15727680" cy="475488"/>
          </a:xfrm>
          <a:prstGeom prst="roundRect">
            <a:avLst>
              <a:gd name="adj" fmla="val 50000"/>
            </a:avLst>
          </a:prstGeom>
          <a:solidFill>
            <a:srgbClr val="09534E"/>
          </a:solidFill>
          <a:ln>
            <a:noFill/>
          </a:ln>
          <a:effectLst>
            <a:outerShdw blurRad="50800" dist="25400" dir="5400000" algn="t" rotWithShape="0">
              <a:prstClr val="black">
                <a:alpha val="28000"/>
              </a:prstClr>
            </a:outerShdw>
          </a:effectLst>
        </p:spPr>
        <p:txBody>
          <a:bodyPr wrap="square" lIns="182880" tIns="0" rIns="182880" bIns="0" anchor="ctr">
            <a:noAutofit/>
          </a:bodyPr>
          <a:lstStyle/>
          <a:p>
            <a:pPr algn="ctr"/>
            <a:r>
              <a:rPr lang="es-ES" sz="2000" b="1" dirty="0">
                <a:solidFill>
                  <a:srgbClr val="7DE9B0"/>
                </a:solidFill>
                <a:latin typeface="Arial"/>
                <a:cs typeface="Arial"/>
              </a:rPr>
              <a:t xml:space="preserve">✓  La Ontología, un item más del workspace: </a:t>
            </a:r>
            <a:r>
              <a:rPr lang="es-ES" sz="2000" b="1" dirty="0">
                <a:solidFill>
                  <a:srgbClr val="FFFFFF"/>
                </a:solidFill>
                <a:latin typeface="Arial"/>
                <a:cs typeface="Arial"/>
              </a:rPr>
              <a:t xml:space="preserve">la pieza de Fabric IQ que convierte datos en conocimiento</a:t>
            </a:r>
          </a:p>
        </p:txBody>
      </p:sp>
      <p:sp>
        <p:nvSpPr>
          <p:cNvPr id="63" name="Capa0 cara 13">
            <a:extLst>
              <a:ext uri="{FF2B5EF4-FFF2-40B4-BE49-F238E27FC236}">
                <a16:creationId xmlns:a16="http://schemas.microsoft.com/office/drawing/2014/main" id="{F1766755-6A9A-6CDF-628B-83883DBFA739}"/>
              </a:ext>
            </a:extLst>
          </p:cNvPr>
          <p:cNvSpPr/>
          <p:nvPr/>
        </p:nvSpPr>
        <p:spPr>
          <a:xfrm rot="2700000">
            <a:off x="3948633" y="5442327"/>
            <a:ext cx="2650000" cy="2650000"/>
          </a:xfrm>
          <a:prstGeom prst="roundRect">
            <a:avLst>
              <a:gd name="adj" fmla="val 15000"/>
            </a:avLst>
          </a:prstGeom>
          <a:solidFill>
            <a:srgbClr val="0A3A63"/>
          </a:solidFill>
          <a:ln>
            <a:noFill/>
          </a:ln>
        </p:spPr>
        <p:txBody>
          <a:bodyPr/>
          <a:lstStyle/>
          <a:p>
            <a:endParaRPr lang="es-ES"/>
          </a:p>
        </p:txBody>
      </p:sp>
      <p:sp>
        <p:nvSpPr>
          <p:cNvPr id="65" name="Capa1 sombra 14">
            <a:extLst>
              <a:ext uri="{FF2B5EF4-FFF2-40B4-BE49-F238E27FC236}">
                <a16:creationId xmlns:a16="http://schemas.microsoft.com/office/drawing/2014/main" id="{0D8D4ADD-007C-2D0D-00A0-C7E0DC4CA1BE}"/>
              </a:ext>
            </a:extLst>
          </p:cNvPr>
          <p:cNvSpPr/>
          <p:nvPr/>
        </p:nvSpPr>
        <p:spPr>
          <a:xfrm rot="2700000">
            <a:off x="5033633" y="4607327"/>
            <a:ext cx="2480000" cy="2480000"/>
          </a:xfrm>
          <a:prstGeom prst="roundRect">
            <a:avLst>
              <a:gd name="adj" fmla="val 15000"/>
            </a:avLst>
          </a:prstGeom>
          <a:solidFill>
            <a:srgbClr val="0B3457"/>
          </a:solidFill>
          <a:ln>
            <a:noFill/>
          </a:ln>
        </p:spPr>
        <p:txBody>
          <a:bodyPr/>
          <a:lstStyle/>
          <a:p>
            <a:endParaRPr lang="es-ES"/>
          </a:p>
        </p:txBody>
      </p:sp>
      <p:sp>
        <p:nvSpPr>
          <p:cNvPr id="67" name="Capa1 cara 15">
            <a:extLst>
              <a:ext uri="{FF2B5EF4-FFF2-40B4-BE49-F238E27FC236}">
                <a16:creationId xmlns:a16="http://schemas.microsoft.com/office/drawing/2014/main" id="{8C0EB4F2-2EC0-DD52-1C33-7912F5DDB3A7}"/>
              </a:ext>
            </a:extLst>
          </p:cNvPr>
          <p:cNvSpPr/>
          <p:nvPr/>
        </p:nvSpPr>
        <p:spPr>
          <a:xfrm rot="2700000">
            <a:off x="5033633" y="4347327"/>
            <a:ext cx="2480000" cy="2480000"/>
          </a:xfrm>
          <a:prstGeom prst="roundRect">
            <a:avLst>
              <a:gd name="adj" fmla="val 15000"/>
            </a:avLst>
          </a:prstGeom>
          <a:solidFill>
            <a:srgbClr val="145A96"/>
          </a:solidFill>
          <a:ln>
            <a:noFill/>
          </a:ln>
        </p:spPr>
        <p:txBody>
          <a:bodyPr/>
          <a:lstStyle/>
          <a:p>
            <a:endParaRPr lang="es-ES"/>
          </a:p>
        </p:txBody>
      </p:sp>
      <p:sp>
        <p:nvSpPr>
          <p:cNvPr id="69" name="Capa2 sombra 16">
            <a:extLst>
              <a:ext uri="{FF2B5EF4-FFF2-40B4-BE49-F238E27FC236}">
                <a16:creationId xmlns:a16="http://schemas.microsoft.com/office/drawing/2014/main" id="{A7810E76-5AD8-B457-DBCD-23AAB7615C32}"/>
              </a:ext>
            </a:extLst>
          </p:cNvPr>
          <p:cNvSpPr/>
          <p:nvPr/>
        </p:nvSpPr>
        <p:spPr>
          <a:xfrm rot="2700000">
            <a:off x="6113633" y="3507327"/>
            <a:ext cx="2320000" cy="2320000"/>
          </a:xfrm>
          <a:prstGeom prst="roundRect">
            <a:avLst>
              <a:gd name="adj" fmla="val 15000"/>
            </a:avLst>
          </a:prstGeom>
          <a:solidFill>
            <a:srgbClr val="2D6181"/>
          </a:solidFill>
          <a:ln>
            <a:noFill/>
          </a:ln>
        </p:spPr>
        <p:txBody>
          <a:bodyPr/>
          <a:lstStyle/>
          <a:p>
            <a:endParaRPr lang="es-ES"/>
          </a:p>
        </p:txBody>
      </p:sp>
      <p:sp>
        <p:nvSpPr>
          <p:cNvPr id="71" name="Capa2 cara 17">
            <a:extLst>
              <a:ext uri="{FF2B5EF4-FFF2-40B4-BE49-F238E27FC236}">
                <a16:creationId xmlns:a16="http://schemas.microsoft.com/office/drawing/2014/main" id="{805D0515-FF5F-87E8-F7A4-048327971DBB}"/>
              </a:ext>
            </a:extLst>
          </p:cNvPr>
          <p:cNvSpPr/>
          <p:nvPr/>
        </p:nvSpPr>
        <p:spPr>
          <a:xfrm rot="2700000">
            <a:off x="6113633" y="3247327"/>
            <a:ext cx="2320000" cy="2320000"/>
          </a:xfrm>
          <a:prstGeom prst="roundRect">
            <a:avLst>
              <a:gd name="adj" fmla="val 15000"/>
            </a:avLst>
          </a:prstGeom>
          <a:solidFill>
            <a:srgbClr val="4FA8E0"/>
          </a:solidFill>
          <a:ln>
            <a:noFill/>
          </a:ln>
        </p:spPr>
        <p:txBody>
          <a:bodyPr/>
          <a:lstStyle/>
          <a:p>
            <a:endParaRPr lang="es-ES"/>
          </a:p>
        </p:txBody>
      </p:sp>
      <p:sp>
        <p:nvSpPr>
          <p:cNvPr id="73" name="Capa3 sombra 18">
            <a:extLst>
              <a:ext uri="{FF2B5EF4-FFF2-40B4-BE49-F238E27FC236}">
                <a16:creationId xmlns:a16="http://schemas.microsoft.com/office/drawing/2014/main" id="{D1A104D1-377E-36EC-1689-475D88C6D0A9}"/>
              </a:ext>
            </a:extLst>
          </p:cNvPr>
          <p:cNvSpPr/>
          <p:nvPr/>
        </p:nvSpPr>
        <p:spPr>
          <a:xfrm rot="2700000">
            <a:off x="7193633" y="2421851"/>
            <a:ext cx="2160000" cy="2160000"/>
          </a:xfrm>
          <a:prstGeom prst="roundRect">
            <a:avLst>
              <a:gd name="adj" fmla="val 15000"/>
            </a:avLst>
          </a:prstGeom>
          <a:solidFill>
            <a:srgbClr val="7D8B91"/>
          </a:solidFill>
          <a:ln>
            <a:noFill/>
          </a:ln>
        </p:spPr>
        <p:txBody>
          <a:bodyPr/>
          <a:lstStyle/>
          <a:p>
            <a:endParaRPr lang="es-ES"/>
          </a:p>
        </p:txBody>
      </p:sp>
      <p:sp>
        <p:nvSpPr>
          <p:cNvPr id="75" name="Capa3 cara 19">
            <a:extLst>
              <a:ext uri="{FF2B5EF4-FFF2-40B4-BE49-F238E27FC236}">
                <a16:creationId xmlns:a16="http://schemas.microsoft.com/office/drawing/2014/main" id="{1968C1F2-6AAB-AB77-2EC7-3002662BD646}"/>
              </a:ext>
            </a:extLst>
          </p:cNvPr>
          <p:cNvSpPr/>
          <p:nvPr/>
        </p:nvSpPr>
        <p:spPr>
          <a:xfrm rot="2700000">
            <a:off x="7193633" y="2161851"/>
            <a:ext cx="2160000" cy="2160000"/>
          </a:xfrm>
          <a:prstGeom prst="roundRect">
            <a:avLst>
              <a:gd name="adj" fmla="val 15000"/>
            </a:avLst>
          </a:prstGeom>
          <a:solidFill>
            <a:srgbClr val="D8F0FA"/>
          </a:solidFill>
          <a:ln>
            <a:noFill/>
          </a:ln>
        </p:spPr>
        <p:txBody>
          <a:bodyPr/>
          <a:lstStyle/>
          <a:p>
            <a:endParaRPr lang="es-ES"/>
          </a:p>
        </p:txBody>
      </p:sp>
      <p:sp>
        <p:nvSpPr>
          <p:cNvPr id="97" name="Pill 30">
            <a:extLst>
              <a:ext uri="{FF2B5EF4-FFF2-40B4-BE49-F238E27FC236}">
                <a16:creationId xmlns:a16="http://schemas.microsoft.com/office/drawing/2014/main" id="{C5C70482-AFFB-112D-EF45-26761BAC2F4F}"/>
              </a:ext>
            </a:extLst>
          </p:cNvPr>
          <p:cNvSpPr/>
          <p:nvPr/>
        </p:nvSpPr>
        <p:spPr>
          <a:xfrm>
            <a:off x="3869770" y="2237473"/>
            <a:ext cx="3095000" cy="560000"/>
          </a:xfrm>
          <a:prstGeom prst="roundRect">
            <a:avLst>
              <a:gd name="adj" fmla="val 16000"/>
            </a:avLst>
          </a:prstGeom>
          <a:solidFill>
            <a:schemeClr val="tx1">
              <a:lumMod val="10000"/>
              <a:lumOff val="90000"/>
            </a:schemeClr>
          </a:solidFill>
          <a:ln>
            <a:noFill/>
          </a:ln>
          <a:effectLst>
            <a:outerShdw blurRad="50800" dist="38100" dir="2700000" algn="tl" rotWithShape="0">
              <a:prstClr val="black">
                <a:alpha val="40000"/>
              </a:prstClr>
            </a:outerShdw>
          </a:effectLst>
        </p:spPr>
        <p:txBody>
          <a:bodyPr wrap="square" lIns="0" tIns="0" rIns="0" bIns="0" anchor="t">
            <a:normAutofit/>
          </a:bodyPr>
          <a:lstStyle/>
          <a:p>
            <a:endParaRPr lang="es-ES"/>
          </a:p>
        </p:txBody>
      </p:sp>
      <p:sp>
        <p:nvSpPr>
          <p:cNvPr id="99" name="Pill texto 31">
            <a:extLst>
              <a:ext uri="{FF2B5EF4-FFF2-40B4-BE49-F238E27FC236}">
                <a16:creationId xmlns:a16="http://schemas.microsoft.com/office/drawing/2014/main" id="{CD40EBE3-3F8D-02A4-977C-0A622F45A87D}"/>
              </a:ext>
            </a:extLst>
          </p:cNvPr>
          <p:cNvSpPr txBox="1"/>
          <p:nvPr/>
        </p:nvSpPr>
        <p:spPr>
          <a:xfrm>
            <a:off x="4144752" y="2222463"/>
            <a:ext cx="2616770" cy="560000"/>
          </a:xfrm>
          <a:prstGeom prst="rect">
            <a:avLst/>
          </a:prstGeom>
          <a:noFill/>
          <a:ln>
            <a:noFill/>
          </a:ln>
        </p:spPr>
        <p:txBody>
          <a:bodyPr wrap="square" lIns="0" tIns="0" rIns="0" bIns="0" anchor="ctr">
            <a:normAutofit/>
          </a:bodyPr>
          <a:lstStyle/>
          <a:p>
            <a:pPr marL="0" indent="0" algn="l">
              <a:spcBef>
                <a:spcPts val="0"/>
              </a:spcBef>
              <a:spcAft>
                <a:spcPts val="0"/>
              </a:spcAft>
              <a:buNone/>
            </a:pPr>
            <a:r>
              <a:rPr lang="es-ES" sz="2000" b="1" dirty="0">
                <a:solidFill>
                  <a:srgbClr val="09534E"/>
                </a:solidFill>
                <a:latin typeface="Arial"/>
                <a:cs typeface="Arial"/>
              </a:rPr>
              <a:t>Empower AI Agents</a:t>
            </a:r>
          </a:p>
        </p:txBody>
      </p:sp>
      <p:sp>
        <p:nvSpPr>
          <p:cNvPr id="101" name="Pill 30">
            <a:extLst>
              <a:ext uri="{FF2B5EF4-FFF2-40B4-BE49-F238E27FC236}">
                <a16:creationId xmlns:a16="http://schemas.microsoft.com/office/drawing/2014/main" id="{5CBED798-39D5-E41A-9019-F4667BDD7D9F}"/>
              </a:ext>
            </a:extLst>
          </p:cNvPr>
          <p:cNvSpPr/>
          <p:nvPr/>
        </p:nvSpPr>
        <p:spPr>
          <a:xfrm>
            <a:off x="2699985" y="3368836"/>
            <a:ext cx="3095000" cy="821294"/>
          </a:xfrm>
          <a:prstGeom prst="roundRect">
            <a:avLst>
              <a:gd name="adj" fmla="val 16000"/>
            </a:avLst>
          </a:prstGeom>
          <a:solidFill>
            <a:schemeClr val="tx1">
              <a:lumMod val="10000"/>
              <a:lumOff val="90000"/>
            </a:schemeClr>
          </a:solidFill>
          <a:ln>
            <a:noFill/>
          </a:ln>
          <a:effectLst>
            <a:outerShdw blurRad="50800" dist="38100" dir="2700000" algn="tl" rotWithShape="0">
              <a:prstClr val="black">
                <a:alpha val="40000"/>
              </a:prstClr>
            </a:outerShdw>
          </a:effectLst>
        </p:spPr>
        <p:txBody>
          <a:bodyPr wrap="square" lIns="0" tIns="0" rIns="0" bIns="0" anchor="t">
            <a:normAutofit/>
          </a:bodyPr>
          <a:lstStyle/>
          <a:p>
            <a:endParaRPr lang="es-ES"/>
          </a:p>
        </p:txBody>
      </p:sp>
      <p:sp>
        <p:nvSpPr>
          <p:cNvPr id="103" name="Pill texto 28">
            <a:extLst>
              <a:ext uri="{FF2B5EF4-FFF2-40B4-BE49-F238E27FC236}">
                <a16:creationId xmlns:a16="http://schemas.microsoft.com/office/drawing/2014/main" id="{17A3A9C4-03D1-0064-5299-78AC38EC6D7F}"/>
              </a:ext>
            </a:extLst>
          </p:cNvPr>
          <p:cNvSpPr txBox="1"/>
          <p:nvPr/>
        </p:nvSpPr>
        <p:spPr>
          <a:xfrm>
            <a:off x="2930851" y="3519428"/>
            <a:ext cx="2522286" cy="560000"/>
          </a:xfrm>
          <a:prstGeom prst="rect">
            <a:avLst/>
          </a:prstGeom>
          <a:noFill/>
          <a:ln>
            <a:noFill/>
          </a:ln>
        </p:spPr>
        <p:txBody>
          <a:bodyPr wrap="square" lIns="0" tIns="0" rIns="0" bIns="0" anchor="ctr">
            <a:noAutofit/>
          </a:bodyPr>
          <a:lstStyle/>
          <a:p>
            <a:pPr marL="0" indent="0" algn="l">
              <a:spcBef>
                <a:spcPts val="0"/>
              </a:spcBef>
              <a:spcAft>
                <a:spcPts val="0"/>
              </a:spcAft>
              <a:buNone/>
            </a:pPr>
            <a:r>
              <a:rPr lang="es-ES" sz="2000" b="1" dirty="0">
                <a:solidFill>
                  <a:srgbClr val="09534E"/>
                </a:solidFill>
                <a:latin typeface="Arial"/>
                <a:cs typeface="Arial"/>
              </a:rPr>
              <a:t>Curate Semantic Knowledge</a:t>
            </a:r>
          </a:p>
        </p:txBody>
      </p:sp>
      <p:sp>
        <p:nvSpPr>
          <p:cNvPr id="105" name="Pill 30">
            <a:extLst>
              <a:ext uri="{FF2B5EF4-FFF2-40B4-BE49-F238E27FC236}">
                <a16:creationId xmlns:a16="http://schemas.microsoft.com/office/drawing/2014/main" id="{8C246C9F-9C7A-213B-2795-B02928971891}"/>
              </a:ext>
            </a:extLst>
          </p:cNvPr>
          <p:cNvSpPr/>
          <p:nvPr/>
        </p:nvSpPr>
        <p:spPr>
          <a:xfrm>
            <a:off x="1419434" y="4482847"/>
            <a:ext cx="3095000" cy="821294"/>
          </a:xfrm>
          <a:prstGeom prst="roundRect">
            <a:avLst>
              <a:gd name="adj" fmla="val 16000"/>
            </a:avLst>
          </a:prstGeom>
          <a:solidFill>
            <a:schemeClr val="tx1">
              <a:lumMod val="10000"/>
              <a:lumOff val="90000"/>
            </a:schemeClr>
          </a:solidFill>
          <a:ln>
            <a:noFill/>
          </a:ln>
          <a:effectLst>
            <a:outerShdw blurRad="50800" dist="38100" dir="2700000" algn="tl" rotWithShape="0">
              <a:prstClr val="black">
                <a:alpha val="40000"/>
              </a:prstClr>
            </a:outerShdw>
          </a:effectLst>
        </p:spPr>
        <p:txBody>
          <a:bodyPr wrap="square" lIns="0" tIns="0" rIns="0" bIns="0" anchor="t">
            <a:normAutofit/>
          </a:bodyPr>
          <a:lstStyle/>
          <a:p>
            <a:endParaRPr lang="es-ES"/>
          </a:p>
        </p:txBody>
      </p:sp>
      <p:sp>
        <p:nvSpPr>
          <p:cNvPr id="107" name="Pill texto 25">
            <a:extLst>
              <a:ext uri="{FF2B5EF4-FFF2-40B4-BE49-F238E27FC236}">
                <a16:creationId xmlns:a16="http://schemas.microsoft.com/office/drawing/2014/main" id="{388B3527-76DA-06BB-F655-056B0148075D}"/>
              </a:ext>
            </a:extLst>
          </p:cNvPr>
          <p:cNvSpPr txBox="1"/>
          <p:nvPr/>
        </p:nvSpPr>
        <p:spPr>
          <a:xfrm>
            <a:off x="1623834" y="4617965"/>
            <a:ext cx="2645181" cy="560000"/>
          </a:xfrm>
          <a:prstGeom prst="rect">
            <a:avLst/>
          </a:prstGeom>
          <a:noFill/>
          <a:ln>
            <a:noFill/>
          </a:ln>
        </p:spPr>
        <p:txBody>
          <a:bodyPr wrap="square" lIns="0" tIns="0" rIns="0" bIns="0" anchor="ctr">
            <a:noAutofit/>
          </a:bodyPr>
          <a:lstStyle/>
          <a:p>
            <a:pPr marL="0" indent="0" algn="l">
              <a:spcBef>
                <a:spcPts val="0"/>
              </a:spcBef>
              <a:spcAft>
                <a:spcPts val="0"/>
              </a:spcAft>
              <a:buNone/>
            </a:pPr>
            <a:r>
              <a:rPr lang="es-ES" sz="2000" b="1" dirty="0">
                <a:solidFill>
                  <a:srgbClr val="09534E"/>
                </a:solidFill>
                <a:latin typeface="Arial"/>
                <a:cs typeface="Arial"/>
              </a:rPr>
              <a:t>Process and Harmonize Data</a:t>
            </a:r>
          </a:p>
        </p:txBody>
      </p:sp>
      <p:sp>
        <p:nvSpPr>
          <p:cNvPr id="109" name="Pill 30">
            <a:extLst>
              <a:ext uri="{FF2B5EF4-FFF2-40B4-BE49-F238E27FC236}">
                <a16:creationId xmlns:a16="http://schemas.microsoft.com/office/drawing/2014/main" id="{EEF7856C-DC23-58B4-1A28-0C6D7E6C9086}"/>
              </a:ext>
            </a:extLst>
          </p:cNvPr>
          <p:cNvSpPr/>
          <p:nvPr/>
        </p:nvSpPr>
        <p:spPr>
          <a:xfrm>
            <a:off x="304800" y="5823558"/>
            <a:ext cx="3095000" cy="821294"/>
          </a:xfrm>
          <a:prstGeom prst="roundRect">
            <a:avLst>
              <a:gd name="adj" fmla="val 16000"/>
            </a:avLst>
          </a:prstGeom>
          <a:solidFill>
            <a:schemeClr val="tx1">
              <a:lumMod val="10000"/>
              <a:lumOff val="90000"/>
            </a:schemeClr>
          </a:solidFill>
          <a:ln>
            <a:noFill/>
          </a:ln>
          <a:effectLst>
            <a:outerShdw blurRad="50800" dist="38100" dir="2700000" algn="tl" rotWithShape="0">
              <a:prstClr val="black">
                <a:alpha val="40000"/>
              </a:prstClr>
            </a:outerShdw>
          </a:effectLst>
        </p:spPr>
        <p:txBody>
          <a:bodyPr wrap="square" lIns="0" tIns="0" rIns="0" bIns="0" anchor="t">
            <a:normAutofit/>
          </a:bodyPr>
          <a:lstStyle/>
          <a:p>
            <a:endParaRPr lang="es-ES"/>
          </a:p>
        </p:txBody>
      </p:sp>
      <p:sp>
        <p:nvSpPr>
          <p:cNvPr id="111" name="Pill texto 22">
            <a:extLst>
              <a:ext uri="{FF2B5EF4-FFF2-40B4-BE49-F238E27FC236}">
                <a16:creationId xmlns:a16="http://schemas.microsoft.com/office/drawing/2014/main" id="{5D11069B-AE20-5B70-F0A7-8B6524003AAA}"/>
              </a:ext>
            </a:extLst>
          </p:cNvPr>
          <p:cNvSpPr txBox="1"/>
          <p:nvPr/>
        </p:nvSpPr>
        <p:spPr>
          <a:xfrm>
            <a:off x="443240" y="5922271"/>
            <a:ext cx="2971800" cy="560000"/>
          </a:xfrm>
          <a:prstGeom prst="rect">
            <a:avLst/>
          </a:prstGeom>
          <a:noFill/>
          <a:ln>
            <a:noFill/>
          </a:ln>
        </p:spPr>
        <p:txBody>
          <a:bodyPr wrap="square" lIns="0" tIns="0" rIns="0" bIns="0" anchor="ctr">
            <a:noAutofit/>
          </a:bodyPr>
          <a:lstStyle/>
          <a:p>
            <a:pPr marL="0" indent="0" algn="l">
              <a:spcBef>
                <a:spcPts val="0"/>
              </a:spcBef>
              <a:spcAft>
                <a:spcPts val="0"/>
              </a:spcAft>
              <a:buNone/>
            </a:pPr>
            <a:r>
              <a:rPr lang="es-ES" sz="2000" b="1" dirty="0">
                <a:solidFill>
                  <a:srgbClr val="09534E"/>
                </a:solidFill>
                <a:latin typeface="Arial"/>
                <a:cs typeface="Arial"/>
              </a:rPr>
              <a:t>Unify the Data Estate</a:t>
            </a:r>
          </a:p>
        </p:txBody>
      </p:sp>
      <p:pic>
        <p:nvPicPr>
          <p:cNvPr id="113" name="Imagen 112">
            <a:extLst>
              <a:ext uri="{FF2B5EF4-FFF2-40B4-BE49-F238E27FC236}">
                <a16:creationId xmlns:a16="http://schemas.microsoft.com/office/drawing/2014/main" id="{BEACA4CB-EC7A-E1A6-8520-035A83E7F9A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326034" y="6448283"/>
            <a:ext cx="1084612" cy="1086730"/>
          </a:xfrm>
          <a:prstGeom prst="rect">
            <a:avLst/>
          </a:prstGeom>
        </p:spPr>
      </p:pic>
      <p:pic>
        <p:nvPicPr>
          <p:cNvPr id="115" name="Imagen 114">
            <a:extLst>
              <a:ext uri="{FF2B5EF4-FFF2-40B4-BE49-F238E27FC236}">
                <a16:creationId xmlns:a16="http://schemas.microsoft.com/office/drawing/2014/main" id="{83F64A19-C900-3A2A-73D9-92535E4FAFB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422646" y="4028424"/>
            <a:ext cx="1260000" cy="1223379"/>
          </a:xfrm>
          <a:prstGeom prst="rect">
            <a:avLst/>
          </a:prstGeom>
        </p:spPr>
      </p:pic>
      <p:pic>
        <p:nvPicPr>
          <p:cNvPr id="117" name="Imagen 116">
            <a:extLst>
              <a:ext uri="{FF2B5EF4-FFF2-40B4-BE49-F238E27FC236}">
                <a16:creationId xmlns:a16="http://schemas.microsoft.com/office/drawing/2014/main" id="{A16CA7E7-D3AE-8DE4-4FDC-D3AA64DFCB2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53137" y="5380907"/>
            <a:ext cx="1082727" cy="1082727"/>
          </a:xfrm>
          <a:prstGeom prst="rect">
            <a:avLst/>
          </a:prstGeom>
        </p:spPr>
      </p:pic>
      <p:pic>
        <p:nvPicPr>
          <p:cNvPr id="121" name="Imagen 120">
            <a:extLst>
              <a:ext uri="{FF2B5EF4-FFF2-40B4-BE49-F238E27FC236}">
                <a16:creationId xmlns:a16="http://schemas.microsoft.com/office/drawing/2014/main" id="{4AA38B0F-00B3-B9D2-B200-898A7D0B0CF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rot="21231672">
            <a:off x="7578527" y="2767099"/>
            <a:ext cx="1374970" cy="874107"/>
          </a:xfrm>
          <a:prstGeom prst="rect">
            <a:avLst/>
          </a:prstGeom>
        </p:spPr>
      </p:pic>
      <p:sp>
        <p:nvSpPr>
          <p:cNvPr id="125" name="Chip 16">
            <a:extLst>
              <a:ext uri="{FF2B5EF4-FFF2-40B4-BE49-F238E27FC236}">
                <a16:creationId xmlns:a16="http://schemas.microsoft.com/office/drawing/2014/main" id="{F37C64D5-E285-9AD5-0814-1FCBB26FB502}"/>
              </a:ext>
            </a:extLst>
          </p:cNvPr>
          <p:cNvSpPr/>
          <p:nvPr/>
        </p:nvSpPr>
        <p:spPr>
          <a:xfrm>
            <a:off x="10057739" y="3054550"/>
            <a:ext cx="2520000" cy="984000"/>
          </a:xfrm>
          <a:prstGeom prst="roundRect">
            <a:avLst>
              <a:gd name="adj" fmla="val 16000"/>
            </a:avLst>
          </a:prstGeom>
          <a:solidFill>
            <a:srgbClr val="D8F0FA"/>
          </a:solidFill>
          <a:ln>
            <a:noFill/>
          </a:ln>
          <a:effectLst>
            <a:outerShdw blurRad="50800" dist="38100" dir="2700000" algn="tl" rotWithShape="0">
              <a:prstClr val="black">
                <a:alpha val="40000"/>
              </a:prstClr>
            </a:outerShdw>
          </a:effectLst>
        </p:spPr>
        <p:txBody>
          <a:bodyPr wrap="square" lIns="0" tIns="0" rIns="0" bIns="0" anchor="t">
            <a:normAutofit/>
          </a:bodyPr>
          <a:lstStyle/>
          <a:p>
            <a:endParaRPr lang="es-ES"/>
          </a:p>
        </p:txBody>
      </p:sp>
      <p:sp>
        <p:nvSpPr>
          <p:cNvPr id="127" name="Chip texto 17">
            <a:extLst>
              <a:ext uri="{FF2B5EF4-FFF2-40B4-BE49-F238E27FC236}">
                <a16:creationId xmlns:a16="http://schemas.microsoft.com/office/drawing/2014/main" id="{75EBD75B-71AA-CABB-36D3-72A7290AD98F}"/>
              </a:ext>
            </a:extLst>
          </p:cNvPr>
          <p:cNvSpPr txBox="1"/>
          <p:nvPr/>
        </p:nvSpPr>
        <p:spPr>
          <a:xfrm>
            <a:off x="10205591" y="3032243"/>
            <a:ext cx="2254776" cy="984000"/>
          </a:xfrm>
          <a:prstGeom prst="rect">
            <a:avLst/>
          </a:prstGeom>
          <a:noFill/>
          <a:ln>
            <a:noFill/>
          </a:ln>
        </p:spPr>
        <p:txBody>
          <a:bodyPr wrap="square" lIns="0" tIns="0" rIns="0" bIns="0" anchor="ctr">
            <a:normAutofit/>
          </a:bodyPr>
          <a:lstStyle/>
          <a:p>
            <a:pPr marL="0" indent="0" algn="ctr">
              <a:spcBef>
                <a:spcPts val="0"/>
              </a:spcBef>
              <a:spcAft>
                <a:spcPts val="110"/>
              </a:spcAft>
              <a:buNone/>
            </a:pPr>
            <a:r>
              <a:rPr lang="es-ES" sz="1350" b="1" dirty="0">
                <a:solidFill>
                  <a:srgbClr val="09534E"/>
                </a:solidFill>
                <a:latin typeface="Arial"/>
                <a:cs typeface="Arial"/>
              </a:rPr>
              <a:t>Data Agent</a:t>
            </a:r>
          </a:p>
          <a:p>
            <a:pPr marL="0" indent="0" algn="ctr">
              <a:spcBef>
                <a:spcPts val="0"/>
              </a:spcBef>
              <a:spcAft>
                <a:spcPts val="0"/>
              </a:spcAft>
              <a:buNone/>
            </a:pPr>
            <a:r>
              <a:rPr lang="es-ES" sz="1000" dirty="0">
                <a:solidFill>
                  <a:srgbClr val="09534E"/>
                </a:solidFill>
                <a:latin typeface="Arial"/>
                <a:cs typeface="Arial"/>
              </a:rPr>
              <a:t>responde con definiciones consistentes</a:t>
            </a:r>
          </a:p>
        </p:txBody>
      </p:sp>
      <p:sp>
        <p:nvSpPr>
          <p:cNvPr id="129" name="Chip 18">
            <a:extLst>
              <a:ext uri="{FF2B5EF4-FFF2-40B4-BE49-F238E27FC236}">
                <a16:creationId xmlns:a16="http://schemas.microsoft.com/office/drawing/2014/main" id="{7AADBBF3-4788-501E-6284-422FF4D13466}"/>
              </a:ext>
            </a:extLst>
          </p:cNvPr>
          <p:cNvSpPr/>
          <p:nvPr/>
        </p:nvSpPr>
        <p:spPr>
          <a:xfrm>
            <a:off x="12763992" y="3061243"/>
            <a:ext cx="2520000" cy="984000"/>
          </a:xfrm>
          <a:prstGeom prst="roundRect">
            <a:avLst>
              <a:gd name="adj" fmla="val 16000"/>
            </a:avLst>
          </a:prstGeom>
          <a:solidFill>
            <a:srgbClr val="D8F0FA"/>
          </a:solidFill>
          <a:ln>
            <a:noFill/>
          </a:ln>
          <a:effectLst>
            <a:outerShdw blurRad="50800" dist="38100" dir="2700000" algn="tl" rotWithShape="0">
              <a:prstClr val="black">
                <a:alpha val="40000"/>
              </a:prstClr>
            </a:outerShdw>
          </a:effectLst>
        </p:spPr>
        <p:txBody>
          <a:bodyPr wrap="square" lIns="0" tIns="0" rIns="0" bIns="0" anchor="t">
            <a:normAutofit/>
          </a:bodyPr>
          <a:lstStyle/>
          <a:p>
            <a:endParaRPr lang="es-ES"/>
          </a:p>
        </p:txBody>
      </p:sp>
      <p:sp>
        <p:nvSpPr>
          <p:cNvPr id="131" name="Chip texto 19">
            <a:extLst>
              <a:ext uri="{FF2B5EF4-FFF2-40B4-BE49-F238E27FC236}">
                <a16:creationId xmlns:a16="http://schemas.microsoft.com/office/drawing/2014/main" id="{202E0A8A-0D49-206E-CCFC-C89A09EAF32E}"/>
              </a:ext>
            </a:extLst>
          </p:cNvPr>
          <p:cNvSpPr txBox="1"/>
          <p:nvPr/>
        </p:nvSpPr>
        <p:spPr>
          <a:xfrm>
            <a:off x="12977244" y="3008786"/>
            <a:ext cx="2225017" cy="984000"/>
          </a:xfrm>
          <a:prstGeom prst="rect">
            <a:avLst/>
          </a:prstGeom>
          <a:noFill/>
          <a:ln>
            <a:noFill/>
          </a:ln>
        </p:spPr>
        <p:txBody>
          <a:bodyPr wrap="square" lIns="0" tIns="0" rIns="0" bIns="0" anchor="ctr">
            <a:normAutofit/>
          </a:bodyPr>
          <a:lstStyle/>
          <a:p>
            <a:pPr marL="0" indent="0" algn="ctr">
              <a:spcBef>
                <a:spcPts val="0"/>
              </a:spcBef>
              <a:spcAft>
                <a:spcPts val="110"/>
              </a:spcAft>
              <a:buNone/>
            </a:pPr>
            <a:r>
              <a:rPr lang="es-ES" sz="1350" b="1" dirty="0">
                <a:solidFill>
                  <a:srgbClr val="09534E"/>
                </a:solidFill>
                <a:latin typeface="Arial"/>
                <a:cs typeface="Arial"/>
              </a:rPr>
              <a:t>Operations Agent</a:t>
            </a:r>
          </a:p>
          <a:p>
            <a:pPr marL="0" indent="0" algn="ctr">
              <a:spcBef>
                <a:spcPts val="0"/>
              </a:spcBef>
              <a:spcAft>
                <a:spcPts val="0"/>
              </a:spcAft>
              <a:buNone/>
            </a:pPr>
            <a:r>
              <a:rPr lang="es-ES" sz="1000" dirty="0">
                <a:solidFill>
                  <a:srgbClr val="09534E"/>
                </a:solidFill>
                <a:latin typeface="Arial"/>
                <a:cs typeface="Arial"/>
              </a:rPr>
              <a:t>vigila el dato vivo y dispara acciones</a:t>
            </a:r>
          </a:p>
        </p:txBody>
      </p:sp>
      <p:sp>
        <p:nvSpPr>
          <p:cNvPr id="133" name="Chip 20">
            <a:extLst>
              <a:ext uri="{FF2B5EF4-FFF2-40B4-BE49-F238E27FC236}">
                <a16:creationId xmlns:a16="http://schemas.microsoft.com/office/drawing/2014/main" id="{AAD2CB0E-4714-33CB-660B-05833A2F8ACD}"/>
              </a:ext>
            </a:extLst>
          </p:cNvPr>
          <p:cNvSpPr/>
          <p:nvPr/>
        </p:nvSpPr>
        <p:spPr>
          <a:xfrm>
            <a:off x="15470245" y="3070636"/>
            <a:ext cx="2520000" cy="984000"/>
          </a:xfrm>
          <a:prstGeom prst="roundRect">
            <a:avLst>
              <a:gd name="adj" fmla="val 16000"/>
            </a:avLst>
          </a:prstGeom>
          <a:solidFill>
            <a:srgbClr val="D8F0FA"/>
          </a:solidFill>
          <a:ln>
            <a:noFill/>
          </a:ln>
          <a:effectLst>
            <a:outerShdw blurRad="50800" dist="38100" dir="2700000" algn="tl" rotWithShape="0">
              <a:prstClr val="black">
                <a:alpha val="40000"/>
              </a:prstClr>
            </a:outerShdw>
          </a:effectLst>
        </p:spPr>
        <p:txBody>
          <a:bodyPr wrap="square" lIns="0" tIns="0" rIns="0" bIns="0" anchor="t">
            <a:normAutofit/>
          </a:bodyPr>
          <a:lstStyle/>
          <a:p>
            <a:endParaRPr lang="es-ES"/>
          </a:p>
        </p:txBody>
      </p:sp>
      <p:sp>
        <p:nvSpPr>
          <p:cNvPr id="135" name="Chip texto 21">
            <a:extLst>
              <a:ext uri="{FF2B5EF4-FFF2-40B4-BE49-F238E27FC236}">
                <a16:creationId xmlns:a16="http://schemas.microsoft.com/office/drawing/2014/main" id="{AE30D1F2-F71D-9E81-76B3-D0C575C8F558}"/>
              </a:ext>
            </a:extLst>
          </p:cNvPr>
          <p:cNvSpPr txBox="1"/>
          <p:nvPr/>
        </p:nvSpPr>
        <p:spPr>
          <a:xfrm>
            <a:off x="15586720" y="2952861"/>
            <a:ext cx="2324467" cy="984000"/>
          </a:xfrm>
          <a:prstGeom prst="rect">
            <a:avLst/>
          </a:prstGeom>
          <a:noFill/>
          <a:ln>
            <a:noFill/>
          </a:ln>
        </p:spPr>
        <p:txBody>
          <a:bodyPr wrap="square" lIns="0" tIns="0" rIns="0" bIns="0" anchor="ctr">
            <a:normAutofit/>
          </a:bodyPr>
          <a:lstStyle/>
          <a:p>
            <a:pPr marL="0" indent="0" algn="ctr">
              <a:spcBef>
                <a:spcPts val="0"/>
              </a:spcBef>
              <a:spcAft>
                <a:spcPts val="110"/>
              </a:spcAft>
              <a:buNone/>
            </a:pPr>
            <a:r>
              <a:rPr lang="es-ES" sz="1350" b="1" dirty="0">
                <a:solidFill>
                  <a:srgbClr val="09534E"/>
                </a:solidFill>
                <a:latin typeface="Arial"/>
                <a:cs typeface="Arial"/>
              </a:rPr>
              <a:t>Plan</a:t>
            </a:r>
          </a:p>
          <a:p>
            <a:pPr marL="0" indent="0" algn="ctr">
              <a:spcBef>
                <a:spcPts val="0"/>
              </a:spcBef>
              <a:spcAft>
                <a:spcPts val="0"/>
              </a:spcAft>
              <a:buNone/>
            </a:pPr>
            <a:r>
              <a:rPr lang="es-ES" sz="1000" dirty="0">
                <a:solidFill>
                  <a:srgbClr val="09534E"/>
                </a:solidFill>
                <a:latin typeface="Arial"/>
                <a:cs typeface="Arial"/>
              </a:rPr>
              <a:t>la orquestación del razonamiento</a:t>
            </a:r>
          </a:p>
        </p:txBody>
      </p:sp>
      <p:sp>
        <p:nvSpPr>
          <p:cNvPr id="141" name="Chip 20">
            <a:extLst>
              <a:ext uri="{FF2B5EF4-FFF2-40B4-BE49-F238E27FC236}">
                <a16:creationId xmlns:a16="http://schemas.microsoft.com/office/drawing/2014/main" id="{7BB00603-6530-1560-5BEF-470B6C2D6A39}"/>
              </a:ext>
            </a:extLst>
          </p:cNvPr>
          <p:cNvSpPr/>
          <p:nvPr/>
        </p:nvSpPr>
        <p:spPr>
          <a:xfrm>
            <a:off x="11125200" y="4659707"/>
            <a:ext cx="2700000" cy="984000"/>
          </a:xfrm>
          <a:prstGeom prst="roundRect">
            <a:avLst>
              <a:gd name="adj" fmla="val 16000"/>
            </a:avLst>
          </a:prstGeom>
          <a:solidFill>
            <a:srgbClr val="4FA8E0"/>
          </a:solidFill>
          <a:ln>
            <a:noFill/>
          </a:ln>
          <a:effectLst>
            <a:outerShdw blurRad="50800" dist="38100" dir="2700000" algn="tl" rotWithShape="0">
              <a:prstClr val="black">
                <a:alpha val="40000"/>
              </a:prstClr>
            </a:outerShdw>
          </a:effectLst>
        </p:spPr>
        <p:txBody>
          <a:bodyPr wrap="square" lIns="0" tIns="0" rIns="0" bIns="0" anchor="t">
            <a:normAutofit/>
          </a:bodyPr>
          <a:lstStyle/>
          <a:p>
            <a:endParaRPr lang="es-ES"/>
          </a:p>
        </p:txBody>
      </p:sp>
      <p:sp>
        <p:nvSpPr>
          <p:cNvPr id="143" name="Chip 20">
            <a:extLst>
              <a:ext uri="{FF2B5EF4-FFF2-40B4-BE49-F238E27FC236}">
                <a16:creationId xmlns:a16="http://schemas.microsoft.com/office/drawing/2014/main" id="{DBBB390F-B814-15C9-F209-832C5F3905A5}"/>
              </a:ext>
            </a:extLst>
          </p:cNvPr>
          <p:cNvSpPr/>
          <p:nvPr/>
        </p:nvSpPr>
        <p:spPr>
          <a:xfrm>
            <a:off x="14076773" y="4659707"/>
            <a:ext cx="2700000" cy="984000"/>
          </a:xfrm>
          <a:prstGeom prst="roundRect">
            <a:avLst>
              <a:gd name="adj" fmla="val 16000"/>
            </a:avLst>
          </a:prstGeom>
          <a:solidFill>
            <a:srgbClr val="4FA8E0"/>
          </a:solidFill>
          <a:ln>
            <a:noFill/>
          </a:ln>
          <a:effectLst>
            <a:outerShdw blurRad="50800" dist="38100" dir="2700000" algn="tl" rotWithShape="0">
              <a:prstClr val="black">
                <a:alpha val="40000"/>
              </a:prstClr>
            </a:outerShdw>
          </a:effectLst>
        </p:spPr>
        <p:txBody>
          <a:bodyPr wrap="square" lIns="0" tIns="0" rIns="0" bIns="0" anchor="t">
            <a:normAutofit/>
          </a:bodyPr>
          <a:lstStyle/>
          <a:p>
            <a:endParaRPr lang="es-ES"/>
          </a:p>
        </p:txBody>
      </p:sp>
      <p:sp>
        <p:nvSpPr>
          <p:cNvPr id="145" name="Chip texto 27">
            <a:extLst>
              <a:ext uri="{FF2B5EF4-FFF2-40B4-BE49-F238E27FC236}">
                <a16:creationId xmlns:a16="http://schemas.microsoft.com/office/drawing/2014/main" id="{39BB3F97-EC73-1D3B-B95D-284B60DDAE35}"/>
              </a:ext>
            </a:extLst>
          </p:cNvPr>
          <p:cNvSpPr txBox="1"/>
          <p:nvPr/>
        </p:nvSpPr>
        <p:spPr>
          <a:xfrm>
            <a:off x="11332979" y="4619217"/>
            <a:ext cx="2298792" cy="984000"/>
          </a:xfrm>
          <a:prstGeom prst="rect">
            <a:avLst/>
          </a:prstGeom>
          <a:noFill/>
          <a:ln>
            <a:noFill/>
          </a:ln>
        </p:spPr>
        <p:txBody>
          <a:bodyPr wrap="square" lIns="0" tIns="0" rIns="0" bIns="0" anchor="ctr">
            <a:normAutofit/>
          </a:bodyPr>
          <a:lstStyle/>
          <a:p>
            <a:pPr marL="0" indent="0" algn="ctr">
              <a:spcBef>
                <a:spcPts val="0"/>
              </a:spcBef>
              <a:spcAft>
                <a:spcPts val="110"/>
              </a:spcAft>
              <a:buNone/>
            </a:pPr>
            <a:r>
              <a:rPr lang="es-ES" sz="1350" b="1" dirty="0">
                <a:solidFill>
                  <a:srgbClr val="10635A"/>
                </a:solidFill>
                <a:latin typeface="Arial"/>
                <a:cs typeface="Arial"/>
              </a:rPr>
              <a:t>Ontology</a:t>
            </a:r>
          </a:p>
          <a:p>
            <a:pPr marL="0" indent="0" algn="ctr">
              <a:spcBef>
                <a:spcPts val="0"/>
              </a:spcBef>
              <a:spcAft>
                <a:spcPts val="0"/>
              </a:spcAft>
              <a:buNone/>
            </a:pPr>
            <a:r>
              <a:rPr lang="es-ES" sz="1000" dirty="0">
                <a:solidFill>
                  <a:srgbClr val="09534E"/>
                </a:solidFill>
                <a:latin typeface="Arial"/>
                <a:cs typeface="Arial"/>
              </a:rPr>
              <a:t>el modelo de conocimiento del negocio</a:t>
            </a:r>
          </a:p>
        </p:txBody>
      </p:sp>
      <p:sp>
        <p:nvSpPr>
          <p:cNvPr id="147" name="Chip texto 29">
            <a:extLst>
              <a:ext uri="{FF2B5EF4-FFF2-40B4-BE49-F238E27FC236}">
                <a16:creationId xmlns:a16="http://schemas.microsoft.com/office/drawing/2014/main" id="{6A84F799-E0EC-4E78-BE6C-10C954936446}"/>
              </a:ext>
            </a:extLst>
          </p:cNvPr>
          <p:cNvSpPr txBox="1"/>
          <p:nvPr/>
        </p:nvSpPr>
        <p:spPr>
          <a:xfrm>
            <a:off x="14289276" y="4589411"/>
            <a:ext cx="2274993" cy="984000"/>
          </a:xfrm>
          <a:prstGeom prst="rect">
            <a:avLst/>
          </a:prstGeom>
          <a:noFill/>
          <a:ln>
            <a:noFill/>
          </a:ln>
        </p:spPr>
        <p:txBody>
          <a:bodyPr wrap="square" lIns="0" tIns="0" rIns="0" bIns="0" anchor="ctr">
            <a:normAutofit/>
          </a:bodyPr>
          <a:lstStyle/>
          <a:p>
            <a:pPr marL="0" indent="0" algn="ctr">
              <a:spcBef>
                <a:spcPts val="0"/>
              </a:spcBef>
              <a:spcAft>
                <a:spcPts val="110"/>
              </a:spcAft>
              <a:buNone/>
            </a:pPr>
            <a:r>
              <a:rPr lang="es-ES" sz="1350" b="1" dirty="0">
                <a:solidFill>
                  <a:srgbClr val="10635A"/>
                </a:solidFill>
                <a:latin typeface="Arial"/>
                <a:cs typeface="Arial"/>
              </a:rPr>
              <a:t>Graph</a:t>
            </a:r>
          </a:p>
          <a:p>
            <a:pPr marL="0" indent="0" algn="ctr">
              <a:spcBef>
                <a:spcPts val="0"/>
              </a:spcBef>
              <a:spcAft>
                <a:spcPts val="0"/>
              </a:spcAft>
              <a:buNone/>
            </a:pPr>
            <a:r>
              <a:rPr lang="es-ES" sz="1000" dirty="0">
                <a:solidFill>
                  <a:srgbClr val="09534E"/>
                </a:solidFill>
                <a:latin typeface="Arial"/>
                <a:cs typeface="Arial"/>
              </a:rPr>
              <a:t>el grafo que materializa las relaciones</a:t>
            </a:r>
          </a:p>
        </p:txBody>
      </p:sp>
      <p:sp>
        <p:nvSpPr>
          <p:cNvPr id="149" name="Chip 20">
            <a:extLst>
              <a:ext uri="{FF2B5EF4-FFF2-40B4-BE49-F238E27FC236}">
                <a16:creationId xmlns:a16="http://schemas.microsoft.com/office/drawing/2014/main" id="{C07DA16B-390B-73E2-BC58-A851D548311D}"/>
              </a:ext>
            </a:extLst>
          </p:cNvPr>
          <p:cNvSpPr/>
          <p:nvPr/>
        </p:nvSpPr>
        <p:spPr>
          <a:xfrm>
            <a:off x="12409875" y="6040421"/>
            <a:ext cx="2880000" cy="984000"/>
          </a:xfrm>
          <a:prstGeom prst="roundRect">
            <a:avLst>
              <a:gd name="adj" fmla="val 16000"/>
            </a:avLst>
          </a:prstGeom>
          <a:solidFill>
            <a:srgbClr val="145A96"/>
          </a:solidFill>
          <a:ln>
            <a:noFill/>
          </a:ln>
          <a:effectLst>
            <a:outerShdw blurRad="50800" dist="38100" dir="2700000" algn="tl" rotWithShape="0">
              <a:prstClr val="black">
                <a:alpha val="40000"/>
              </a:prstClr>
            </a:outerShdw>
          </a:effectLst>
        </p:spPr>
        <p:txBody>
          <a:bodyPr wrap="square" lIns="0" tIns="0" rIns="0" bIns="0" anchor="t">
            <a:normAutofit/>
          </a:bodyPr>
          <a:lstStyle/>
          <a:p>
            <a:endParaRPr lang="es-ES"/>
          </a:p>
        </p:txBody>
      </p:sp>
      <p:sp>
        <p:nvSpPr>
          <p:cNvPr id="151" name="Chip 20">
            <a:extLst>
              <a:ext uri="{FF2B5EF4-FFF2-40B4-BE49-F238E27FC236}">
                <a16:creationId xmlns:a16="http://schemas.microsoft.com/office/drawing/2014/main" id="{AA8017A8-629A-E47B-B469-600040F1A08E}"/>
              </a:ext>
            </a:extLst>
          </p:cNvPr>
          <p:cNvSpPr/>
          <p:nvPr/>
        </p:nvSpPr>
        <p:spPr>
          <a:xfrm>
            <a:off x="12403992" y="7322339"/>
            <a:ext cx="2880000" cy="984000"/>
          </a:xfrm>
          <a:prstGeom prst="roundRect">
            <a:avLst>
              <a:gd name="adj" fmla="val 16000"/>
            </a:avLst>
          </a:prstGeom>
          <a:solidFill>
            <a:srgbClr val="0A3A63"/>
          </a:solidFill>
          <a:ln>
            <a:noFill/>
          </a:ln>
          <a:effectLst>
            <a:outerShdw blurRad="50800" dist="38100" dir="2700000" algn="tl" rotWithShape="0">
              <a:prstClr val="black">
                <a:alpha val="40000"/>
              </a:prstClr>
            </a:outerShdw>
          </a:effectLst>
        </p:spPr>
        <p:txBody>
          <a:bodyPr wrap="square" lIns="0" tIns="0" rIns="0" bIns="0" anchor="t">
            <a:normAutofit/>
          </a:bodyPr>
          <a:lstStyle/>
          <a:p>
            <a:endParaRPr lang="es-ES"/>
          </a:p>
        </p:txBody>
      </p:sp>
      <p:sp>
        <p:nvSpPr>
          <p:cNvPr id="161" name="Chip texto 35">
            <a:extLst>
              <a:ext uri="{FF2B5EF4-FFF2-40B4-BE49-F238E27FC236}">
                <a16:creationId xmlns:a16="http://schemas.microsoft.com/office/drawing/2014/main" id="{2F674264-83E4-3E76-C961-94AC63D30AE5}"/>
              </a:ext>
            </a:extLst>
          </p:cNvPr>
          <p:cNvSpPr txBox="1"/>
          <p:nvPr/>
        </p:nvSpPr>
        <p:spPr>
          <a:xfrm>
            <a:off x="11757992" y="5999933"/>
            <a:ext cx="4020000" cy="984000"/>
          </a:xfrm>
          <a:prstGeom prst="rect">
            <a:avLst/>
          </a:prstGeom>
          <a:noFill/>
          <a:ln>
            <a:noFill/>
          </a:ln>
        </p:spPr>
        <p:txBody>
          <a:bodyPr wrap="square" lIns="0" tIns="0" rIns="0" bIns="0" anchor="ctr">
            <a:normAutofit/>
          </a:bodyPr>
          <a:lstStyle/>
          <a:p>
            <a:pPr marL="0" indent="0" algn="ctr">
              <a:spcBef>
                <a:spcPts val="0"/>
              </a:spcBef>
              <a:spcAft>
                <a:spcPts val="110"/>
              </a:spcAft>
              <a:buNone/>
            </a:pPr>
            <a:r>
              <a:rPr lang="es-ES" sz="1350" b="1" dirty="0">
                <a:solidFill>
                  <a:srgbClr val="FFFFFF"/>
                </a:solidFill>
                <a:latin typeface="Arial"/>
                <a:cs typeface="Arial"/>
              </a:rPr>
              <a:t>Semantic Models</a:t>
            </a:r>
          </a:p>
          <a:p>
            <a:pPr marL="0" indent="0" algn="ctr">
              <a:spcBef>
                <a:spcPts val="0"/>
              </a:spcBef>
              <a:spcAft>
                <a:spcPts val="0"/>
              </a:spcAft>
              <a:buNone/>
            </a:pPr>
            <a:r>
              <a:rPr lang="es-ES" sz="1000" dirty="0">
                <a:solidFill>
                  <a:srgbClr val="E4F7EE"/>
                </a:solidFill>
                <a:latin typeface="Arial"/>
                <a:cs typeface="Arial"/>
              </a:rPr>
              <a:t>tu punto de partida en producción</a:t>
            </a:r>
          </a:p>
        </p:txBody>
      </p:sp>
      <p:sp>
        <p:nvSpPr>
          <p:cNvPr id="163" name="Chip texto 41">
            <a:extLst>
              <a:ext uri="{FF2B5EF4-FFF2-40B4-BE49-F238E27FC236}">
                <a16:creationId xmlns:a16="http://schemas.microsoft.com/office/drawing/2014/main" id="{53D37D39-F056-4030-56B8-A3287BD36E00}"/>
              </a:ext>
            </a:extLst>
          </p:cNvPr>
          <p:cNvSpPr txBox="1"/>
          <p:nvPr/>
        </p:nvSpPr>
        <p:spPr>
          <a:xfrm>
            <a:off x="12577738" y="7328938"/>
            <a:ext cx="2509861" cy="984000"/>
          </a:xfrm>
          <a:prstGeom prst="rect">
            <a:avLst/>
          </a:prstGeom>
          <a:noFill/>
          <a:ln>
            <a:noFill/>
          </a:ln>
          <a:effectLst>
            <a:outerShdw blurRad="50800" dist="38100" dir="2700000" algn="tl" rotWithShape="0">
              <a:prstClr val="black">
                <a:alpha val="40000"/>
              </a:prstClr>
            </a:outerShdw>
          </a:effectLst>
        </p:spPr>
        <p:txBody>
          <a:bodyPr wrap="square" lIns="0" tIns="0" rIns="0" bIns="0" anchor="ctr">
            <a:normAutofit/>
          </a:bodyPr>
          <a:lstStyle/>
          <a:p>
            <a:pPr marL="0" indent="0" algn="ctr">
              <a:spcBef>
                <a:spcPts val="0"/>
              </a:spcBef>
              <a:spcAft>
                <a:spcPts val="110"/>
              </a:spcAft>
              <a:buNone/>
            </a:pPr>
            <a:r>
              <a:rPr lang="es-ES" sz="1350" b="1" dirty="0">
                <a:solidFill>
                  <a:srgbClr val="FFFFFF"/>
                </a:solidFill>
                <a:latin typeface="Arial"/>
                <a:cs typeface="Arial"/>
              </a:rPr>
              <a:t>OneLake</a:t>
            </a:r>
          </a:p>
          <a:p>
            <a:pPr marL="0" indent="0" algn="ctr">
              <a:spcBef>
                <a:spcPts val="0"/>
              </a:spcBef>
              <a:spcAft>
                <a:spcPts val="0"/>
              </a:spcAft>
              <a:buNone/>
            </a:pPr>
            <a:r>
              <a:rPr lang="es-ES" sz="1000" dirty="0">
                <a:solidFill>
                  <a:srgbClr val="E4F7EE"/>
                </a:solidFill>
                <a:latin typeface="Arial"/>
                <a:cs typeface="Arial"/>
              </a:rPr>
              <a:t>la base unificada de todos tus datos</a:t>
            </a:r>
          </a:p>
        </p:txBody>
      </p:sp>
    </p:spTree>
    <p:extLst>
      <p:ext uri="{BB962C8B-B14F-4D97-AF65-F5344CB8AC3E}">
        <p14:creationId xmlns:p14="http://schemas.microsoft.com/office/powerpoint/2010/main" val="10763775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0704" y="566928"/>
            <a:ext cx="16184880" cy="1234440"/>
          </a:xfrm>
        </p:spPr>
        <p:txBody>
          <a:bodyPr/>
          <a:lstStyle/>
          <a:p>
            <a:r>
              <a:rPr sz="4000" b="1">
                <a:solidFill>
                  <a:srgbClr val="10635A"/>
                </a:solidFill>
                <a:latin typeface="Arial"/>
              </a:rPr>
              <a:t>De la capa gold a la capa ontológica</a:t>
            </a:r>
          </a:p>
        </p:txBody>
      </p:sp>
      <p:sp>
        <p:nvSpPr>
          <p:cNvPr id="3" name="TextBox 2"/>
          <p:cNvSpPr txBox="1"/>
          <p:nvPr/>
        </p:nvSpPr>
        <p:spPr>
          <a:xfrm>
            <a:off x="1060704" y="1783080"/>
            <a:ext cx="16184880" cy="411480"/>
          </a:xfrm>
          <a:prstGeom prst="rect">
            <a:avLst/>
          </a:prstGeom>
          <a:noFill/>
        </p:spPr>
        <p:txBody>
          <a:bodyPr wrap="square" lIns="0" tIns="0" rIns="0" bIns="0" anchor="t">
            <a:spAutoFit/>
          </a:bodyPr>
          <a:lstStyle/>
          <a:p>
            <a:pPr algn="l"/>
            <a:r>
              <a:rPr sz="1700" b="1" i="0">
                <a:solidFill>
                  <a:srgbClr val="1E8A7C"/>
                </a:solidFill>
                <a:latin typeface="Arial"/>
              </a:rPr>
              <a:t>1 · </a:t>
            </a:r>
            <a:r>
              <a:rPr sz="1700" b="1" i="0">
                <a:solidFill>
                  <a:srgbClr val="10635A"/>
                </a:solidFill>
                <a:latin typeface="Arial"/>
              </a:rPr>
              <a:t>La evolución del modelado de datos</a:t>
            </a:r>
          </a:p>
        </p:txBody>
      </p:sp>
      <p:sp>
        <p:nvSpPr>
          <p:cNvPr id="4" name="Rounded Rectangle 3"/>
          <p:cNvSpPr/>
          <p:nvPr/>
        </p:nvSpPr>
        <p:spPr>
          <a:xfrm>
            <a:off x="1060704" y="2240280"/>
            <a:ext cx="3611880" cy="1783080"/>
          </a:xfrm>
          <a:prstGeom prst="roundRect">
            <a:avLst>
              <a:gd name="adj" fmla="val 12000"/>
            </a:avLst>
          </a:prstGeom>
          <a:solidFill>
            <a:srgbClr val="C0E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1243584" y="2423160"/>
            <a:ext cx="3246120" cy="457200"/>
          </a:xfrm>
          <a:prstGeom prst="rect">
            <a:avLst/>
          </a:prstGeom>
          <a:noFill/>
        </p:spPr>
        <p:txBody>
          <a:bodyPr wrap="square" lIns="0" tIns="0" rIns="0" bIns="0" anchor="t">
            <a:spAutoFit/>
          </a:bodyPr>
          <a:lstStyle/>
          <a:p>
            <a:pPr algn="ctr"/>
            <a:r>
              <a:rPr sz="2200" b="1" i="0">
                <a:solidFill>
                  <a:srgbClr val="10635A"/>
                </a:solidFill>
                <a:latin typeface="Arial"/>
              </a:rPr>
              <a:t>Relacional</a:t>
            </a:r>
          </a:p>
        </p:txBody>
      </p:sp>
      <p:sp>
        <p:nvSpPr>
          <p:cNvPr id="6" name="TextBox 5"/>
          <p:cNvSpPr txBox="1"/>
          <p:nvPr/>
        </p:nvSpPr>
        <p:spPr>
          <a:xfrm>
            <a:off x="1289304" y="2898648"/>
            <a:ext cx="3154680" cy="640080"/>
          </a:xfrm>
          <a:prstGeom prst="rect">
            <a:avLst/>
          </a:prstGeom>
          <a:noFill/>
        </p:spPr>
        <p:txBody>
          <a:bodyPr wrap="square" lIns="0" tIns="0" rIns="0" bIns="0" anchor="t">
            <a:spAutoFit/>
          </a:bodyPr>
          <a:lstStyle/>
          <a:p>
            <a:pPr algn="ctr"/>
            <a:r>
              <a:rPr sz="1300" b="0" i="0">
                <a:solidFill>
                  <a:srgbClr val="10635A"/>
                </a:solidFill>
                <a:latin typeface="Arial"/>
              </a:rPr>
              <a:t>tablas · PK/FK · normalización</a:t>
            </a:r>
          </a:p>
        </p:txBody>
      </p:sp>
      <p:sp>
        <p:nvSpPr>
          <p:cNvPr id="7" name="TextBox 6"/>
          <p:cNvSpPr txBox="1"/>
          <p:nvPr/>
        </p:nvSpPr>
        <p:spPr>
          <a:xfrm>
            <a:off x="1243584" y="3538728"/>
            <a:ext cx="3246120" cy="365760"/>
          </a:xfrm>
          <a:prstGeom prst="rect">
            <a:avLst/>
          </a:prstGeom>
          <a:noFill/>
        </p:spPr>
        <p:txBody>
          <a:bodyPr wrap="square" lIns="0" tIns="0" rIns="0" bIns="0" anchor="t">
            <a:spAutoFit/>
          </a:bodyPr>
          <a:lstStyle/>
          <a:p>
            <a:pPr algn="ctr"/>
            <a:r>
              <a:rPr sz="1200" b="1" i="0">
                <a:solidFill>
                  <a:srgbClr val="1E8A7C"/>
                </a:solidFill>
                <a:latin typeface="Arial"/>
              </a:rPr>
              <a:t>¿Cómo se almacena?</a:t>
            </a:r>
          </a:p>
        </p:txBody>
      </p:sp>
      <p:cxnSp>
        <p:nvCxnSpPr>
          <p:cNvPr id="8" name="Connector 7"/>
          <p:cNvCxnSpPr/>
          <p:nvPr/>
        </p:nvCxnSpPr>
        <p:spPr>
          <a:xfrm>
            <a:off x="4764024" y="3131820"/>
            <a:ext cx="393192" cy="0"/>
          </a:xfrm>
          <a:prstGeom prst="line">
            <a:avLst/>
          </a:prstGeom>
          <a:ln w="31750">
            <a:solidFill>
              <a:srgbClr val="1E8A7C"/>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5248656" y="2240280"/>
            <a:ext cx="3611880" cy="1783080"/>
          </a:xfrm>
          <a:prstGeom prst="roundRect">
            <a:avLst>
              <a:gd name="adj" fmla="val 12000"/>
            </a:avLst>
          </a:prstGeom>
          <a:solidFill>
            <a:srgbClr val="8CEB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431536" y="2423160"/>
            <a:ext cx="3246120" cy="457200"/>
          </a:xfrm>
          <a:prstGeom prst="rect">
            <a:avLst/>
          </a:prstGeom>
          <a:noFill/>
        </p:spPr>
        <p:txBody>
          <a:bodyPr wrap="square" lIns="0" tIns="0" rIns="0" bIns="0" anchor="t">
            <a:spAutoFit/>
          </a:bodyPr>
          <a:lstStyle/>
          <a:p>
            <a:pPr algn="ctr"/>
            <a:r>
              <a:rPr sz="2200" b="1" i="0">
                <a:solidFill>
                  <a:srgbClr val="10635A"/>
                </a:solidFill>
                <a:latin typeface="Arial"/>
              </a:rPr>
              <a:t>Dimensional</a:t>
            </a:r>
          </a:p>
        </p:txBody>
      </p:sp>
      <p:sp>
        <p:nvSpPr>
          <p:cNvPr id="11" name="TextBox 10"/>
          <p:cNvSpPr txBox="1"/>
          <p:nvPr/>
        </p:nvSpPr>
        <p:spPr>
          <a:xfrm>
            <a:off x="5477256" y="2898648"/>
            <a:ext cx="3154680" cy="640080"/>
          </a:xfrm>
          <a:prstGeom prst="rect">
            <a:avLst/>
          </a:prstGeom>
          <a:noFill/>
        </p:spPr>
        <p:txBody>
          <a:bodyPr wrap="square" lIns="0" tIns="0" rIns="0" bIns="0" anchor="t">
            <a:spAutoFit/>
          </a:bodyPr>
          <a:lstStyle/>
          <a:p>
            <a:pPr algn="ctr"/>
            <a:r>
              <a:rPr sz="1300" b="0" i="0">
                <a:solidFill>
                  <a:srgbClr val="10635A"/>
                </a:solidFill>
                <a:latin typeface="Arial"/>
              </a:rPr>
              <a:t>estrella · snowflake · KPIs</a:t>
            </a:r>
          </a:p>
        </p:txBody>
      </p:sp>
      <p:sp>
        <p:nvSpPr>
          <p:cNvPr id="12" name="TextBox 11"/>
          <p:cNvSpPr txBox="1"/>
          <p:nvPr/>
        </p:nvSpPr>
        <p:spPr>
          <a:xfrm>
            <a:off x="5431536" y="3538728"/>
            <a:ext cx="3246120" cy="365760"/>
          </a:xfrm>
          <a:prstGeom prst="rect">
            <a:avLst/>
          </a:prstGeom>
          <a:noFill/>
        </p:spPr>
        <p:txBody>
          <a:bodyPr wrap="square" lIns="0" tIns="0" rIns="0" bIns="0" anchor="t">
            <a:spAutoFit/>
          </a:bodyPr>
          <a:lstStyle/>
          <a:p>
            <a:pPr algn="ctr"/>
            <a:r>
              <a:rPr sz="1200" b="1" i="0">
                <a:solidFill>
                  <a:srgbClr val="1E8A7C"/>
                </a:solidFill>
                <a:latin typeface="Arial"/>
              </a:rPr>
              <a:t>¿Cuánto y cuándo?</a:t>
            </a:r>
          </a:p>
        </p:txBody>
      </p:sp>
      <p:cxnSp>
        <p:nvCxnSpPr>
          <p:cNvPr id="13" name="Connector 12"/>
          <p:cNvCxnSpPr/>
          <p:nvPr/>
        </p:nvCxnSpPr>
        <p:spPr>
          <a:xfrm>
            <a:off x="8951976" y="3131820"/>
            <a:ext cx="393192" cy="0"/>
          </a:xfrm>
          <a:prstGeom prst="line">
            <a:avLst/>
          </a:prstGeom>
          <a:ln w="31750">
            <a:solidFill>
              <a:srgbClr val="1E8A7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9436608" y="2240280"/>
            <a:ext cx="3611880" cy="1783080"/>
          </a:xfrm>
          <a:prstGeom prst="roundRect">
            <a:avLst>
              <a:gd name="adj" fmla="val 12000"/>
            </a:avLst>
          </a:prstGeom>
          <a:solidFill>
            <a:srgbClr val="52C3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9619488" y="2423160"/>
            <a:ext cx="3246120" cy="457200"/>
          </a:xfrm>
          <a:prstGeom prst="rect">
            <a:avLst/>
          </a:prstGeom>
          <a:noFill/>
        </p:spPr>
        <p:txBody>
          <a:bodyPr wrap="square" lIns="0" tIns="0" rIns="0" bIns="0" anchor="t">
            <a:spAutoFit/>
          </a:bodyPr>
          <a:lstStyle/>
          <a:p>
            <a:pPr algn="ctr"/>
            <a:r>
              <a:rPr sz="2200" b="1" i="0">
                <a:solidFill>
                  <a:srgbClr val="FFFFFF"/>
                </a:solidFill>
                <a:latin typeface="Arial"/>
              </a:rPr>
              <a:t>Semántica</a:t>
            </a:r>
          </a:p>
        </p:txBody>
      </p:sp>
      <p:sp>
        <p:nvSpPr>
          <p:cNvPr id="16" name="TextBox 15"/>
          <p:cNvSpPr txBox="1"/>
          <p:nvPr/>
        </p:nvSpPr>
        <p:spPr>
          <a:xfrm>
            <a:off x="9665208" y="2898648"/>
            <a:ext cx="3154680" cy="640080"/>
          </a:xfrm>
          <a:prstGeom prst="rect">
            <a:avLst/>
          </a:prstGeom>
          <a:noFill/>
        </p:spPr>
        <p:txBody>
          <a:bodyPr wrap="square" lIns="0" tIns="0" rIns="0" bIns="0" anchor="t">
            <a:spAutoFit/>
          </a:bodyPr>
          <a:lstStyle/>
          <a:p>
            <a:pPr algn="ctr"/>
            <a:r>
              <a:rPr sz="1300" b="0" i="0">
                <a:solidFill>
                  <a:srgbClr val="FFFFFF"/>
                </a:solidFill>
                <a:latin typeface="Arial"/>
              </a:rPr>
              <a:t>medidas · relaciones · lenguaje de negocio</a:t>
            </a:r>
          </a:p>
        </p:txBody>
      </p:sp>
      <p:sp>
        <p:nvSpPr>
          <p:cNvPr id="17" name="TextBox 16"/>
          <p:cNvSpPr txBox="1"/>
          <p:nvPr/>
        </p:nvSpPr>
        <p:spPr>
          <a:xfrm>
            <a:off x="9619488" y="3538728"/>
            <a:ext cx="3246120" cy="365760"/>
          </a:xfrm>
          <a:prstGeom prst="rect">
            <a:avLst/>
          </a:prstGeom>
          <a:noFill/>
        </p:spPr>
        <p:txBody>
          <a:bodyPr wrap="square" lIns="0" tIns="0" rIns="0" bIns="0" anchor="t">
            <a:spAutoFit/>
          </a:bodyPr>
          <a:lstStyle/>
          <a:p>
            <a:pPr algn="ctr"/>
            <a:r>
              <a:rPr sz="1200" b="1" i="0">
                <a:solidFill>
                  <a:srgbClr val="FFFFFF"/>
                </a:solidFill>
                <a:latin typeface="Arial"/>
              </a:rPr>
              <a:t>¿Qué dice este KPI?</a:t>
            </a:r>
          </a:p>
        </p:txBody>
      </p:sp>
      <p:cxnSp>
        <p:nvCxnSpPr>
          <p:cNvPr id="18" name="Connector 17"/>
          <p:cNvCxnSpPr/>
          <p:nvPr/>
        </p:nvCxnSpPr>
        <p:spPr>
          <a:xfrm>
            <a:off x="13139928" y="3131820"/>
            <a:ext cx="393192" cy="0"/>
          </a:xfrm>
          <a:prstGeom prst="line">
            <a:avLst/>
          </a:prstGeom>
          <a:ln w="31750">
            <a:solidFill>
              <a:srgbClr val="1E8A7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13624560" y="2240280"/>
            <a:ext cx="3611880" cy="1783080"/>
          </a:xfrm>
          <a:prstGeom prst="roundRect">
            <a:avLst>
              <a:gd name="adj" fmla="val 12000"/>
            </a:avLst>
          </a:prstGeom>
          <a:solidFill>
            <a:srgbClr val="106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13807440" y="2423160"/>
            <a:ext cx="3246120" cy="457200"/>
          </a:xfrm>
          <a:prstGeom prst="rect">
            <a:avLst/>
          </a:prstGeom>
          <a:noFill/>
        </p:spPr>
        <p:txBody>
          <a:bodyPr wrap="square" lIns="0" tIns="0" rIns="0" bIns="0" anchor="t">
            <a:spAutoFit/>
          </a:bodyPr>
          <a:lstStyle/>
          <a:p>
            <a:pPr algn="ctr"/>
            <a:r>
              <a:rPr sz="2200" b="1" i="0">
                <a:solidFill>
                  <a:srgbClr val="FFFFFF"/>
                </a:solidFill>
                <a:latin typeface="Arial"/>
              </a:rPr>
              <a:t>Ontológica</a:t>
            </a:r>
          </a:p>
        </p:txBody>
      </p:sp>
      <p:sp>
        <p:nvSpPr>
          <p:cNvPr id="21" name="TextBox 20"/>
          <p:cNvSpPr txBox="1"/>
          <p:nvPr/>
        </p:nvSpPr>
        <p:spPr>
          <a:xfrm>
            <a:off x="13853160" y="2898648"/>
            <a:ext cx="3154680" cy="640080"/>
          </a:xfrm>
          <a:prstGeom prst="rect">
            <a:avLst/>
          </a:prstGeom>
          <a:noFill/>
        </p:spPr>
        <p:txBody>
          <a:bodyPr wrap="square" lIns="0" tIns="0" rIns="0" bIns="0" anchor="t">
            <a:spAutoFit/>
          </a:bodyPr>
          <a:lstStyle/>
          <a:p>
            <a:pPr algn="ctr"/>
            <a:r>
              <a:rPr sz="1300" b="0" i="0">
                <a:solidFill>
                  <a:srgbClr val="FFFFFF"/>
                </a:solidFill>
                <a:latin typeface="Arial"/>
              </a:rPr>
              <a:t>entidades · reglas · contexto · conocimiento</a:t>
            </a:r>
          </a:p>
        </p:txBody>
      </p:sp>
      <p:sp>
        <p:nvSpPr>
          <p:cNvPr id="22" name="TextBox 21"/>
          <p:cNvSpPr txBox="1"/>
          <p:nvPr/>
        </p:nvSpPr>
        <p:spPr>
          <a:xfrm>
            <a:off x="13807440" y="3538728"/>
            <a:ext cx="3246120" cy="365760"/>
          </a:xfrm>
          <a:prstGeom prst="rect">
            <a:avLst/>
          </a:prstGeom>
          <a:noFill/>
        </p:spPr>
        <p:txBody>
          <a:bodyPr wrap="square" lIns="0" tIns="0" rIns="0" bIns="0" anchor="t">
            <a:spAutoFit/>
          </a:bodyPr>
          <a:lstStyle/>
          <a:p>
            <a:pPr algn="ctr"/>
            <a:r>
              <a:rPr sz="1200" b="1" i="0">
                <a:solidFill>
                  <a:srgbClr val="7DE9B0"/>
                </a:solidFill>
                <a:latin typeface="Arial"/>
              </a:rPr>
              <a:t>¿Qué es y cómo se relaciona?</a:t>
            </a:r>
          </a:p>
        </p:txBody>
      </p:sp>
      <p:cxnSp>
        <p:nvCxnSpPr>
          <p:cNvPr id="23" name="Connector 22"/>
          <p:cNvCxnSpPr/>
          <p:nvPr/>
        </p:nvCxnSpPr>
        <p:spPr>
          <a:xfrm>
            <a:off x="15430500" y="4069080"/>
            <a:ext cx="0" cy="758952"/>
          </a:xfrm>
          <a:prstGeom prst="line">
            <a:avLst/>
          </a:prstGeom>
          <a:ln w="31750">
            <a:solidFill>
              <a:srgbClr val="1063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11864340" y="4251960"/>
            <a:ext cx="3383280" cy="365760"/>
          </a:xfrm>
          <a:prstGeom prst="rect">
            <a:avLst/>
          </a:prstGeom>
          <a:noFill/>
        </p:spPr>
        <p:txBody>
          <a:bodyPr wrap="square" lIns="0" tIns="0" rIns="0" bIns="0" anchor="ctr">
            <a:spAutoFit/>
          </a:bodyPr>
          <a:lstStyle/>
          <a:p>
            <a:pPr algn="r"/>
            <a:r>
              <a:rPr sz="1300" b="1" i="0">
                <a:solidFill>
                  <a:srgbClr val="10635A"/>
                </a:solidFill>
                <a:latin typeface="Arial"/>
              </a:rPr>
              <a:t>¿cómo llegamos?</a:t>
            </a:r>
          </a:p>
        </p:txBody>
      </p:sp>
      <p:sp>
        <p:nvSpPr>
          <p:cNvPr id="25" name="TextBox 24"/>
          <p:cNvSpPr txBox="1"/>
          <p:nvPr/>
        </p:nvSpPr>
        <p:spPr>
          <a:xfrm>
            <a:off x="1060704" y="4343400"/>
            <a:ext cx="10972800" cy="411480"/>
          </a:xfrm>
          <a:prstGeom prst="rect">
            <a:avLst/>
          </a:prstGeom>
          <a:noFill/>
        </p:spPr>
        <p:txBody>
          <a:bodyPr wrap="square" lIns="0" tIns="0" rIns="0" bIns="0" anchor="t">
            <a:spAutoFit/>
          </a:bodyPr>
          <a:lstStyle/>
          <a:p>
            <a:pPr algn="l"/>
            <a:r>
              <a:rPr sz="1700" b="1" i="0">
                <a:solidFill>
                  <a:srgbClr val="1E8A7C"/>
                </a:solidFill>
                <a:latin typeface="Arial"/>
              </a:rPr>
              <a:t>2 · </a:t>
            </a:r>
            <a:r>
              <a:rPr sz="1700" b="1" i="0">
                <a:solidFill>
                  <a:srgbClr val="10635A"/>
                </a:solidFill>
                <a:latin typeface="Arial"/>
              </a:rPr>
              <a:t>El siguiente paso después de gold</a:t>
            </a:r>
          </a:p>
        </p:txBody>
      </p:sp>
      <p:sp>
        <p:nvSpPr>
          <p:cNvPr id="26" name="Rounded Rectangle 25"/>
          <p:cNvSpPr/>
          <p:nvPr/>
        </p:nvSpPr>
        <p:spPr>
          <a:xfrm>
            <a:off x="1060704" y="4846320"/>
            <a:ext cx="16184880" cy="2057400"/>
          </a:xfrm>
          <a:prstGeom prst="roundRect">
            <a:avLst>
              <a:gd name="adj" fmla="val 8000"/>
            </a:avLst>
          </a:prstGeom>
          <a:solidFill>
            <a:srgbClr val="E4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Rounded Rectangle 26"/>
          <p:cNvSpPr/>
          <p:nvPr/>
        </p:nvSpPr>
        <p:spPr>
          <a:xfrm>
            <a:off x="1289304" y="5029200"/>
            <a:ext cx="3694176" cy="169164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Oval 27"/>
          <p:cNvSpPr/>
          <p:nvPr/>
        </p:nvSpPr>
        <p:spPr>
          <a:xfrm>
            <a:off x="1517904" y="5193792"/>
            <a:ext cx="548640" cy="548640"/>
          </a:xfrm>
          <a:prstGeom prst="ellipse">
            <a:avLst/>
          </a:prstGeom>
          <a:solidFill>
            <a:srgbClr val="10635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Arial"/>
              </a:rPr>
              <a:t>1</a:t>
            </a:r>
          </a:p>
        </p:txBody>
      </p:sp>
      <p:sp>
        <p:nvSpPr>
          <p:cNvPr id="29" name="TextBox 28"/>
          <p:cNvSpPr txBox="1"/>
          <p:nvPr/>
        </p:nvSpPr>
        <p:spPr>
          <a:xfrm>
            <a:off x="2203704" y="5193792"/>
            <a:ext cx="2596896" cy="548640"/>
          </a:xfrm>
          <a:prstGeom prst="rect">
            <a:avLst/>
          </a:prstGeom>
          <a:noFill/>
        </p:spPr>
        <p:txBody>
          <a:bodyPr wrap="square" lIns="0" tIns="0" rIns="0" bIns="0" anchor="ctr">
            <a:spAutoFit/>
          </a:bodyPr>
          <a:lstStyle/>
          <a:p>
            <a:pPr algn="l"/>
            <a:r>
              <a:rPr sz="2000" b="1" i="0">
                <a:solidFill>
                  <a:srgbClr val="10635A"/>
                </a:solidFill>
                <a:latin typeface="Arial"/>
              </a:rPr>
              <a:t>Parte</a:t>
            </a:r>
          </a:p>
        </p:txBody>
      </p:sp>
      <p:sp>
        <p:nvSpPr>
          <p:cNvPr id="30" name="TextBox 29"/>
          <p:cNvSpPr txBox="1"/>
          <p:nvPr/>
        </p:nvSpPr>
        <p:spPr>
          <a:xfrm>
            <a:off x="1563624" y="5870448"/>
            <a:ext cx="3145536" cy="777240"/>
          </a:xfrm>
          <a:prstGeom prst="rect">
            <a:avLst/>
          </a:prstGeom>
          <a:noFill/>
        </p:spPr>
        <p:txBody>
          <a:bodyPr wrap="square" lIns="0" tIns="0" rIns="0" bIns="0" anchor="t">
            <a:spAutoFit/>
          </a:bodyPr>
          <a:lstStyle/>
          <a:p>
            <a:pPr algn="l"/>
            <a:r>
              <a:rPr sz="1400" b="0" i="0">
                <a:solidFill>
                  <a:srgbClr val="2B3A38"/>
                </a:solidFill>
                <a:latin typeface="Arial"/>
              </a:rPr>
              <a:t>de tu modelo semántico en producción</a:t>
            </a:r>
          </a:p>
        </p:txBody>
      </p:sp>
      <p:cxnSp>
        <p:nvCxnSpPr>
          <p:cNvPr id="31" name="Connector 30"/>
          <p:cNvCxnSpPr/>
          <p:nvPr/>
        </p:nvCxnSpPr>
        <p:spPr>
          <a:xfrm>
            <a:off x="5020056" y="5870448"/>
            <a:ext cx="246888" cy="0"/>
          </a:xfrm>
          <a:prstGeom prst="line">
            <a:avLst/>
          </a:prstGeom>
          <a:ln w="31750">
            <a:solidFill>
              <a:srgbClr val="1E8A7C"/>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5303520" y="5029200"/>
            <a:ext cx="3694176" cy="169164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Oval 32"/>
          <p:cNvSpPr/>
          <p:nvPr/>
        </p:nvSpPr>
        <p:spPr>
          <a:xfrm>
            <a:off x="5532120" y="5193792"/>
            <a:ext cx="548640" cy="548640"/>
          </a:xfrm>
          <a:prstGeom prst="ellipse">
            <a:avLst/>
          </a:prstGeom>
          <a:solidFill>
            <a:srgbClr val="10635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Arial"/>
              </a:rPr>
              <a:t>2</a:t>
            </a:r>
          </a:p>
        </p:txBody>
      </p:sp>
      <p:sp>
        <p:nvSpPr>
          <p:cNvPr id="34" name="TextBox 33"/>
          <p:cNvSpPr txBox="1"/>
          <p:nvPr/>
        </p:nvSpPr>
        <p:spPr>
          <a:xfrm>
            <a:off x="6217920" y="5193792"/>
            <a:ext cx="2596896" cy="548640"/>
          </a:xfrm>
          <a:prstGeom prst="rect">
            <a:avLst/>
          </a:prstGeom>
          <a:noFill/>
        </p:spPr>
        <p:txBody>
          <a:bodyPr wrap="square" lIns="0" tIns="0" rIns="0" bIns="0" anchor="ctr">
            <a:spAutoFit/>
          </a:bodyPr>
          <a:lstStyle/>
          <a:p>
            <a:pPr algn="l"/>
            <a:r>
              <a:rPr sz="2000" b="1" i="0">
                <a:solidFill>
                  <a:srgbClr val="10635A"/>
                </a:solidFill>
                <a:latin typeface="Arial"/>
              </a:rPr>
              <a:t>Modela</a:t>
            </a:r>
          </a:p>
        </p:txBody>
      </p:sp>
      <p:sp>
        <p:nvSpPr>
          <p:cNvPr id="35" name="TextBox 34"/>
          <p:cNvSpPr txBox="1"/>
          <p:nvPr/>
        </p:nvSpPr>
        <p:spPr>
          <a:xfrm>
            <a:off x="5577840" y="5870448"/>
            <a:ext cx="3145536" cy="777240"/>
          </a:xfrm>
          <a:prstGeom prst="rect">
            <a:avLst/>
          </a:prstGeom>
          <a:noFill/>
        </p:spPr>
        <p:txBody>
          <a:bodyPr wrap="square" lIns="0" tIns="0" rIns="0" bIns="0" anchor="t">
            <a:spAutoFit/>
          </a:bodyPr>
          <a:lstStyle/>
          <a:p>
            <a:pPr algn="l"/>
            <a:r>
              <a:rPr sz="1400" b="0" i="0">
                <a:solidFill>
                  <a:srgbClr val="2B3A38"/>
                </a:solidFill>
                <a:latin typeface="Arial"/>
              </a:rPr>
              <a:t>entidades, relaciones y reglas</a:t>
            </a:r>
          </a:p>
        </p:txBody>
      </p:sp>
      <p:cxnSp>
        <p:nvCxnSpPr>
          <p:cNvPr id="36" name="Connector 35"/>
          <p:cNvCxnSpPr/>
          <p:nvPr/>
        </p:nvCxnSpPr>
        <p:spPr>
          <a:xfrm>
            <a:off x="9034272" y="5870448"/>
            <a:ext cx="246888" cy="0"/>
          </a:xfrm>
          <a:prstGeom prst="line">
            <a:avLst/>
          </a:prstGeom>
          <a:ln w="31750">
            <a:solidFill>
              <a:srgbClr val="1E8A7C"/>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9317736" y="5029200"/>
            <a:ext cx="3694176" cy="169164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Oval 37"/>
          <p:cNvSpPr/>
          <p:nvPr/>
        </p:nvSpPr>
        <p:spPr>
          <a:xfrm>
            <a:off x="9546336" y="5193792"/>
            <a:ext cx="548640" cy="548640"/>
          </a:xfrm>
          <a:prstGeom prst="ellipse">
            <a:avLst/>
          </a:prstGeom>
          <a:solidFill>
            <a:srgbClr val="10635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Arial"/>
              </a:rPr>
              <a:t>3</a:t>
            </a:r>
          </a:p>
        </p:txBody>
      </p:sp>
      <p:sp>
        <p:nvSpPr>
          <p:cNvPr id="39" name="TextBox 38"/>
          <p:cNvSpPr txBox="1"/>
          <p:nvPr/>
        </p:nvSpPr>
        <p:spPr>
          <a:xfrm>
            <a:off x="10232136" y="5193792"/>
            <a:ext cx="2596896" cy="548640"/>
          </a:xfrm>
          <a:prstGeom prst="rect">
            <a:avLst/>
          </a:prstGeom>
          <a:noFill/>
        </p:spPr>
        <p:txBody>
          <a:bodyPr wrap="square" lIns="0" tIns="0" rIns="0" bIns="0" anchor="ctr">
            <a:spAutoFit/>
          </a:bodyPr>
          <a:lstStyle/>
          <a:p>
            <a:pPr algn="l"/>
            <a:r>
              <a:rPr sz="2000" b="1" i="0">
                <a:solidFill>
                  <a:srgbClr val="10635A"/>
                </a:solidFill>
                <a:latin typeface="Arial"/>
              </a:rPr>
              <a:t>Enlaza</a:t>
            </a:r>
          </a:p>
        </p:txBody>
      </p:sp>
      <p:sp>
        <p:nvSpPr>
          <p:cNvPr id="40" name="TextBox 39"/>
          <p:cNvSpPr txBox="1"/>
          <p:nvPr/>
        </p:nvSpPr>
        <p:spPr>
          <a:xfrm>
            <a:off x="9592056" y="5870448"/>
            <a:ext cx="3145536" cy="777240"/>
          </a:xfrm>
          <a:prstGeom prst="rect">
            <a:avLst/>
          </a:prstGeom>
          <a:noFill/>
        </p:spPr>
        <p:txBody>
          <a:bodyPr wrap="square" lIns="0" tIns="0" rIns="0" bIns="0" anchor="t">
            <a:spAutoFit/>
          </a:bodyPr>
          <a:lstStyle/>
          <a:p>
            <a:pPr algn="l"/>
            <a:r>
              <a:rPr sz="1400" b="0" i="0">
                <a:solidFill>
                  <a:srgbClr val="2B3A38"/>
                </a:solidFill>
                <a:latin typeface="Arial"/>
              </a:rPr>
              <a:t>binding a datos batch y tiempo real</a:t>
            </a:r>
          </a:p>
        </p:txBody>
      </p:sp>
      <p:cxnSp>
        <p:nvCxnSpPr>
          <p:cNvPr id="41" name="Connector 40"/>
          <p:cNvCxnSpPr/>
          <p:nvPr/>
        </p:nvCxnSpPr>
        <p:spPr>
          <a:xfrm>
            <a:off x="13048488" y="5870448"/>
            <a:ext cx="246888" cy="0"/>
          </a:xfrm>
          <a:prstGeom prst="line">
            <a:avLst/>
          </a:prstGeom>
          <a:ln w="31750">
            <a:solidFill>
              <a:srgbClr val="1E8A7C"/>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13331951" y="5029200"/>
            <a:ext cx="3694176" cy="169164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Oval 42"/>
          <p:cNvSpPr/>
          <p:nvPr/>
        </p:nvSpPr>
        <p:spPr>
          <a:xfrm>
            <a:off x="13560551" y="5193792"/>
            <a:ext cx="548640" cy="548640"/>
          </a:xfrm>
          <a:prstGeom prst="ellipse">
            <a:avLst/>
          </a:prstGeom>
          <a:solidFill>
            <a:srgbClr val="10635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Arial"/>
              </a:rPr>
              <a:t>4</a:t>
            </a:r>
          </a:p>
        </p:txBody>
      </p:sp>
      <p:sp>
        <p:nvSpPr>
          <p:cNvPr id="44" name="TextBox 43"/>
          <p:cNvSpPr txBox="1"/>
          <p:nvPr/>
        </p:nvSpPr>
        <p:spPr>
          <a:xfrm>
            <a:off x="14246351" y="5193792"/>
            <a:ext cx="2596896" cy="548640"/>
          </a:xfrm>
          <a:prstGeom prst="rect">
            <a:avLst/>
          </a:prstGeom>
          <a:noFill/>
        </p:spPr>
        <p:txBody>
          <a:bodyPr wrap="square" lIns="0" tIns="0" rIns="0" bIns="0" anchor="ctr">
            <a:spAutoFit/>
          </a:bodyPr>
          <a:lstStyle/>
          <a:p>
            <a:pPr algn="l"/>
            <a:r>
              <a:rPr sz="2000" b="1" i="0">
                <a:solidFill>
                  <a:srgbClr val="10635A"/>
                </a:solidFill>
                <a:latin typeface="Arial"/>
              </a:rPr>
              <a:t>Expón</a:t>
            </a:r>
          </a:p>
        </p:txBody>
      </p:sp>
      <p:sp>
        <p:nvSpPr>
          <p:cNvPr id="45" name="TextBox 44"/>
          <p:cNvSpPr txBox="1"/>
          <p:nvPr/>
        </p:nvSpPr>
        <p:spPr>
          <a:xfrm>
            <a:off x="13606272" y="5870448"/>
            <a:ext cx="3145536" cy="777240"/>
          </a:xfrm>
          <a:prstGeom prst="rect">
            <a:avLst/>
          </a:prstGeom>
          <a:noFill/>
        </p:spPr>
        <p:txBody>
          <a:bodyPr wrap="square" lIns="0" tIns="0" rIns="0" bIns="0" anchor="t">
            <a:spAutoFit/>
          </a:bodyPr>
          <a:lstStyle/>
          <a:p>
            <a:pPr algn="l"/>
            <a:r>
              <a:rPr sz="1400" b="0" i="0">
                <a:solidFill>
                  <a:srgbClr val="2B3A38"/>
                </a:solidFill>
                <a:latin typeface="Arial"/>
              </a:rPr>
              <a:t>a Data Agents, Ops Agents y MCP</a:t>
            </a:r>
          </a:p>
        </p:txBody>
      </p:sp>
      <p:sp>
        <p:nvSpPr>
          <p:cNvPr id="80" name="Contraste 80"/>
          <p:cNvSpPr/>
          <p:nvPr/>
        </p:nvSpPr>
        <p:spPr>
          <a:xfrm>
            <a:off x="1060704" y="7223760"/>
            <a:ext cx="7589519" cy="1280160"/>
          </a:xfrm>
          <a:prstGeom prst="roundRect">
            <a:avLst>
              <a:gd name="adj" fmla="val 18000"/>
            </a:avLst>
          </a:prstGeom>
          <a:solidFill>
            <a:srgbClr val="E4F7EE"/>
          </a:solidFill>
          <a:ln>
            <a:noFill/>
          </a:ln>
          <a:effectLst>
            <a:outerShdw blurRad="50800" dist="25400" dir="5400000" algn="t" rotWithShape="0">
              <a:prstClr val="black">
                <a:alpha val="25000"/>
              </a:prstClr>
            </a:outerShdw>
          </a:effectLst>
        </p:spPr>
        <p:txBody>
          <a:bodyPr wrap="square" lIns="182880" tIns="0" rIns="182880" bIns="0" anchor="ctr">
            <a:noAutofit/>
          </a:bodyPr>
          <a:lstStyle/>
          <a:p>
            <a:pPr algn="ctr">
              <a:spcAft>
                <a:spcPts val="200"/>
              </a:spcAft>
            </a:pPr>
            <a:r>
              <a:rPr lang="es-ES" sz="1800" b="1" cap="all" spc="100" dirty="0">
                <a:solidFill>
                  <a:srgbClr val="1E8A7C"/>
                </a:solidFill>
                <a:latin typeface="Arial"/>
                <a:cs typeface="Arial"/>
              </a:rPr>
              <a:t>Capa semántica</a:t>
            </a:r>
          </a:p>
          <a:p>
            <a:pPr algn="ctr"/>
            <a:r>
              <a:rPr lang="es-ES" sz="3200" b="1" dirty="0">
                <a:solidFill>
                  <a:srgbClr val="10635A"/>
                </a:solidFill>
                <a:latin typeface="Arial"/>
                <a:cs typeface="Arial"/>
              </a:rPr>
              <a:t>responde preguntas</a:t>
            </a:r>
          </a:p>
        </p:txBody>
      </p:sp>
      <p:sp>
        <p:nvSpPr>
          <p:cNvPr id="82" name="Contraste flecha"/>
          <p:cNvSpPr/>
          <p:nvPr/>
        </p:nvSpPr>
        <p:spPr>
          <a:xfrm>
            <a:off x="8823959" y="7534656"/>
            <a:ext cx="658368" cy="658368"/>
          </a:xfrm>
          <a:prstGeom prst="ellipse">
            <a:avLst/>
          </a:prstGeom>
          <a:solidFill>
            <a:srgbClr val="52C3A5"/>
          </a:solidFill>
          <a:ln>
            <a:noFill/>
          </a:ln>
        </p:spPr>
        <p:txBody>
          <a:bodyPr wrap="none" lIns="0" tIns="0" rIns="0" bIns="0" anchor="ctr">
            <a:noAutofit/>
          </a:bodyPr>
          <a:lstStyle/>
          <a:p>
            <a:pPr algn="ctr"/>
            <a:r>
              <a:rPr lang="es-ES" sz="2800" b="1" dirty="0">
                <a:solidFill>
                  <a:srgbClr val="FFFFFF"/>
                </a:solidFill>
                <a:latin typeface="Arial"/>
                <a:cs typeface="Arial"/>
              </a:rPr>
              <a:t>→</a:t>
            </a:r>
          </a:p>
        </p:txBody>
      </p:sp>
      <p:sp>
        <p:nvSpPr>
          <p:cNvPr id="81" name="Contraste 81"/>
          <p:cNvSpPr/>
          <p:nvPr/>
        </p:nvSpPr>
        <p:spPr>
          <a:xfrm>
            <a:off x="9656063" y="7223760"/>
            <a:ext cx="7589519" cy="1280160"/>
          </a:xfrm>
          <a:prstGeom prst="roundRect">
            <a:avLst>
              <a:gd name="adj" fmla="val 18000"/>
            </a:avLst>
          </a:prstGeom>
          <a:solidFill>
            <a:srgbClr val="09534E"/>
          </a:solidFill>
          <a:ln>
            <a:noFill/>
          </a:ln>
          <a:effectLst>
            <a:outerShdw blurRad="50800" dist="25400" dir="5400000" algn="t" rotWithShape="0">
              <a:prstClr val="black">
                <a:alpha val="25000"/>
              </a:prstClr>
            </a:outerShdw>
          </a:effectLst>
        </p:spPr>
        <p:txBody>
          <a:bodyPr wrap="square" lIns="182880" tIns="0" rIns="182880" bIns="0" anchor="ctr">
            <a:noAutofit/>
          </a:bodyPr>
          <a:lstStyle/>
          <a:p>
            <a:pPr algn="ctr">
              <a:spcAft>
                <a:spcPts val="200"/>
              </a:spcAft>
            </a:pPr>
            <a:r>
              <a:rPr lang="es-ES" sz="1800" b="1" cap="all" spc="100" dirty="0">
                <a:solidFill>
                  <a:srgbClr val="7DE9B0"/>
                </a:solidFill>
                <a:latin typeface="Arial"/>
                <a:cs typeface="Arial"/>
              </a:rPr>
              <a:t>Capa ontológica</a:t>
            </a:r>
          </a:p>
          <a:p>
            <a:pPr algn="ctr"/>
            <a:r>
              <a:rPr lang="es-ES" sz="3200" b="1" dirty="0">
                <a:solidFill>
                  <a:srgbClr val="FFFFFF"/>
                </a:solidFill>
                <a:latin typeface="Arial"/>
                <a:cs typeface="Arial"/>
              </a:rPr>
              <a:t>entiende el negocio</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05AEBA-F5B4-6D98-D53C-551AF43F8044}"/>
            </a:ext>
          </a:extLst>
        </p:cNvPr>
        <p:cNvGrpSpPr/>
        <p:nvPr/>
      </p:nvGrpSpPr>
      <p:grpSpPr>
        <a:xfrm>
          <a:off x="0" y="0"/>
          <a:ext cx="0" cy="0"/>
          <a:chOff x="0" y="0"/>
          <a:chExt cx="0" cy="0"/>
        </a:xfrm>
      </p:grpSpPr>
      <p:pic>
        <p:nvPicPr>
          <p:cNvPr id="16" name="Imagen 15">
            <a:extLst>
              <a:ext uri="{FF2B5EF4-FFF2-40B4-BE49-F238E27FC236}">
                <a16:creationId xmlns:a16="http://schemas.microsoft.com/office/drawing/2014/main" id="{3C987E05-0D9F-161E-8C05-D3A279447E92}"/>
              </a:ext>
            </a:extLst>
          </p:cNvPr>
          <p:cNvPicPr>
            <a:picLocks noChangeAspect="1"/>
          </p:cNvPicPr>
          <p:nvPr/>
        </p:nvPicPr>
        <p:blipFill>
          <a:blip r:embed="rId2"/>
          <a:stretch>
            <a:fillRect/>
          </a:stretch>
        </p:blipFill>
        <p:spPr>
          <a:xfrm>
            <a:off x="0" y="266699"/>
            <a:ext cx="8077200" cy="823031"/>
          </a:xfrm>
          <a:prstGeom prst="rect">
            <a:avLst/>
          </a:prstGeom>
        </p:spPr>
      </p:pic>
      <p:pic>
        <p:nvPicPr>
          <p:cNvPr id="18" name="Imagen 17">
            <a:extLst>
              <a:ext uri="{FF2B5EF4-FFF2-40B4-BE49-F238E27FC236}">
                <a16:creationId xmlns:a16="http://schemas.microsoft.com/office/drawing/2014/main" id="{3EC0DF79-D997-4A94-528F-FA4FE7EE30B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0" y="876300"/>
            <a:ext cx="18272760" cy="8224837"/>
          </a:xfrm>
          <a:prstGeom prst="rect">
            <a:avLst/>
          </a:prstGeom>
        </p:spPr>
      </p:pic>
      <p:sp>
        <p:nvSpPr>
          <p:cNvPr id="20" name="Título 3">
            <a:extLst>
              <a:ext uri="{FF2B5EF4-FFF2-40B4-BE49-F238E27FC236}">
                <a16:creationId xmlns:a16="http://schemas.microsoft.com/office/drawing/2014/main" id="{5639F639-54D3-6FF9-E288-652060319C01}"/>
              </a:ext>
            </a:extLst>
          </p:cNvPr>
          <p:cNvSpPr txBox="1">
            <a:spLocks/>
          </p:cNvSpPr>
          <p:nvPr/>
        </p:nvSpPr>
        <p:spPr>
          <a:xfrm>
            <a:off x="963930" y="200976"/>
            <a:ext cx="15773400" cy="158432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Arial"/>
                <a:ea typeface="Arial"/>
                <a:cs typeface="Arial"/>
              </a:defRPr>
            </a:lvl1pPr>
          </a:lstStyle>
          <a:p>
            <a:r>
              <a:rPr lang="es-ES" b="1" dirty="0">
                <a:solidFill>
                  <a:srgbClr val="7DE9B0"/>
                </a:solidFill>
                <a:latin typeface="Arial"/>
                <a:cs typeface="Arial"/>
              </a:rPr>
              <a:t>Parte Teórica</a:t>
            </a:r>
          </a:p>
        </p:txBody>
      </p:sp>
      <p:sp>
        <p:nvSpPr>
          <p:cNvPr id="22" name="Marcador de texto 4">
            <a:extLst>
              <a:ext uri="{FF2B5EF4-FFF2-40B4-BE49-F238E27FC236}">
                <a16:creationId xmlns:a16="http://schemas.microsoft.com/office/drawing/2014/main" id="{58484385-1FC6-4287-0475-766FD2AFD2CE}"/>
              </a:ext>
            </a:extLst>
          </p:cNvPr>
          <p:cNvSpPr txBox="1">
            <a:spLocks/>
          </p:cNvSpPr>
          <p:nvPr/>
        </p:nvSpPr>
        <p:spPr>
          <a:xfrm>
            <a:off x="1024890" y="1851022"/>
            <a:ext cx="15773400" cy="5929313"/>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a:ea typeface="Arial"/>
                <a:cs typeface="Arial"/>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a:ea typeface="Arial"/>
                <a:cs typeface="Arial"/>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a:ea typeface="Arial"/>
                <a:cs typeface="Arial"/>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Arial"/>
                <a:cs typeface="Arial"/>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Arial"/>
                <a:cs typeface="Arial"/>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Arial"/>
                <a:cs typeface="Arial"/>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Arial"/>
                <a:cs typeface="Arial"/>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Arial"/>
                <a:cs typeface="Arial"/>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Arial"/>
                <a:cs typeface="Arial"/>
              </a:defRPr>
            </a:lvl9pPr>
          </a:lstStyle>
          <a:p>
            <a:pPr marL="0" indent="0">
              <a:buFont typeface="Arial" panose="020B0604020202020204" pitchFamily="34" charset="0"/>
              <a:buNone/>
            </a:pPr>
            <a:r>
              <a:rPr lang="es-ES" sz="5400" b="1" dirty="0">
                <a:solidFill>
                  <a:srgbClr val="FFFFFF"/>
                </a:solidFill>
                <a:latin typeface="Arial"/>
                <a:cs typeface="Arial"/>
              </a:rPr>
              <a:t>2. Ontologías en Microsoft </a:t>
            </a:r>
            <a:r>
              <a:rPr lang="es-ES" sz="5400" b="1" dirty="0" err="1">
                <a:solidFill>
                  <a:srgbClr val="FFFFFF"/>
                </a:solidFill>
                <a:latin typeface="Arial"/>
                <a:cs typeface="Arial"/>
              </a:rPr>
              <a:t>Fabric</a:t>
            </a:r>
            <a:endParaRPr lang="es-ES" sz="5400" b="1" dirty="0">
              <a:solidFill>
                <a:srgbClr val="FFFFFF"/>
              </a:solidFill>
              <a:latin typeface="Arial"/>
              <a:cs typeface="Arial"/>
            </a:endParaRPr>
          </a:p>
        </p:txBody>
      </p:sp>
      <p:sp>
        <p:nvSpPr>
          <p:cNvPr id="24" name="CuadroTexto 23">
            <a:extLst>
              <a:ext uri="{FF2B5EF4-FFF2-40B4-BE49-F238E27FC236}">
                <a16:creationId xmlns:a16="http://schemas.microsoft.com/office/drawing/2014/main" id="{3B6E090F-88E3-258B-2CFA-9DBD9574000C}"/>
              </a:ext>
            </a:extLst>
          </p:cNvPr>
          <p:cNvSpPr txBox="1"/>
          <p:nvPr/>
        </p:nvSpPr>
        <p:spPr>
          <a:xfrm>
            <a:off x="1009650" y="2781300"/>
            <a:ext cx="15217140" cy="584775"/>
          </a:xfrm>
          <a:prstGeom prst="rect">
            <a:avLst/>
          </a:prstGeom>
          <a:noFill/>
        </p:spPr>
        <p:txBody>
          <a:bodyPr wrap="square">
            <a:spAutoFit/>
          </a:bodyPr>
          <a:lstStyle/>
          <a:p>
            <a:r>
              <a:rPr lang="es-ES" sz="3200" dirty="0">
                <a:solidFill>
                  <a:schemeClr val="bg1"/>
                </a:solidFill>
              </a:rPr>
              <a:t>Arquitectura y elementos · Consumo · Requisitos y limitaciones</a:t>
            </a:r>
            <a:r>
              <a:rPr lang="es-ES" sz="3200" dirty="0" err="1">
                <a:solidFill>
                  <a:schemeClr val="bg1"/>
                </a:solidFill>
              </a:rPr>
              <a:t/>
            </a:r>
            <a:r>
              <a:rPr lang="es-ES" sz="3200" dirty="0">
                <a:solidFill>
                  <a:schemeClr val="bg1"/>
                </a:solidFill>
              </a:rPr>
              <a:t xml:space="preserve"> · Creación</a:t>
            </a:r>
          </a:p>
        </p:txBody>
      </p:sp>
    </p:spTree>
    <p:extLst>
      <p:ext uri="{BB962C8B-B14F-4D97-AF65-F5344CB8AC3E}">
        <p14:creationId xmlns:p14="http://schemas.microsoft.com/office/powerpoint/2010/main" val="19762792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767575-C372-0A00-E0B1-F246B55DD65B}"/>
            </a:ext>
          </a:extLst>
        </p:cNvPr>
        <p:cNvGrpSpPr/>
        <p:nvPr/>
      </p:nvGrpSpPr>
      <p:grpSpPr>
        <a:xfrm>
          <a:off x="0" y="0"/>
          <a:ext cx="0" cy="0"/>
          <a:chOff x="0" y="0"/>
          <a:chExt cx="0" cy="0"/>
        </a:xfrm>
      </p:grpSpPr>
      <p:sp>
        <p:nvSpPr>
          <p:cNvPr id="4" name="Título 3">
            <a:extLst>
              <a:ext uri="{FF2B5EF4-FFF2-40B4-BE49-F238E27FC236}">
                <a16:creationId xmlns:a16="http://schemas.microsoft.com/office/drawing/2014/main" id="{BE455BD3-394C-64CA-60E8-0D030DFCE282}"/>
              </a:ext>
            </a:extLst>
          </p:cNvPr>
          <p:cNvSpPr>
            <a:spLocks noGrp="1"/>
          </p:cNvSpPr>
          <p:nvPr>
            <p:ph type="title"/>
          </p:nvPr>
        </p:nvSpPr>
        <p:spPr>
          <a:xfrm>
            <a:off x="741218" y="197017"/>
            <a:ext cx="15773400" cy="1584323"/>
          </a:xfrm>
        </p:spPr>
        <p:txBody>
          <a:bodyPr/>
          <a:lstStyle/>
          <a:p>
            <a:pPr marL="0" indent="0">
              <a:buNone/>
            </a:pPr>
            <a:r>
              <a:rPr lang="es-ES" sz="4400" b="1" dirty="0">
                <a:latin typeface="Arial"/>
                <a:cs typeface="Arial"/>
              </a:rPr>
              <a:t>Arquitectura de Ontologías en </a:t>
            </a:r>
            <a:r>
              <a:rPr lang="es-ES" sz="4400" b="1" dirty="0" err="1">
                <a:latin typeface="Arial"/>
                <a:cs typeface="Arial"/>
              </a:rPr>
              <a:t>Fabric</a:t>
            </a:r>
          </a:p>
        </p:txBody>
      </p:sp>
      <p:sp>
        <p:nvSpPr>
          <p:cNvPr id="7" name="CuadroTexto 6">
            <a:extLst>
              <a:ext uri="{FF2B5EF4-FFF2-40B4-BE49-F238E27FC236}">
                <a16:creationId xmlns:a16="http://schemas.microsoft.com/office/drawing/2014/main" id="{2F246E12-E879-6152-F383-232120671DF7}"/>
              </a:ext>
            </a:extLst>
          </p:cNvPr>
          <p:cNvSpPr txBox="1"/>
          <p:nvPr/>
        </p:nvSpPr>
        <p:spPr>
          <a:xfrm>
            <a:off x="758952" y="1261872"/>
            <a:ext cx="16267176" cy="804672"/>
          </a:xfrm>
          <a:prstGeom prst="rect">
            <a:avLst/>
          </a:prstGeom>
          <a:noFill/>
        </p:spPr>
        <p:txBody>
          <a:bodyPr wrap="square">
            <a:spAutoFit/>
          </a:bodyPr>
          <a:lstStyle/>
          <a:p>
            <a:r>
              <a:rPr lang="es-ES" sz="2300" dirty="0">
                <a:solidFill>
                  <a:srgbClr val="09534E"/>
                </a:solidFill>
                <a:latin typeface="Arial"/>
                <a:cs typeface="Arial"/>
              </a:rPr>
              <a:t>La arquitectura de ontologías en Microsoft </a:t>
            </a:r>
            <a:r>
              <a:rPr lang="es-ES" sz="2300" dirty="0" err="1">
                <a:solidFill>
                  <a:srgbClr val="09534E"/>
                </a:solidFill>
                <a:latin typeface="Arial"/>
                <a:cs typeface="Arial"/>
              </a:rPr>
              <a:t>Fabric</a:t>
            </a:r>
            <a:r>
              <a:rPr lang="es-ES" sz="2300" dirty="0">
                <a:solidFill>
                  <a:srgbClr val="09534E"/>
                </a:solidFill>
                <a:latin typeface="Arial"/>
                <a:cs typeface="Arial"/>
              </a:rPr>
              <a:t> es una </a:t>
            </a:r>
            <a:r>
              <a:rPr lang="es-ES" sz="2300" b="1" dirty="0">
                <a:solidFill>
                  <a:srgbClr val="09534E"/>
                </a:solidFill>
                <a:latin typeface="Arial"/>
                <a:cs typeface="Arial"/>
              </a:rPr>
              <a:t>capa de contexto semántico en forma de grafo </a:t>
            </a:r>
            <a:r>
              <a:rPr lang="es-ES" sz="2300" dirty="0">
                <a:solidFill>
                  <a:srgbClr val="09534E"/>
                </a:solidFill>
                <a:latin typeface="Arial"/>
                <a:cs typeface="Arial"/>
              </a:rPr>
              <a:t>de conocimiento que unifica datos, lógica de negocio y acciones para humanos y agentes de IA.</a:t>
            </a:r>
            <a:endParaRPr lang="es-ES" dirty="0"/>
          </a:p>
        </p:txBody>
      </p:sp>
      <p:pic>
        <p:nvPicPr>
          <p:cNvPr id="3" name="Imagen 2">
            <a:extLst>
              <a:ext uri="{FF2B5EF4-FFF2-40B4-BE49-F238E27FC236}">
                <a16:creationId xmlns:a16="http://schemas.microsoft.com/office/drawing/2014/main" id="{FBB4902E-EB63-155E-59FF-0838FDA87BE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455096" y="2139696"/>
            <a:ext cx="13377806" cy="5998464"/>
          </a:xfrm>
          <a:prstGeom prst="rect">
            <a:avLst/>
          </a:prstGeom>
        </p:spPr>
      </p:pic>
      <p:sp>
        <p:nvSpPr>
          <p:cNvPr id="6" name="CuadroTexto 5">
            <a:extLst>
              <a:ext uri="{FF2B5EF4-FFF2-40B4-BE49-F238E27FC236}">
                <a16:creationId xmlns:a16="http://schemas.microsoft.com/office/drawing/2014/main" id="{D63F8728-9DEE-DCC3-8925-E4AB80612944}"/>
              </a:ext>
            </a:extLst>
          </p:cNvPr>
          <p:cNvSpPr txBox="1"/>
          <p:nvPr/>
        </p:nvSpPr>
        <p:spPr>
          <a:xfrm>
            <a:off x="2455096" y="8156448"/>
            <a:ext cx="13377806" cy="256032"/>
          </a:xfrm>
          <a:prstGeom prst="rect">
            <a:avLst/>
          </a:prstGeom>
          <a:noFill/>
        </p:spPr>
        <p:txBody>
          <a:bodyPr wrap="square">
            <a:spAutoFit/>
          </a:bodyPr>
          <a:lstStyle/>
          <a:p>
            <a:pPr algn="ctr"/>
            <a:r>
              <a:rPr lang="es-ES" sz="1200" i="1" dirty="0">
                <a:solidFill>
                  <a:srgbClr val="09534E"/>
                </a:solidFill>
                <a:latin typeface="Arial"/>
                <a:cs typeface="Arial"/>
              </a:rPr>
              <a:t>Diagrama funcional de arquitectura de ontologías en Microsoft </a:t>
            </a:r>
            <a:r>
              <a:rPr lang="es-ES" sz="1200" i="1" dirty="0" err="1">
                <a:solidFill>
                  <a:srgbClr val="09534E"/>
                </a:solidFill>
                <a:latin typeface="Arial"/>
                <a:cs typeface="Arial"/>
              </a:rPr>
              <a:t>Fabric</a:t>
            </a:r>
            <a:r>
              <a:rPr lang="es-ES" sz="1200" i="1" dirty="0">
                <a:solidFill>
                  <a:srgbClr val="09534E"/>
                </a:solidFill>
                <a:latin typeface="Arial"/>
                <a:cs typeface="Arial"/>
              </a:rPr>
              <a:t> (Elaboración Propia)</a:t>
            </a:r>
            <a:endParaRPr lang="es-ES" sz="1100" i="1" dirty="0"/>
          </a:p>
        </p:txBody>
      </p:sp>
      <p:sp>
        <p:nvSpPr>
          <p:cNvPr id="9" name="Mensaje clave 9"/>
          <p:cNvSpPr/>
          <p:nvPr/>
        </p:nvSpPr>
        <p:spPr>
          <a:xfrm>
            <a:off x="1371600" y="8485632"/>
            <a:ext cx="15544800" cy="475488"/>
          </a:xfrm>
          <a:prstGeom prst="roundRect">
            <a:avLst>
              <a:gd name="adj" fmla="val 50000"/>
            </a:avLst>
          </a:prstGeom>
          <a:solidFill>
            <a:srgbClr val="09534E"/>
          </a:solidFill>
          <a:ln>
            <a:noFill/>
          </a:ln>
          <a:effectLst>
            <a:outerShdw blurRad="50800" dist="25400" dir="5400000" algn="t" rotWithShape="0">
              <a:prstClr val="black">
                <a:alpha val="28000"/>
              </a:prstClr>
            </a:outerShdw>
          </a:effectLst>
        </p:spPr>
        <p:txBody>
          <a:bodyPr wrap="square" lIns="182880" tIns="0" rIns="182880" bIns="0" anchor="ctr">
            <a:noAutofit/>
          </a:bodyPr>
          <a:lstStyle/>
          <a:p>
            <a:pPr algn="ctr"/>
            <a:r>
              <a:rPr lang="es-ES" sz="1900" b="1" dirty="0">
                <a:solidFill>
                  <a:srgbClr val="7DE9B0"/>
                </a:solidFill>
                <a:latin typeface="Arial"/>
                <a:cs typeface="Arial"/>
              </a:rPr>
              <a:t xml:space="preserve">✓  La ontología no copia tus datos: </a:t>
            </a:r>
            <a:r>
              <a:rPr lang="es-ES" sz="1900" b="1" dirty="0">
                <a:solidFill>
                  <a:srgbClr val="FFFFFF"/>
                </a:solidFill>
                <a:latin typeface="Arial"/>
                <a:cs typeface="Arial"/>
              </a:rPr>
              <a:t xml:space="preserve">los conecta, los enriquece y los hace consultables como grafo</a:t>
            </a:r>
          </a:p>
        </p:txBody>
      </p:sp>
    </p:spTree>
    <p:extLst>
      <p:ext uri="{BB962C8B-B14F-4D97-AF65-F5344CB8AC3E}">
        <p14:creationId xmlns:p14="http://schemas.microsoft.com/office/powerpoint/2010/main" val="18944004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110996" y="266700"/>
            <a:ext cx="15773400" cy="1584323"/>
          </a:xfrm>
        </p:spPr>
        <p:txBody>
          <a:bodyPr/>
          <a:lstStyle/>
          <a:p>
            <a:pPr marL="0" indent="0">
              <a:buNone/>
            </a:pPr>
            <a:r>
              <a:rPr lang="es-ES" sz="4400" b="1" dirty="0">
                <a:latin typeface="Arial"/>
                <a:cs typeface="Arial"/>
              </a:rPr>
              <a:t>Elementos principales de una ontología en </a:t>
            </a:r>
            <a:r>
              <a:rPr lang="es-ES" sz="4400" b="1" dirty="0" err="1">
                <a:latin typeface="Arial"/>
                <a:cs typeface="Arial"/>
              </a:rPr>
              <a:t>Fabric</a:t>
            </a:r>
            <a:endParaRPr lang="es-ES" sz="4400" b="1" dirty="0">
              <a:latin typeface="Arial"/>
              <a:cs typeface="Arial"/>
            </a:endParaRPr>
          </a:p>
        </p:txBody>
      </p:sp>
      <p:sp>
        <p:nvSpPr>
          <p:cNvPr id="31" name="Tarjeta 31"/>
          <p:cNvSpPr/>
          <p:nvPr/>
        </p:nvSpPr>
        <p:spPr>
          <a:xfrm>
            <a:off x="914400" y="1562100"/>
            <a:ext cx="5210666" cy="3968496"/>
          </a:xfrm>
          <a:prstGeom prst="roundRect">
            <a:avLst>
              <a:gd name="adj" fmla="val 6000"/>
            </a:avLst>
          </a:prstGeom>
          <a:solidFill>
            <a:srgbClr val="E4F7EE"/>
          </a:solidFill>
          <a:ln>
            <a:noFill/>
          </a:ln>
          <a:effectLst>
            <a:outerShdw blurRad="50800" dist="38100" dir="2700000" algn="tl" rotWithShape="0">
              <a:prstClr val="black">
                <a:alpha val="40000"/>
              </a:prstClr>
            </a:outerShdw>
          </a:effectLst>
        </p:spPr>
        <p:txBody>
          <a:bodyPr wrap="square" lIns="0" tIns="0" rIns="0" bIns="0" anchor="t">
            <a:normAutofit/>
          </a:bodyPr>
          <a:lstStyle/>
          <a:p>
            <a:endParaRPr lang="es-ES"/>
          </a:p>
        </p:txBody>
      </p:sp>
      <p:sp>
        <p:nvSpPr>
          <p:cNvPr id="32" name="Circulo 32"/>
          <p:cNvSpPr/>
          <p:nvPr/>
        </p:nvSpPr>
        <p:spPr>
          <a:xfrm>
            <a:off x="1154400" y="1802100"/>
            <a:ext cx="760000" cy="760000"/>
          </a:xfrm>
          <a:prstGeom prst="ellipse">
            <a:avLst/>
          </a:prstGeom>
          <a:solidFill>
            <a:srgbClr val="10635A"/>
          </a:solidFill>
          <a:ln>
            <a:noFill/>
          </a:ln>
        </p:spPr>
        <p:txBody>
          <a:bodyPr wrap="square" lIns="0" tIns="0" rIns="0" bIns="0" anchor="t">
            <a:normAutofit/>
          </a:bodyPr>
          <a:lstStyle/>
          <a:p>
            <a:endParaRPr lang="es-ES"/>
          </a:p>
        </p:txBody>
      </p:sp>
      <p:pic>
        <p:nvPicPr>
          <p:cNvPr id="33" name="Icono 33" descr="Lakehouse"/>
          <p:cNvPicPr>
            <a:picLocks noChangeAspect="1"/>
          </p:cNvPicPr>
          <p:nvPr/>
        </p:nvPicPr>
        <p:blipFill>
          <a:blip r:embed="rId2"/>
          <a:stretch>
            <a:fillRect/>
          </a:stretch>
        </p:blipFill>
        <p:spPr>
          <a:xfrm>
            <a:off x="1344400" y="1992100"/>
            <a:ext cx="380000" cy="380000"/>
          </a:xfrm>
          <a:prstGeom prst="rect">
            <a:avLst/>
          </a:prstGeom>
        </p:spPr>
      </p:pic>
      <p:sp>
        <p:nvSpPr>
          <p:cNvPr id="34" name="Titulo tarjeta 34"/>
          <p:cNvSpPr txBox="1"/>
          <p:nvPr/>
        </p:nvSpPr>
        <p:spPr>
          <a:xfrm>
            <a:off x="2054400" y="1802100"/>
            <a:ext cx="3910666" cy="760000"/>
          </a:xfrm>
          <a:prstGeom prst="rect">
            <a:avLst/>
          </a:prstGeom>
          <a:noFill/>
          <a:ln>
            <a:noFill/>
          </a:ln>
        </p:spPr>
        <p:txBody>
          <a:bodyPr wrap="square" lIns="0" tIns="0" rIns="0" bIns="0" anchor="ctr">
            <a:normAutofit/>
          </a:bodyPr>
          <a:lstStyle/>
          <a:p>
            <a:pPr marL="0" indent="0" algn="l">
              <a:spcBef>
                <a:spcPts val="0"/>
              </a:spcBef>
              <a:spcAft>
                <a:spcPts val="0"/>
              </a:spcAft>
              <a:buNone/>
            </a:pPr>
            <a:r>
              <a:rPr lang="es-ES" sz="2000" b="1" dirty="0">
                <a:solidFill>
                  <a:srgbClr val="10635A"/>
                </a:solidFill>
                <a:latin typeface="Arial"/>
                <a:cs typeface="Arial"/>
              </a:rPr>
              <a:t>1. Lakehouse</a:t>
            </a:r>
          </a:p>
        </p:txBody>
      </p:sp>
      <p:sp>
        <p:nvSpPr>
          <p:cNvPr id="35" name="Texto 35"/>
          <p:cNvSpPr txBox="1"/>
          <p:nvPr/>
        </p:nvSpPr>
        <p:spPr>
          <a:xfrm>
            <a:off x="1154400" y="2792100"/>
            <a:ext cx="4730666" cy="2930000"/>
          </a:xfrm>
          <a:prstGeom prst="rect">
            <a:avLst/>
          </a:prstGeom>
          <a:noFill/>
          <a:ln>
            <a:noFill/>
          </a:ln>
        </p:spPr>
        <p:txBody>
          <a:bodyPr wrap="square" lIns="0" tIns="0" rIns="0" bIns="0" anchor="t">
            <a:normAutofit/>
          </a:bodyPr>
          <a:lstStyle/>
          <a:p>
            <a:pPr marL="285750" indent="-285750" algn="l">
              <a:spcBef>
                <a:spcPts val="0"/>
              </a:spcBef>
              <a:spcAft>
                <a:spcPts val="600"/>
              </a:spcAft>
              <a:buClr>
                <a:srgbClr val="1E8A7C"/>
              </a:buClr>
              <a:buFont typeface="Arial"/>
              <a:buChar char="•"/>
            </a:pPr>
            <a:r>
              <a:rPr lang="es-ES" sz="1700" dirty="0">
                <a:solidFill>
                  <a:srgbClr val="09534E"/>
                </a:solidFill>
                <a:latin typeface="Arial"/>
                <a:cs typeface="Arial"/>
              </a:rPr>
              <a:t>Se crea vacío junto con la ontología</a:t>
            </a:r>
          </a:p>
          <a:p>
            <a:pPr marL="285750" indent="-285750" algn="l">
              <a:spcBef>
                <a:spcPts val="0"/>
              </a:spcBef>
              <a:spcAft>
                <a:spcPts val="600"/>
              </a:spcAft>
              <a:buClr>
                <a:srgbClr val="1E8A7C"/>
              </a:buClr>
              <a:buFont typeface="Arial"/>
              <a:buChar char="•"/>
            </a:pPr>
            <a:r>
              <a:rPr lang="es-ES" sz="1700" dirty="0">
                <a:solidFill>
                  <a:srgbClr val="09534E"/>
                </a:solidFill>
                <a:latin typeface="Arial"/>
                <a:cs typeface="Arial"/>
              </a:rPr>
              <a:t>Es el almacenamiento de la solución: no se rellena a mano</a:t>
            </a:r>
          </a:p>
          <a:p>
            <a:pPr marL="285750" indent="-285750" algn="l">
              <a:spcBef>
                <a:spcPts val="0"/>
              </a:spcBef>
              <a:spcAft>
                <a:spcPts val="600"/>
              </a:spcAft>
              <a:buClr>
                <a:srgbClr val="1E8A7C"/>
              </a:buClr>
              <a:buFont typeface="Arial"/>
              <a:buChar char="•"/>
            </a:pPr>
            <a:r>
              <a:rPr lang="es-ES" sz="1700" dirty="0">
                <a:solidFill>
                  <a:srgbClr val="09534E"/>
                </a:solidFill>
                <a:latin typeface="Arial"/>
                <a:cs typeface="Arial"/>
              </a:rPr>
              <a:t>Guarda las tablas Delta de origen</a:t>
            </a:r>
          </a:p>
        </p:txBody>
      </p:sp>
      <p:sp>
        <p:nvSpPr>
          <p:cNvPr id="36" name="Chip 36"/>
          <p:cNvSpPr/>
          <p:nvPr/>
        </p:nvSpPr>
        <p:spPr>
          <a:xfrm>
            <a:off x="1154400" y="4450400"/>
            <a:ext cx="4730666" cy="900000"/>
          </a:xfrm>
          <a:prstGeom prst="roundRect">
            <a:avLst>
              <a:gd name="adj" fmla="val 22000"/>
            </a:avLst>
          </a:prstGeom>
          <a:solidFill>
            <a:srgbClr val="10635A"/>
          </a:solidFill>
          <a:ln>
            <a:noFill/>
          </a:ln>
        </p:spPr>
        <p:txBody>
          <a:bodyPr wrap="square" lIns="0" tIns="0" rIns="0" bIns="0" anchor="t">
            <a:normAutofit/>
          </a:bodyPr>
          <a:lstStyle/>
          <a:p>
            <a:endParaRPr lang="es-ES"/>
          </a:p>
        </p:txBody>
      </p:sp>
      <p:sp>
        <p:nvSpPr>
          <p:cNvPr id="37" name="Chip texto 37"/>
          <p:cNvSpPr txBox="1"/>
          <p:nvPr/>
        </p:nvSpPr>
        <p:spPr>
          <a:xfrm>
            <a:off x="1154400" y="4450400"/>
            <a:ext cx="4730666" cy="900000"/>
          </a:xfrm>
          <a:prstGeom prst="rect">
            <a:avLst/>
          </a:prstGeom>
          <a:noFill/>
          <a:ln>
            <a:noFill/>
          </a:ln>
        </p:spPr>
        <p:txBody>
          <a:bodyPr wrap="square" lIns="120000" tIns="45720" rIns="120000" bIns="45720" anchor="ctr">
            <a:normAutofit/>
          </a:bodyPr>
          <a:lstStyle/>
          <a:p>
            <a:pPr marL="0" indent="0" algn="ctr">
              <a:spcBef>
                <a:spcPts val="0"/>
              </a:spcBef>
              <a:spcAft>
                <a:spcPts val="0"/>
              </a:spcAft>
              <a:buNone/>
            </a:pPr>
            <a:r>
              <a:rPr lang="es-ES" sz="1600" b="1" dirty="0">
                <a:solidFill>
                  <a:srgbClr val="FFFFFF"/>
                </a:solidFill>
                <a:latin typeface="Arial"/>
                <a:cs typeface="Arial"/>
              </a:rPr>
              <a:t>Disponible desde el primer momento</a:t>
            </a:r>
          </a:p>
        </p:txBody>
      </p:sp>
      <p:sp>
        <p:nvSpPr>
          <p:cNvPr id="38" name="Tarjeta 38"/>
          <p:cNvSpPr/>
          <p:nvPr/>
        </p:nvSpPr>
        <p:spPr>
          <a:xfrm>
            <a:off x="6397066" y="1562100"/>
            <a:ext cx="5210666" cy="3968496"/>
          </a:xfrm>
          <a:prstGeom prst="roundRect">
            <a:avLst>
              <a:gd name="adj" fmla="val 6000"/>
            </a:avLst>
          </a:prstGeom>
          <a:solidFill>
            <a:srgbClr val="E4F7EE"/>
          </a:solidFill>
          <a:ln>
            <a:noFill/>
          </a:ln>
          <a:effectLst>
            <a:outerShdw blurRad="50800" dist="38100" dir="2700000" algn="tl" rotWithShape="0">
              <a:prstClr val="black">
                <a:alpha val="40000"/>
              </a:prstClr>
            </a:outerShdw>
          </a:effectLst>
        </p:spPr>
        <p:txBody>
          <a:bodyPr wrap="square" lIns="0" tIns="0" rIns="0" bIns="0" anchor="t">
            <a:normAutofit/>
          </a:bodyPr>
          <a:lstStyle/>
          <a:p>
            <a:endParaRPr lang="es-ES"/>
          </a:p>
        </p:txBody>
      </p:sp>
      <p:sp>
        <p:nvSpPr>
          <p:cNvPr id="39" name="Circulo 39"/>
          <p:cNvSpPr/>
          <p:nvPr/>
        </p:nvSpPr>
        <p:spPr>
          <a:xfrm>
            <a:off x="6637066" y="1802100"/>
            <a:ext cx="760000" cy="760000"/>
          </a:xfrm>
          <a:prstGeom prst="ellipse">
            <a:avLst/>
          </a:prstGeom>
          <a:solidFill>
            <a:srgbClr val="10635A"/>
          </a:solidFill>
          <a:ln>
            <a:noFill/>
          </a:ln>
        </p:spPr>
        <p:txBody>
          <a:bodyPr wrap="square" lIns="0" tIns="0" rIns="0" bIns="0" anchor="t">
            <a:normAutofit/>
          </a:bodyPr>
          <a:lstStyle/>
          <a:p>
            <a:endParaRPr lang="es-ES"/>
          </a:p>
        </p:txBody>
      </p:sp>
      <p:pic>
        <p:nvPicPr>
          <p:cNvPr id="40" name="Icono 40" descr="Graph"/>
          <p:cNvPicPr>
            <a:picLocks noChangeAspect="1"/>
          </p:cNvPicPr>
          <p:nvPr/>
        </p:nvPicPr>
        <p:blipFill>
          <a:blip r:embed="rId3"/>
          <a:stretch>
            <a:fillRect/>
          </a:stretch>
        </p:blipFill>
        <p:spPr>
          <a:xfrm>
            <a:off x="6827066" y="1992100"/>
            <a:ext cx="380000" cy="380000"/>
          </a:xfrm>
          <a:prstGeom prst="rect">
            <a:avLst/>
          </a:prstGeom>
        </p:spPr>
      </p:pic>
      <p:sp>
        <p:nvSpPr>
          <p:cNvPr id="41" name="Titulo tarjeta 41"/>
          <p:cNvSpPr txBox="1"/>
          <p:nvPr/>
        </p:nvSpPr>
        <p:spPr>
          <a:xfrm>
            <a:off x="7537066" y="1802100"/>
            <a:ext cx="3910666" cy="760000"/>
          </a:xfrm>
          <a:prstGeom prst="rect">
            <a:avLst/>
          </a:prstGeom>
          <a:noFill/>
          <a:ln>
            <a:noFill/>
          </a:ln>
        </p:spPr>
        <p:txBody>
          <a:bodyPr wrap="square" lIns="0" tIns="0" rIns="0" bIns="0" anchor="ctr">
            <a:normAutofit/>
          </a:bodyPr>
          <a:lstStyle/>
          <a:p>
            <a:pPr marL="0" indent="0" algn="l">
              <a:spcBef>
                <a:spcPts val="0"/>
              </a:spcBef>
              <a:spcAft>
                <a:spcPts val="0"/>
              </a:spcAft>
              <a:buNone/>
            </a:pPr>
            <a:r>
              <a:rPr lang="es-ES" sz="2000" b="1" dirty="0">
                <a:solidFill>
                  <a:srgbClr val="10635A"/>
                </a:solidFill>
                <a:latin typeface="Arial"/>
                <a:cs typeface="Arial"/>
              </a:rPr>
              <a:t>2. Graph</a:t>
            </a:r>
          </a:p>
        </p:txBody>
      </p:sp>
      <p:sp>
        <p:nvSpPr>
          <p:cNvPr id="42" name="Texto 42"/>
          <p:cNvSpPr txBox="1"/>
          <p:nvPr/>
        </p:nvSpPr>
        <p:spPr>
          <a:xfrm>
            <a:off x="6637066" y="2792100"/>
            <a:ext cx="4730666" cy="2930000"/>
          </a:xfrm>
          <a:prstGeom prst="rect">
            <a:avLst/>
          </a:prstGeom>
          <a:noFill/>
          <a:ln>
            <a:noFill/>
          </a:ln>
        </p:spPr>
        <p:txBody>
          <a:bodyPr wrap="square" lIns="0" tIns="0" rIns="0" bIns="0" anchor="t">
            <a:normAutofit/>
          </a:bodyPr>
          <a:lstStyle/>
          <a:p>
            <a:pPr marL="285750" indent="-285750" algn="l">
              <a:spcBef>
                <a:spcPts val="0"/>
              </a:spcBef>
              <a:spcAft>
                <a:spcPts val="600"/>
              </a:spcAft>
              <a:buClr>
                <a:srgbClr val="1E8A7C"/>
              </a:buClr>
              <a:buFont typeface="Arial"/>
              <a:buChar char="•"/>
            </a:pPr>
            <a:r>
              <a:rPr lang="es-ES" sz="1700" dirty="0">
                <a:solidFill>
                  <a:srgbClr val="09534E"/>
                </a:solidFill>
                <a:latin typeface="Arial"/>
                <a:cs typeface="Arial"/>
              </a:rPr>
              <a:t>Nace sin datos</a:t>
            </a:r>
          </a:p>
          <a:p>
            <a:pPr marL="285750" indent="-285750" algn="l">
              <a:spcBef>
                <a:spcPts val="0"/>
              </a:spcBef>
              <a:spcAft>
                <a:spcPts val="600"/>
              </a:spcAft>
              <a:buClr>
                <a:srgbClr val="1E8A7C"/>
              </a:buClr>
              <a:buFont typeface="Arial"/>
              <a:buChar char="•"/>
            </a:pPr>
            <a:r>
              <a:rPr lang="es-ES" sz="1700" dirty="0">
                <a:solidFill>
                  <a:srgbClr val="09534E"/>
                </a:solidFill>
                <a:latin typeface="Arial"/>
                <a:cs typeface="Arial"/>
              </a:rPr>
              <a:t>Se completa al definir los bindings y ejecutar la ingesta o el refresco</a:t>
            </a:r>
          </a:p>
          <a:p>
            <a:pPr marL="285750" indent="-285750" algn="l">
              <a:spcBef>
                <a:spcPts val="0"/>
              </a:spcBef>
              <a:spcAft>
                <a:spcPts val="600"/>
              </a:spcAft>
              <a:buClr>
                <a:srgbClr val="1E8A7C"/>
              </a:buClr>
              <a:buFont typeface="Arial"/>
              <a:buChar char="•"/>
            </a:pPr>
            <a:r>
              <a:rPr lang="es-ES" sz="1700" dirty="0">
                <a:solidFill>
                  <a:srgbClr val="09534E"/>
                </a:solidFill>
                <a:latin typeface="Arial"/>
                <a:cs typeface="Arial"/>
              </a:rPr>
              <a:t>Contiene las instancias: nodos y relaciones</a:t>
            </a:r>
          </a:p>
        </p:txBody>
      </p:sp>
      <p:sp>
        <p:nvSpPr>
          <p:cNvPr id="43" name="Chip 43"/>
          <p:cNvSpPr/>
          <p:nvPr/>
        </p:nvSpPr>
        <p:spPr>
          <a:xfrm>
            <a:off x="6637066" y="4450400"/>
            <a:ext cx="4730666" cy="900000"/>
          </a:xfrm>
          <a:prstGeom prst="roundRect">
            <a:avLst>
              <a:gd name="adj" fmla="val 22000"/>
            </a:avLst>
          </a:prstGeom>
          <a:solidFill>
            <a:srgbClr val="E8B84B"/>
          </a:solidFill>
          <a:ln>
            <a:noFill/>
          </a:ln>
        </p:spPr>
        <p:txBody>
          <a:bodyPr wrap="square" lIns="0" tIns="0" rIns="0" bIns="0" anchor="t">
            <a:normAutofit/>
          </a:bodyPr>
          <a:lstStyle/>
          <a:p>
            <a:endParaRPr lang="es-ES"/>
          </a:p>
        </p:txBody>
      </p:sp>
      <p:sp>
        <p:nvSpPr>
          <p:cNvPr id="44" name="Chip texto 44"/>
          <p:cNvSpPr txBox="1"/>
          <p:nvPr/>
        </p:nvSpPr>
        <p:spPr>
          <a:xfrm>
            <a:off x="6637066" y="4450400"/>
            <a:ext cx="4730666" cy="900000"/>
          </a:xfrm>
          <a:prstGeom prst="rect">
            <a:avLst/>
          </a:prstGeom>
          <a:noFill/>
          <a:ln>
            <a:noFill/>
          </a:ln>
        </p:spPr>
        <p:txBody>
          <a:bodyPr wrap="square" lIns="120000" tIns="45720" rIns="120000" bIns="45720" anchor="ctr">
            <a:normAutofit/>
          </a:bodyPr>
          <a:lstStyle/>
          <a:p>
            <a:pPr marL="0" indent="0" algn="ctr">
              <a:spcBef>
                <a:spcPts val="0"/>
              </a:spcBef>
              <a:spcAft>
                <a:spcPts val="0"/>
              </a:spcAft>
              <a:buNone/>
            </a:pPr>
            <a:r>
              <a:rPr lang="es-ES" sz="1600" b="1" dirty="0">
                <a:solidFill>
                  <a:srgbClr val="09534E"/>
                </a:solidFill>
                <a:latin typeface="Arial"/>
                <a:cs typeface="Arial"/>
              </a:rPr>
              <a:t>Se llena tras el primer refresh</a:t>
            </a:r>
          </a:p>
        </p:txBody>
      </p:sp>
      <p:sp>
        <p:nvSpPr>
          <p:cNvPr id="45" name="Tarjeta 45"/>
          <p:cNvSpPr/>
          <p:nvPr/>
        </p:nvSpPr>
        <p:spPr>
          <a:xfrm>
            <a:off x="11879732" y="1562100"/>
            <a:ext cx="5210666" cy="3968496"/>
          </a:xfrm>
          <a:prstGeom prst="roundRect">
            <a:avLst>
              <a:gd name="adj" fmla="val 6000"/>
            </a:avLst>
          </a:prstGeom>
          <a:solidFill>
            <a:srgbClr val="E4F7EE"/>
          </a:solidFill>
          <a:ln>
            <a:noFill/>
          </a:ln>
          <a:effectLst>
            <a:outerShdw blurRad="50800" dist="38100" dir="2700000" algn="tl" rotWithShape="0">
              <a:prstClr val="black">
                <a:alpha val="40000"/>
              </a:prstClr>
            </a:outerShdw>
          </a:effectLst>
        </p:spPr>
        <p:txBody>
          <a:bodyPr wrap="square" lIns="0" tIns="0" rIns="0" bIns="0" anchor="t">
            <a:normAutofit/>
          </a:bodyPr>
          <a:lstStyle/>
          <a:p>
            <a:endParaRPr lang="es-ES"/>
          </a:p>
        </p:txBody>
      </p:sp>
      <p:sp>
        <p:nvSpPr>
          <p:cNvPr id="46" name="Circulo 46"/>
          <p:cNvSpPr/>
          <p:nvPr/>
        </p:nvSpPr>
        <p:spPr>
          <a:xfrm>
            <a:off x="12119732" y="1802100"/>
            <a:ext cx="760000" cy="760000"/>
          </a:xfrm>
          <a:prstGeom prst="ellipse">
            <a:avLst/>
          </a:prstGeom>
          <a:solidFill>
            <a:srgbClr val="10635A"/>
          </a:solidFill>
          <a:ln>
            <a:noFill/>
          </a:ln>
        </p:spPr>
        <p:txBody>
          <a:bodyPr wrap="square" lIns="0" tIns="0" rIns="0" bIns="0" anchor="t">
            <a:normAutofit/>
          </a:bodyPr>
          <a:lstStyle/>
          <a:p>
            <a:endParaRPr lang="es-ES"/>
          </a:p>
        </p:txBody>
      </p:sp>
      <p:pic>
        <p:nvPicPr>
          <p:cNvPr id="47" name="Icono 47" descr="SQL Analytics Endpoint"/>
          <p:cNvPicPr>
            <a:picLocks noChangeAspect="1"/>
          </p:cNvPicPr>
          <p:nvPr/>
        </p:nvPicPr>
        <p:blipFill>
          <a:blip r:embed="rId4"/>
          <a:stretch>
            <a:fillRect/>
          </a:stretch>
        </p:blipFill>
        <p:spPr>
          <a:xfrm>
            <a:off x="12309732" y="1992100"/>
            <a:ext cx="380000" cy="380000"/>
          </a:xfrm>
          <a:prstGeom prst="rect">
            <a:avLst/>
          </a:prstGeom>
        </p:spPr>
      </p:pic>
      <p:sp>
        <p:nvSpPr>
          <p:cNvPr id="48" name="Titulo tarjeta 48"/>
          <p:cNvSpPr txBox="1"/>
          <p:nvPr/>
        </p:nvSpPr>
        <p:spPr>
          <a:xfrm>
            <a:off x="13019732" y="1802100"/>
            <a:ext cx="3910666" cy="760000"/>
          </a:xfrm>
          <a:prstGeom prst="rect">
            <a:avLst/>
          </a:prstGeom>
          <a:noFill/>
          <a:ln>
            <a:noFill/>
          </a:ln>
        </p:spPr>
        <p:txBody>
          <a:bodyPr wrap="square" lIns="0" tIns="0" rIns="0" bIns="0" anchor="ctr">
            <a:normAutofit/>
          </a:bodyPr>
          <a:lstStyle/>
          <a:p>
            <a:pPr marL="0" indent="0" algn="l">
              <a:spcBef>
                <a:spcPts val="0"/>
              </a:spcBef>
              <a:spcAft>
                <a:spcPts val="0"/>
              </a:spcAft>
              <a:buNone/>
            </a:pPr>
            <a:r>
              <a:rPr lang="es-ES" sz="2000" b="1" dirty="0">
                <a:solidFill>
                  <a:srgbClr val="10635A"/>
                </a:solidFill>
                <a:latin typeface="Arial"/>
                <a:cs typeface="Arial"/>
              </a:rPr>
              <a:t>3. SQL Analytics Endpoint</a:t>
            </a:r>
          </a:p>
        </p:txBody>
      </p:sp>
      <p:sp>
        <p:nvSpPr>
          <p:cNvPr id="49" name="Texto 49"/>
          <p:cNvSpPr txBox="1"/>
          <p:nvPr/>
        </p:nvSpPr>
        <p:spPr>
          <a:xfrm>
            <a:off x="12119732" y="2792100"/>
            <a:ext cx="4730666" cy="2930000"/>
          </a:xfrm>
          <a:prstGeom prst="rect">
            <a:avLst/>
          </a:prstGeom>
          <a:noFill/>
          <a:ln>
            <a:noFill/>
          </a:ln>
        </p:spPr>
        <p:txBody>
          <a:bodyPr wrap="square" lIns="0" tIns="0" rIns="0" bIns="0" anchor="t">
            <a:normAutofit/>
          </a:bodyPr>
          <a:lstStyle/>
          <a:p>
            <a:pPr marL="285750" indent="-285750" algn="l">
              <a:spcBef>
                <a:spcPts val="0"/>
              </a:spcBef>
              <a:spcAft>
                <a:spcPts val="600"/>
              </a:spcAft>
              <a:buClr>
                <a:srgbClr val="1E8A7C"/>
              </a:buClr>
              <a:buFont typeface="Arial"/>
              <a:buChar char="•"/>
            </a:pPr>
            <a:r>
              <a:rPr lang="es-ES" sz="1700" dirty="0">
                <a:solidFill>
                  <a:srgbClr val="09534E"/>
                </a:solidFill>
                <a:latin typeface="Arial"/>
                <a:cs typeface="Arial"/>
              </a:rPr>
              <a:t>Se crea vacío</a:t>
            </a:r>
          </a:p>
          <a:p>
            <a:pPr marL="285750" indent="-285750" algn="l">
              <a:spcBef>
                <a:spcPts val="0"/>
              </a:spcBef>
              <a:spcAft>
                <a:spcPts val="600"/>
              </a:spcAft>
              <a:buClr>
                <a:srgbClr val="1E8A7C"/>
              </a:buClr>
              <a:buFont typeface="Arial"/>
              <a:buChar char="•"/>
            </a:pPr>
            <a:r>
              <a:rPr lang="es-ES" sz="1700" dirty="0">
                <a:solidFill>
                  <a:srgbClr val="09534E"/>
                </a:solidFill>
                <a:latin typeface="Arial"/>
                <a:cs typeface="Arial"/>
              </a:rPr>
              <a:t>Se relaciona con el Lakehouse y muestra las tablas cuando existen</a:t>
            </a:r>
          </a:p>
          <a:p>
            <a:pPr marL="285750" indent="-285750" algn="l">
              <a:spcBef>
                <a:spcPts val="0"/>
              </a:spcBef>
              <a:spcAft>
                <a:spcPts val="600"/>
              </a:spcAft>
              <a:buClr>
                <a:srgbClr val="1E8A7C"/>
              </a:buClr>
              <a:buFont typeface="Arial"/>
              <a:buChar char="•"/>
            </a:pPr>
            <a:r>
              <a:rPr lang="es-ES" sz="1700" dirty="0">
                <a:solidFill>
                  <a:srgbClr val="09534E"/>
                </a:solidFill>
                <a:latin typeface="Arial"/>
                <a:cs typeface="Arial"/>
              </a:rPr>
              <a:t>Se actualiza automáticamente</a:t>
            </a:r>
          </a:p>
        </p:txBody>
      </p:sp>
      <p:sp>
        <p:nvSpPr>
          <p:cNvPr id="50" name="Chip 50"/>
          <p:cNvSpPr/>
          <p:nvPr/>
        </p:nvSpPr>
        <p:spPr>
          <a:xfrm>
            <a:off x="12119732" y="4450400"/>
            <a:ext cx="4730666" cy="900000"/>
          </a:xfrm>
          <a:prstGeom prst="roundRect">
            <a:avLst>
              <a:gd name="adj" fmla="val 22000"/>
            </a:avLst>
          </a:prstGeom>
          <a:solidFill>
            <a:srgbClr val="10635A"/>
          </a:solidFill>
          <a:ln>
            <a:noFill/>
          </a:ln>
        </p:spPr>
        <p:txBody>
          <a:bodyPr wrap="square" lIns="0" tIns="0" rIns="0" bIns="0" anchor="t">
            <a:normAutofit/>
          </a:bodyPr>
          <a:lstStyle/>
          <a:p>
            <a:endParaRPr lang="es-ES"/>
          </a:p>
        </p:txBody>
      </p:sp>
      <p:sp>
        <p:nvSpPr>
          <p:cNvPr id="51" name="Chip texto 51"/>
          <p:cNvSpPr txBox="1"/>
          <p:nvPr/>
        </p:nvSpPr>
        <p:spPr>
          <a:xfrm>
            <a:off x="12119732" y="4450400"/>
            <a:ext cx="4730666" cy="900000"/>
          </a:xfrm>
          <a:prstGeom prst="rect">
            <a:avLst/>
          </a:prstGeom>
          <a:noFill/>
          <a:ln>
            <a:noFill/>
          </a:ln>
        </p:spPr>
        <p:txBody>
          <a:bodyPr wrap="square" lIns="120000" tIns="45720" rIns="120000" bIns="45720" anchor="ctr">
            <a:normAutofit/>
          </a:bodyPr>
          <a:lstStyle/>
          <a:p>
            <a:pPr marL="0" indent="0" algn="ctr">
              <a:spcBef>
                <a:spcPts val="0"/>
              </a:spcBef>
              <a:spcAft>
                <a:spcPts val="0"/>
              </a:spcAft>
              <a:buNone/>
            </a:pPr>
            <a:r>
              <a:rPr lang="es-ES" sz="1600" b="1" dirty="0">
                <a:solidFill>
                  <a:srgbClr val="FFFFFF"/>
                </a:solidFill>
                <a:latin typeface="Arial"/>
                <a:cs typeface="Arial"/>
              </a:rPr>
              <a:t>Consultable por T-SQL</a:t>
            </a:r>
          </a:p>
        </p:txBody>
      </p:sp>
      <p:sp>
        <p:nvSpPr>
          <p:cNvPr id="52" name="Mensaje clave 52"/>
          <p:cNvSpPr/>
          <p:nvPr/>
        </p:nvSpPr>
        <p:spPr>
          <a:xfrm>
            <a:off x="10559928" y="5742432"/>
            <a:ext cx="6530207" cy="3127248"/>
          </a:xfrm>
          <a:prstGeom prst="roundRect">
            <a:avLst>
              <a:gd name="adj" fmla="val 9000"/>
            </a:avLst>
          </a:prstGeom>
          <a:solidFill>
            <a:srgbClr val="09534E"/>
          </a:solidFill>
          <a:ln>
            <a:noFill/>
          </a:ln>
          <a:effectLst>
            <a:outerShdw blurRad="63500" dist="38100" dir="5400000" algn="t" rotWithShape="0">
              <a:prstClr val="black">
                <a:alpha val="30000"/>
              </a:prstClr>
            </a:outerShdw>
          </a:effectLst>
        </p:spPr>
        <p:txBody>
          <a:bodyPr wrap="square" lIns="411480" tIns="182880" rIns="320040" bIns="182880" anchor="ctr">
            <a:noAutofit/>
          </a:bodyPr>
          <a:lstStyle/>
          <a:p>
            <a:pPr algn="l">
              <a:spcAft>
                <a:spcPts val="600"/>
              </a:spcAft>
            </a:pPr>
            <a:r>
              <a:rPr lang="es-ES" sz="2200" b="0" dirty="0">
                <a:solidFill>
                  <a:srgbClr val="FFFFFF"/>
                </a:solidFill>
                <a:latin typeface="Arial"/>
                <a:cs typeface="Arial"/>
              </a:rPr>
              <a:t xml:space="preserve">El </a:t>
            </a:r>
            <a:r>
              <a:rPr lang="es-ES" sz="2200" b="1" dirty="0">
                <a:solidFill>
                  <a:srgbClr val="FFFFFF"/>
                </a:solidFill>
                <a:latin typeface="Arial"/>
                <a:cs typeface="Arial"/>
              </a:rPr>
              <a:t xml:space="preserve">Lakehouse</a:t>
            </a:r>
            <a:r>
              <a:rPr lang="es-ES" sz="2200" b="1" dirty="0">
                <a:solidFill>
                  <a:srgbClr val="7DE9B0"/>
                </a:solidFill>
                <a:latin typeface="Arial"/>
                <a:cs typeface="Arial"/>
              </a:rPr>
              <a:t xml:space="preserve"> guarda</a:t>
            </a:r>
          </a:p>
          <a:p>
            <a:pPr algn="l">
              <a:spcAft>
                <a:spcPts val="600"/>
              </a:spcAft>
            </a:pPr>
            <a:r>
              <a:rPr lang="es-ES" sz="2200" b="0" dirty="0">
                <a:solidFill>
                  <a:srgbClr val="FFFFFF"/>
                </a:solidFill>
                <a:latin typeface="Arial"/>
                <a:cs typeface="Arial"/>
              </a:rPr>
              <a:t xml:space="preserve">El </a:t>
            </a:r>
            <a:r>
              <a:rPr lang="es-ES" sz="2200" b="1" dirty="0">
                <a:solidFill>
                  <a:srgbClr val="FFFFFF"/>
                </a:solidFill>
                <a:latin typeface="Arial"/>
                <a:cs typeface="Arial"/>
              </a:rPr>
              <a:t xml:space="preserve">Graph</a:t>
            </a:r>
            <a:r>
              <a:rPr lang="es-ES" sz="2200" b="1" dirty="0">
                <a:solidFill>
                  <a:srgbClr val="7DE9B0"/>
                </a:solidFill>
                <a:latin typeface="Arial"/>
                <a:cs typeface="Arial"/>
              </a:rPr>
              <a:t xml:space="preserve"> conecta</a:t>
            </a:r>
          </a:p>
          <a:p>
            <a:pPr algn="l">
              <a:spcAft>
                <a:spcPts val="1400"/>
              </a:spcAft>
            </a:pPr>
            <a:r>
              <a:rPr lang="es-ES" sz="2200" b="0" dirty="0">
                <a:solidFill>
                  <a:srgbClr val="FFFFFF"/>
                </a:solidFill>
                <a:latin typeface="Arial"/>
                <a:cs typeface="Arial"/>
              </a:rPr>
              <a:t xml:space="preserve">El </a:t>
            </a:r>
            <a:r>
              <a:rPr lang="es-ES" sz="2200" b="1" dirty="0">
                <a:solidFill>
                  <a:srgbClr val="FFFFFF"/>
                </a:solidFill>
                <a:latin typeface="Arial"/>
                <a:cs typeface="Arial"/>
              </a:rPr>
              <a:t xml:space="preserve">SQL Endpoint</a:t>
            </a:r>
            <a:r>
              <a:rPr lang="es-ES" sz="2200" b="1" dirty="0">
                <a:solidFill>
                  <a:srgbClr val="7DE9B0"/>
                </a:solidFill>
                <a:latin typeface="Arial"/>
                <a:cs typeface="Arial"/>
              </a:rPr>
              <a:t xml:space="preserve"> expone</a:t>
            </a:r>
          </a:p>
          <a:p>
            <a:pPr algn="l">
              <a:lnSpc>
                <a:spcPct val="95000"/>
              </a:lnSpc>
            </a:pPr>
            <a:r>
              <a:rPr lang="es-ES" sz="2800" b="1" dirty="0">
                <a:solidFill>
                  <a:srgbClr val="7DE9B0"/>
                </a:solidFill>
                <a:latin typeface="Arial"/>
                <a:cs typeface="Arial"/>
              </a:rPr>
              <a:t xml:space="preserve">La ontología no copia tus datos.</a:t>
            </a:r>
          </a:p>
        </p:txBody>
      </p:sp>
      <p:pic>
        <p:nvPicPr>
          <p:cNvPr id="4" name="Imagen 3">
            <a:extLst>
              <a:ext uri="{FF2B5EF4-FFF2-40B4-BE49-F238E27FC236}">
                <a16:creationId xmlns:a16="http://schemas.microsoft.com/office/drawing/2014/main" id="{2A10F79F-93B3-0E1C-B17C-73A07A747697}"/>
              </a:ext>
            </a:extLst>
          </p:cNvPr>
          <p:cNvPicPr>
            <a:picLocks noChangeAspect="1"/>
          </p:cNvPicPr>
          <p:nvPr/>
        </p:nvPicPr>
        <p:blipFill>
          <a:blip r:embed="rId5"/>
          <a:stretch>
            <a:fillRect/>
          </a:stretch>
        </p:blipFill>
        <p:spPr>
          <a:xfrm>
            <a:off x="914400" y="5742432"/>
            <a:ext cx="9279768" cy="3127248"/>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847107-9EC0-9F72-9939-3C2BF252279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4BDE442-0CB6-CACF-33E1-FC90BC94A53F}"/>
              </a:ext>
            </a:extLst>
          </p:cNvPr>
          <p:cNvSpPr>
            <a:spLocks noGrp="1"/>
          </p:cNvSpPr>
          <p:nvPr>
            <p:ph type="title"/>
          </p:nvPr>
        </p:nvSpPr>
        <p:spPr>
          <a:xfrm>
            <a:off x="1223304" y="266700"/>
            <a:ext cx="15773400" cy="1584323"/>
          </a:xfrm>
        </p:spPr>
        <p:txBody>
          <a:bodyPr>
            <a:normAutofit/>
          </a:bodyPr>
          <a:lstStyle/>
          <a:p>
            <a:pPr marL="0" indent="0">
              <a:buNone/>
            </a:pPr>
            <a:r>
              <a:rPr lang="es-ES" sz="4400" b="1" dirty="0">
                <a:latin typeface="Arial"/>
                <a:cs typeface="Arial"/>
              </a:rPr>
              <a:t>Consumo de Ontologías desde </a:t>
            </a:r>
            <a:r>
              <a:rPr lang="es-ES" sz="4400" b="1" dirty="0" err="1">
                <a:latin typeface="Arial"/>
                <a:cs typeface="Arial"/>
              </a:rPr>
              <a:t>Fabric</a:t>
            </a:r>
            <a:endParaRPr lang="es-ES" sz="4400" b="1" dirty="0">
              <a:latin typeface="Arial"/>
              <a:cs typeface="Arial"/>
            </a:endParaRPr>
          </a:p>
        </p:txBody>
      </p:sp>
      <p:sp>
        <p:nvSpPr>
          <p:cNvPr id="5" name="Ontologia 11">
            <a:extLst>
              <a:ext uri="{FF2B5EF4-FFF2-40B4-BE49-F238E27FC236}">
                <a16:creationId xmlns:a16="http://schemas.microsoft.com/office/drawing/2014/main" id="{F485EC86-6CF2-10FF-E421-90DD0A93A651}"/>
              </a:ext>
            </a:extLst>
          </p:cNvPr>
          <p:cNvSpPr/>
          <p:nvPr/>
        </p:nvSpPr>
        <p:spPr>
          <a:xfrm>
            <a:off x="7655269" y="1845700"/>
            <a:ext cx="2700000" cy="600000"/>
          </a:xfrm>
          <a:prstGeom prst="roundRect">
            <a:avLst>
              <a:gd name="adj" fmla="val 30000"/>
            </a:avLst>
          </a:prstGeom>
          <a:solidFill>
            <a:srgbClr val="E8B84B"/>
          </a:solidFill>
          <a:ln>
            <a:noFill/>
          </a:ln>
        </p:spPr>
        <p:txBody>
          <a:bodyPr wrap="square" lIns="0" tIns="0" rIns="0" bIns="0" anchor="t">
            <a:normAutofit/>
          </a:bodyPr>
          <a:lstStyle/>
          <a:p>
            <a:endParaRPr lang="es-ES"/>
          </a:p>
        </p:txBody>
      </p:sp>
      <p:sp>
        <p:nvSpPr>
          <p:cNvPr id="6" name="Ontologia texto 12">
            <a:extLst>
              <a:ext uri="{FF2B5EF4-FFF2-40B4-BE49-F238E27FC236}">
                <a16:creationId xmlns:a16="http://schemas.microsoft.com/office/drawing/2014/main" id="{F6C9038F-E292-FD66-A5FC-C751DAB60A14}"/>
              </a:ext>
            </a:extLst>
          </p:cNvPr>
          <p:cNvSpPr txBox="1"/>
          <p:nvPr/>
        </p:nvSpPr>
        <p:spPr>
          <a:xfrm>
            <a:off x="7655269" y="1845700"/>
            <a:ext cx="2700000" cy="600000"/>
          </a:xfrm>
          <a:prstGeom prst="rect">
            <a:avLst/>
          </a:prstGeom>
          <a:noFill/>
          <a:ln>
            <a:noFill/>
          </a:ln>
        </p:spPr>
        <p:txBody>
          <a:bodyPr wrap="square" lIns="0" tIns="0" rIns="0" bIns="0" anchor="ctr">
            <a:normAutofit/>
          </a:bodyPr>
          <a:lstStyle/>
          <a:p>
            <a:pPr marL="0" indent="0" algn="ctr">
              <a:spcBef>
                <a:spcPts val="0"/>
              </a:spcBef>
              <a:spcAft>
                <a:spcPts val="0"/>
              </a:spcAft>
              <a:buNone/>
            </a:pPr>
            <a:r>
              <a:rPr lang="es-ES" sz="2200" b="1" dirty="0">
                <a:solidFill>
                  <a:srgbClr val="09534E"/>
                </a:solidFill>
                <a:latin typeface="Arial"/>
                <a:cs typeface="Arial"/>
              </a:rPr>
              <a:t>ONTOLOGÍA</a:t>
            </a:r>
          </a:p>
        </p:txBody>
      </p:sp>
      <p:cxnSp>
        <p:nvCxnSpPr>
          <p:cNvPr id="7" name="c">
            <a:extLst>
              <a:ext uri="{FF2B5EF4-FFF2-40B4-BE49-F238E27FC236}">
                <a16:creationId xmlns:a16="http://schemas.microsoft.com/office/drawing/2014/main" id="{ED1B194F-B5B7-6145-1579-B07ADC88E7BB}"/>
              </a:ext>
            </a:extLst>
          </p:cNvPr>
          <p:cNvCxnSpPr/>
          <p:nvPr/>
        </p:nvCxnSpPr>
        <p:spPr>
          <a:xfrm>
            <a:off x="9005269" y="2445700"/>
            <a:ext cx="2" cy="450000"/>
          </a:xfrm>
          <a:prstGeom prst="straightConnector1">
            <a:avLst/>
          </a:prstGeom>
          <a:ln w="38100">
            <a:solidFill>
              <a:srgbClr val="1E8A7C"/>
            </a:solidFill>
          </a:ln>
        </p:spPr>
      </p:cxnSp>
      <p:sp>
        <p:nvSpPr>
          <p:cNvPr id="8" name="Etiqueta fondo 14">
            <a:extLst>
              <a:ext uri="{FF2B5EF4-FFF2-40B4-BE49-F238E27FC236}">
                <a16:creationId xmlns:a16="http://schemas.microsoft.com/office/drawing/2014/main" id="{AE74310B-6401-19D8-4BED-D7A4D6FCD6E9}"/>
              </a:ext>
            </a:extLst>
          </p:cNvPr>
          <p:cNvSpPr/>
          <p:nvPr/>
        </p:nvSpPr>
        <p:spPr>
          <a:xfrm>
            <a:off x="7255269" y="2460700"/>
            <a:ext cx="3500000" cy="420000"/>
          </a:xfrm>
          <a:prstGeom prst="roundRect">
            <a:avLst>
              <a:gd name="adj" fmla="val 0"/>
            </a:avLst>
          </a:prstGeom>
          <a:solidFill>
            <a:srgbClr val="EDEDED"/>
          </a:solidFill>
          <a:ln>
            <a:noFill/>
          </a:ln>
        </p:spPr>
        <p:txBody>
          <a:bodyPr wrap="square" lIns="0" tIns="0" rIns="0" bIns="0" anchor="t">
            <a:normAutofit/>
          </a:bodyPr>
          <a:lstStyle/>
          <a:p>
            <a:endParaRPr lang="es-ES"/>
          </a:p>
        </p:txBody>
      </p:sp>
      <p:sp>
        <p:nvSpPr>
          <p:cNvPr id="9" name="Etiqueta 15">
            <a:extLst>
              <a:ext uri="{FF2B5EF4-FFF2-40B4-BE49-F238E27FC236}">
                <a16:creationId xmlns:a16="http://schemas.microsoft.com/office/drawing/2014/main" id="{20A2256C-2A4D-9166-0695-01C5A8351F13}"/>
              </a:ext>
            </a:extLst>
          </p:cNvPr>
          <p:cNvSpPr txBox="1"/>
          <p:nvPr/>
        </p:nvSpPr>
        <p:spPr>
          <a:xfrm>
            <a:off x="7255269" y="2460700"/>
            <a:ext cx="3500000" cy="420000"/>
          </a:xfrm>
          <a:prstGeom prst="rect">
            <a:avLst/>
          </a:prstGeom>
          <a:noFill/>
          <a:ln>
            <a:noFill/>
          </a:ln>
        </p:spPr>
        <p:txBody>
          <a:bodyPr wrap="square" lIns="0" tIns="0" rIns="0" bIns="0" anchor="ctr">
            <a:normAutofit/>
          </a:bodyPr>
          <a:lstStyle/>
          <a:p>
            <a:pPr marL="0" indent="0" algn="ctr">
              <a:spcBef>
                <a:spcPts val="0"/>
              </a:spcBef>
              <a:spcAft>
                <a:spcPts val="0"/>
              </a:spcAft>
              <a:buNone/>
            </a:pPr>
            <a:r>
              <a:rPr lang="es-ES" sz="1500" b="1" dirty="0">
                <a:solidFill>
                  <a:srgbClr val="1E8A7C"/>
                </a:solidFill>
                <a:latin typeface="Arial"/>
                <a:cs typeface="Arial"/>
              </a:rPr>
              <a:t>Contexto semántico gobernado</a:t>
            </a:r>
          </a:p>
        </p:txBody>
      </p:sp>
      <p:cxnSp>
        <p:nvCxnSpPr>
          <p:cNvPr id="10" name="c">
            <a:extLst>
              <a:ext uri="{FF2B5EF4-FFF2-40B4-BE49-F238E27FC236}">
                <a16:creationId xmlns:a16="http://schemas.microsoft.com/office/drawing/2014/main" id="{1B7D7BF0-3DF2-354F-E4C5-F2F09D4676FF}"/>
              </a:ext>
            </a:extLst>
          </p:cNvPr>
          <p:cNvCxnSpPr/>
          <p:nvPr/>
        </p:nvCxnSpPr>
        <p:spPr>
          <a:xfrm>
            <a:off x="2837269" y="2895700"/>
            <a:ext cx="12336000" cy="2"/>
          </a:xfrm>
          <a:prstGeom prst="straightConnector1">
            <a:avLst/>
          </a:prstGeom>
          <a:ln w="38100">
            <a:solidFill>
              <a:srgbClr val="1E8A7C"/>
            </a:solidFill>
          </a:ln>
        </p:spPr>
      </p:cxnSp>
      <p:cxnSp>
        <p:nvCxnSpPr>
          <p:cNvPr id="11" name="c">
            <a:extLst>
              <a:ext uri="{FF2B5EF4-FFF2-40B4-BE49-F238E27FC236}">
                <a16:creationId xmlns:a16="http://schemas.microsoft.com/office/drawing/2014/main" id="{43B58D75-921E-8988-BEE9-C8EA826DB48C}"/>
              </a:ext>
            </a:extLst>
          </p:cNvPr>
          <p:cNvCxnSpPr/>
          <p:nvPr/>
        </p:nvCxnSpPr>
        <p:spPr>
          <a:xfrm>
            <a:off x="2837269" y="2895700"/>
            <a:ext cx="2" cy="800000"/>
          </a:xfrm>
          <a:prstGeom prst="straightConnector1">
            <a:avLst/>
          </a:prstGeom>
          <a:ln w="38100">
            <a:solidFill>
              <a:srgbClr val="1E8A7C"/>
            </a:solidFill>
            <a:tailEnd type="triangle"/>
          </a:ln>
        </p:spPr>
      </p:cxnSp>
      <p:cxnSp>
        <p:nvCxnSpPr>
          <p:cNvPr id="12" name="c">
            <a:extLst>
              <a:ext uri="{FF2B5EF4-FFF2-40B4-BE49-F238E27FC236}">
                <a16:creationId xmlns:a16="http://schemas.microsoft.com/office/drawing/2014/main" id="{270DA32E-4795-40C6-47E6-90F676FBA1E4}"/>
              </a:ext>
            </a:extLst>
          </p:cNvPr>
          <p:cNvCxnSpPr/>
          <p:nvPr/>
        </p:nvCxnSpPr>
        <p:spPr>
          <a:xfrm>
            <a:off x="6949269" y="2895700"/>
            <a:ext cx="2" cy="800000"/>
          </a:xfrm>
          <a:prstGeom prst="straightConnector1">
            <a:avLst/>
          </a:prstGeom>
          <a:ln w="38100">
            <a:solidFill>
              <a:srgbClr val="1E8A7C"/>
            </a:solidFill>
            <a:tailEnd type="triangle"/>
          </a:ln>
        </p:spPr>
      </p:cxnSp>
      <p:cxnSp>
        <p:nvCxnSpPr>
          <p:cNvPr id="13" name="c">
            <a:extLst>
              <a:ext uri="{FF2B5EF4-FFF2-40B4-BE49-F238E27FC236}">
                <a16:creationId xmlns:a16="http://schemas.microsoft.com/office/drawing/2014/main" id="{374B2EDF-B60B-1910-82EE-0D3E6457F4C6}"/>
              </a:ext>
            </a:extLst>
          </p:cNvPr>
          <p:cNvCxnSpPr/>
          <p:nvPr/>
        </p:nvCxnSpPr>
        <p:spPr>
          <a:xfrm>
            <a:off x="11061269" y="2895700"/>
            <a:ext cx="2" cy="800000"/>
          </a:xfrm>
          <a:prstGeom prst="straightConnector1">
            <a:avLst/>
          </a:prstGeom>
          <a:ln w="38100">
            <a:solidFill>
              <a:srgbClr val="1E8A7C"/>
            </a:solidFill>
            <a:tailEnd type="triangle"/>
          </a:ln>
        </p:spPr>
      </p:cxnSp>
      <p:cxnSp>
        <p:nvCxnSpPr>
          <p:cNvPr id="14" name="c">
            <a:extLst>
              <a:ext uri="{FF2B5EF4-FFF2-40B4-BE49-F238E27FC236}">
                <a16:creationId xmlns:a16="http://schemas.microsoft.com/office/drawing/2014/main" id="{394DC634-3E8E-621F-D72E-B44ADD75343A}"/>
              </a:ext>
            </a:extLst>
          </p:cNvPr>
          <p:cNvCxnSpPr/>
          <p:nvPr/>
        </p:nvCxnSpPr>
        <p:spPr>
          <a:xfrm>
            <a:off x="15173269" y="2895700"/>
            <a:ext cx="2" cy="800000"/>
          </a:xfrm>
          <a:prstGeom prst="straightConnector1">
            <a:avLst/>
          </a:prstGeom>
          <a:ln w="38100">
            <a:solidFill>
              <a:srgbClr val="1E8A7C"/>
            </a:solidFill>
            <a:tailEnd type="triangle"/>
          </a:ln>
        </p:spPr>
      </p:cxnSp>
      <p:sp>
        <p:nvSpPr>
          <p:cNvPr id="15" name="Tarjeta 21">
            <a:extLst>
              <a:ext uri="{FF2B5EF4-FFF2-40B4-BE49-F238E27FC236}">
                <a16:creationId xmlns:a16="http://schemas.microsoft.com/office/drawing/2014/main" id="{8C269D86-2F5F-109F-D5C9-FEE9B8048246}"/>
              </a:ext>
            </a:extLst>
          </p:cNvPr>
          <p:cNvSpPr/>
          <p:nvPr/>
        </p:nvSpPr>
        <p:spPr>
          <a:xfrm>
            <a:off x="917269" y="3695700"/>
            <a:ext cx="3840000" cy="4190998"/>
          </a:xfrm>
          <a:prstGeom prst="roundRect">
            <a:avLst>
              <a:gd name="adj" fmla="val 6000"/>
            </a:avLst>
          </a:prstGeom>
          <a:solidFill>
            <a:srgbClr val="E4F7EE"/>
          </a:solidFill>
          <a:ln>
            <a:noFill/>
          </a:ln>
          <a:effectLst>
            <a:outerShdw blurRad="50800" dist="38100" dir="2700000" algn="tl" rotWithShape="0">
              <a:prstClr val="black">
                <a:alpha val="40000"/>
              </a:prstClr>
            </a:outerShdw>
          </a:effectLst>
        </p:spPr>
        <p:txBody>
          <a:bodyPr wrap="square" lIns="0" tIns="0" rIns="0" bIns="0" anchor="t">
            <a:normAutofit/>
          </a:bodyPr>
          <a:lstStyle/>
          <a:p>
            <a:endParaRPr lang="es-ES"/>
          </a:p>
        </p:txBody>
      </p:sp>
      <p:sp>
        <p:nvSpPr>
          <p:cNvPr id="18" name="Titulo tarjeta 24">
            <a:extLst>
              <a:ext uri="{FF2B5EF4-FFF2-40B4-BE49-F238E27FC236}">
                <a16:creationId xmlns:a16="http://schemas.microsoft.com/office/drawing/2014/main" id="{31D26E05-899C-DBEE-EC8C-BD3B131468A3}"/>
              </a:ext>
            </a:extLst>
          </p:cNvPr>
          <p:cNvSpPr txBox="1"/>
          <p:nvPr/>
        </p:nvSpPr>
        <p:spPr>
          <a:xfrm>
            <a:off x="2057269" y="3935700"/>
            <a:ext cx="2540000" cy="760000"/>
          </a:xfrm>
          <a:prstGeom prst="rect">
            <a:avLst/>
          </a:prstGeom>
          <a:noFill/>
          <a:ln>
            <a:noFill/>
          </a:ln>
        </p:spPr>
        <p:txBody>
          <a:bodyPr wrap="square" lIns="0" tIns="0" rIns="0" bIns="0" anchor="ctr">
            <a:normAutofit/>
          </a:bodyPr>
          <a:lstStyle/>
          <a:p>
            <a:pPr marL="0" indent="0" algn="l">
              <a:spcBef>
                <a:spcPts val="0"/>
              </a:spcBef>
              <a:spcAft>
                <a:spcPts val="0"/>
              </a:spcAft>
              <a:buNone/>
            </a:pPr>
            <a:r>
              <a:rPr lang="es-ES" sz="2000" b="1" dirty="0">
                <a:solidFill>
                  <a:srgbClr val="10635A"/>
                </a:solidFill>
                <a:latin typeface="Arial"/>
                <a:cs typeface="Arial"/>
              </a:rPr>
              <a:t>1. Fabric Data Agent</a:t>
            </a:r>
          </a:p>
        </p:txBody>
      </p:sp>
      <p:sp>
        <p:nvSpPr>
          <p:cNvPr id="19" name="Texto 25">
            <a:extLst>
              <a:ext uri="{FF2B5EF4-FFF2-40B4-BE49-F238E27FC236}">
                <a16:creationId xmlns:a16="http://schemas.microsoft.com/office/drawing/2014/main" id="{B4DC9D5E-F7FD-E537-A3D8-4E9C46859C94}"/>
              </a:ext>
            </a:extLst>
          </p:cNvPr>
          <p:cNvSpPr txBox="1"/>
          <p:nvPr/>
        </p:nvSpPr>
        <p:spPr>
          <a:xfrm>
            <a:off x="1157269" y="4925700"/>
            <a:ext cx="3360000" cy="360000"/>
          </a:xfrm>
          <a:prstGeom prst="rect">
            <a:avLst/>
          </a:prstGeom>
          <a:noFill/>
          <a:ln>
            <a:noFill/>
          </a:ln>
        </p:spPr>
        <p:txBody>
          <a:bodyPr wrap="square" lIns="0" tIns="0" rIns="0" bIns="0" anchor="t">
            <a:normAutofit/>
          </a:bodyPr>
          <a:lstStyle/>
          <a:p>
            <a:pPr marL="0" indent="0" algn="l">
              <a:spcBef>
                <a:spcPts val="0"/>
              </a:spcBef>
              <a:spcAft>
                <a:spcPts val="0"/>
              </a:spcAft>
              <a:buNone/>
            </a:pPr>
            <a:r>
              <a:rPr lang="es-ES" sz="1550" b="1" dirty="0">
                <a:solidFill>
                  <a:srgbClr val="1E8A7C"/>
                </a:solidFill>
                <a:latin typeface="Arial"/>
                <a:cs typeface="Arial"/>
              </a:rPr>
              <a:t>Consultar y analizar</a:t>
            </a:r>
          </a:p>
        </p:txBody>
      </p:sp>
      <p:sp>
        <p:nvSpPr>
          <p:cNvPr id="20" name="Texto 26">
            <a:extLst>
              <a:ext uri="{FF2B5EF4-FFF2-40B4-BE49-F238E27FC236}">
                <a16:creationId xmlns:a16="http://schemas.microsoft.com/office/drawing/2014/main" id="{D3396ED0-A214-0D4F-3CB6-B037551B8D0C}"/>
              </a:ext>
            </a:extLst>
          </p:cNvPr>
          <p:cNvSpPr txBox="1"/>
          <p:nvPr/>
        </p:nvSpPr>
        <p:spPr>
          <a:xfrm>
            <a:off x="1157269" y="5355700"/>
            <a:ext cx="3360000" cy="750000"/>
          </a:xfrm>
          <a:prstGeom prst="rect">
            <a:avLst/>
          </a:prstGeom>
          <a:noFill/>
          <a:ln>
            <a:noFill/>
          </a:ln>
        </p:spPr>
        <p:txBody>
          <a:bodyPr wrap="square" lIns="0" tIns="0" rIns="0" bIns="0" anchor="t">
            <a:normAutofit fontScale="85000" lnSpcReduction="10000"/>
          </a:bodyPr>
          <a:lstStyle/>
          <a:p>
            <a:pPr marL="285750" indent="-285750" algn="l">
              <a:spcBef>
                <a:spcPts val="0"/>
              </a:spcBef>
              <a:spcAft>
                <a:spcPts val="350"/>
              </a:spcAft>
              <a:buClr>
                <a:srgbClr val="1E8A7C"/>
              </a:buClr>
              <a:buFont typeface="Arial"/>
              <a:buChar char="•"/>
            </a:pPr>
            <a:r>
              <a:rPr lang="es-ES" sz="1450" dirty="0">
                <a:solidFill>
                  <a:srgbClr val="09534E"/>
                </a:solidFill>
                <a:latin typeface="Arial"/>
                <a:cs typeface="Arial"/>
              </a:rPr>
              <a:t>Se añade como Data Source del agente</a:t>
            </a:r>
          </a:p>
          <a:p>
            <a:pPr marL="285750" indent="-285750" algn="l">
              <a:spcBef>
                <a:spcPts val="0"/>
              </a:spcBef>
              <a:spcAft>
                <a:spcPts val="350"/>
              </a:spcAft>
              <a:buClr>
                <a:srgbClr val="1E8A7C"/>
              </a:buClr>
              <a:buFont typeface="Arial"/>
              <a:buChar char="•"/>
            </a:pPr>
            <a:r>
              <a:rPr lang="es-ES" sz="1450" dirty="0">
                <a:solidFill>
                  <a:srgbClr val="09534E"/>
                </a:solidFill>
                <a:latin typeface="Arial"/>
                <a:cs typeface="Arial"/>
              </a:rPr>
              <a:t>Usa entidades, propiedades y relaciones para interpretar la pregunta y recuperar los datos</a:t>
            </a:r>
          </a:p>
        </p:txBody>
      </p:sp>
      <p:sp>
        <p:nvSpPr>
          <p:cNvPr id="21" name="Chip 27">
            <a:extLst>
              <a:ext uri="{FF2B5EF4-FFF2-40B4-BE49-F238E27FC236}">
                <a16:creationId xmlns:a16="http://schemas.microsoft.com/office/drawing/2014/main" id="{10CDB8A3-62FD-1F5B-C151-BD14C1CD96E0}"/>
              </a:ext>
            </a:extLst>
          </p:cNvPr>
          <p:cNvSpPr/>
          <p:nvPr/>
        </p:nvSpPr>
        <p:spPr>
          <a:xfrm>
            <a:off x="1157269" y="6435100"/>
            <a:ext cx="3360000" cy="1223000"/>
          </a:xfrm>
          <a:prstGeom prst="roundRect">
            <a:avLst>
              <a:gd name="adj" fmla="val 22000"/>
            </a:avLst>
          </a:prstGeom>
          <a:solidFill>
            <a:srgbClr val="10635A"/>
          </a:solidFill>
          <a:ln>
            <a:noFill/>
          </a:ln>
        </p:spPr>
        <p:txBody>
          <a:bodyPr wrap="square" lIns="0" tIns="0" rIns="0" bIns="0" anchor="t">
            <a:normAutofit/>
          </a:bodyPr>
          <a:lstStyle/>
          <a:p>
            <a:endParaRPr lang="es-ES"/>
          </a:p>
        </p:txBody>
      </p:sp>
      <p:sp>
        <p:nvSpPr>
          <p:cNvPr id="22" name="Chip texto 28">
            <a:extLst>
              <a:ext uri="{FF2B5EF4-FFF2-40B4-BE49-F238E27FC236}">
                <a16:creationId xmlns:a16="http://schemas.microsoft.com/office/drawing/2014/main" id="{41C20355-4970-6FCA-238E-8992A7F92654}"/>
              </a:ext>
            </a:extLst>
          </p:cNvPr>
          <p:cNvSpPr txBox="1"/>
          <p:nvPr/>
        </p:nvSpPr>
        <p:spPr>
          <a:xfrm>
            <a:off x="1157269" y="6592700"/>
            <a:ext cx="3360000" cy="913000"/>
          </a:xfrm>
          <a:prstGeom prst="rect">
            <a:avLst/>
          </a:prstGeom>
          <a:noFill/>
          <a:ln>
            <a:noFill/>
          </a:ln>
        </p:spPr>
        <p:txBody>
          <a:bodyPr wrap="square" lIns="90000" tIns="45720" rIns="90000" bIns="45720" anchor="ctr">
            <a:normAutofit fontScale="77500" lnSpcReduction="20000"/>
          </a:bodyPr>
          <a:lstStyle/>
          <a:p>
            <a:pPr marL="0" indent="0" algn="ctr">
              <a:spcBef>
                <a:spcPts val="0"/>
              </a:spcBef>
              <a:spcAft>
                <a:spcPts val="0"/>
              </a:spcAft>
              <a:buNone/>
            </a:pPr>
            <a:r>
              <a:rPr lang="es-ES" sz="2100" b="1" dirty="0">
                <a:solidFill>
                  <a:srgbClr val="FFFFFF"/>
                </a:solidFill>
                <a:latin typeface="Arial"/>
                <a:cs typeface="Arial"/>
              </a:rPr>
              <a:t>Preguntas en lenguaje natural</a:t>
            </a:r>
          </a:p>
          <a:p>
            <a:pPr algn="ctr"/>
            <a:endParaRPr lang="es-ES" sz="1500" b="1" dirty="0">
              <a:solidFill>
                <a:srgbClr val="FFFFFF"/>
              </a:solidFill>
              <a:latin typeface="Arial"/>
              <a:cs typeface="Arial"/>
            </a:endParaRPr>
          </a:p>
          <a:p>
            <a:pPr algn="ctr"/>
            <a:r>
              <a:rPr lang="es-ES" sz="1500" b="1" dirty="0">
                <a:solidFill>
                  <a:srgbClr val="FFFFFF"/>
                </a:solidFill>
                <a:latin typeface="Arial"/>
                <a:cs typeface="Arial"/>
              </a:rPr>
              <a:t>(Ej. ¿Qué parques eólicos de A Coruña generaron más energía en 2025 y cuáles fueron sus ingresos?)</a:t>
            </a:r>
          </a:p>
        </p:txBody>
      </p:sp>
      <p:sp>
        <p:nvSpPr>
          <p:cNvPr id="23" name="Tarjeta 29">
            <a:extLst>
              <a:ext uri="{FF2B5EF4-FFF2-40B4-BE49-F238E27FC236}">
                <a16:creationId xmlns:a16="http://schemas.microsoft.com/office/drawing/2014/main" id="{6907B960-C015-B175-1888-F81E12322569}"/>
              </a:ext>
            </a:extLst>
          </p:cNvPr>
          <p:cNvSpPr/>
          <p:nvPr/>
        </p:nvSpPr>
        <p:spPr>
          <a:xfrm>
            <a:off x="5029269" y="3695700"/>
            <a:ext cx="3840000" cy="4190996"/>
          </a:xfrm>
          <a:prstGeom prst="roundRect">
            <a:avLst>
              <a:gd name="adj" fmla="val 6000"/>
            </a:avLst>
          </a:prstGeom>
          <a:solidFill>
            <a:srgbClr val="E4F7EE"/>
          </a:solidFill>
          <a:ln>
            <a:noFill/>
          </a:ln>
          <a:effectLst>
            <a:outerShdw blurRad="50800" dist="38100" dir="2700000" algn="tl" rotWithShape="0">
              <a:prstClr val="black">
                <a:alpha val="40000"/>
              </a:prstClr>
            </a:outerShdw>
          </a:effectLst>
        </p:spPr>
        <p:txBody>
          <a:bodyPr wrap="square" lIns="0" tIns="0" rIns="0" bIns="0" anchor="t">
            <a:normAutofit/>
          </a:bodyPr>
          <a:lstStyle/>
          <a:p>
            <a:endParaRPr lang="es-ES"/>
          </a:p>
        </p:txBody>
      </p:sp>
      <p:sp>
        <p:nvSpPr>
          <p:cNvPr id="26" name="Titulo tarjeta 32">
            <a:extLst>
              <a:ext uri="{FF2B5EF4-FFF2-40B4-BE49-F238E27FC236}">
                <a16:creationId xmlns:a16="http://schemas.microsoft.com/office/drawing/2014/main" id="{01A30213-2447-D2A5-BB11-5709E4E92C79}"/>
              </a:ext>
            </a:extLst>
          </p:cNvPr>
          <p:cNvSpPr txBox="1"/>
          <p:nvPr/>
        </p:nvSpPr>
        <p:spPr>
          <a:xfrm>
            <a:off x="6247785" y="3961302"/>
            <a:ext cx="2356384" cy="760000"/>
          </a:xfrm>
          <a:prstGeom prst="rect">
            <a:avLst/>
          </a:prstGeom>
          <a:noFill/>
          <a:ln>
            <a:noFill/>
          </a:ln>
        </p:spPr>
        <p:txBody>
          <a:bodyPr wrap="square" lIns="0" tIns="0" rIns="0" bIns="0" anchor="ctr">
            <a:normAutofit/>
          </a:bodyPr>
          <a:lstStyle/>
          <a:p>
            <a:pPr marL="0" indent="0" algn="l">
              <a:spcBef>
                <a:spcPts val="0"/>
              </a:spcBef>
              <a:spcAft>
                <a:spcPts val="0"/>
              </a:spcAft>
              <a:buNone/>
            </a:pPr>
            <a:r>
              <a:rPr lang="es-ES" sz="2000" b="1" dirty="0">
                <a:solidFill>
                  <a:srgbClr val="10635A"/>
                </a:solidFill>
                <a:latin typeface="Arial"/>
                <a:cs typeface="Arial"/>
              </a:rPr>
              <a:t>2. Fabric Operations Agent</a:t>
            </a:r>
          </a:p>
        </p:txBody>
      </p:sp>
      <p:sp>
        <p:nvSpPr>
          <p:cNvPr id="27" name="Texto 33">
            <a:extLst>
              <a:ext uri="{FF2B5EF4-FFF2-40B4-BE49-F238E27FC236}">
                <a16:creationId xmlns:a16="http://schemas.microsoft.com/office/drawing/2014/main" id="{2B36E007-BEF2-A2ED-1DF6-F06DF39EB32A}"/>
              </a:ext>
            </a:extLst>
          </p:cNvPr>
          <p:cNvSpPr txBox="1"/>
          <p:nvPr/>
        </p:nvSpPr>
        <p:spPr>
          <a:xfrm>
            <a:off x="5269269" y="4925700"/>
            <a:ext cx="3360000" cy="360000"/>
          </a:xfrm>
          <a:prstGeom prst="rect">
            <a:avLst/>
          </a:prstGeom>
          <a:noFill/>
          <a:ln>
            <a:noFill/>
          </a:ln>
        </p:spPr>
        <p:txBody>
          <a:bodyPr wrap="square" lIns="0" tIns="0" rIns="0" bIns="0" anchor="t">
            <a:normAutofit/>
          </a:bodyPr>
          <a:lstStyle/>
          <a:p>
            <a:pPr marL="0" indent="0" algn="l">
              <a:spcBef>
                <a:spcPts val="0"/>
              </a:spcBef>
              <a:spcAft>
                <a:spcPts val="0"/>
              </a:spcAft>
              <a:buNone/>
            </a:pPr>
            <a:r>
              <a:rPr lang="es-ES" sz="1550" b="1" dirty="0">
                <a:solidFill>
                  <a:srgbClr val="1E8A7C"/>
                </a:solidFill>
                <a:latin typeface="Arial"/>
                <a:cs typeface="Arial"/>
              </a:rPr>
              <a:t>Monitorizar y actuar</a:t>
            </a:r>
          </a:p>
        </p:txBody>
      </p:sp>
      <p:sp>
        <p:nvSpPr>
          <p:cNvPr id="28" name="Texto 34">
            <a:extLst>
              <a:ext uri="{FF2B5EF4-FFF2-40B4-BE49-F238E27FC236}">
                <a16:creationId xmlns:a16="http://schemas.microsoft.com/office/drawing/2014/main" id="{BDE5EB83-E016-335B-29A0-2419EC971ABC}"/>
              </a:ext>
            </a:extLst>
          </p:cNvPr>
          <p:cNvSpPr txBox="1"/>
          <p:nvPr/>
        </p:nvSpPr>
        <p:spPr>
          <a:xfrm>
            <a:off x="5269269" y="5355700"/>
            <a:ext cx="3360000" cy="750000"/>
          </a:xfrm>
          <a:prstGeom prst="rect">
            <a:avLst/>
          </a:prstGeom>
          <a:noFill/>
          <a:ln>
            <a:noFill/>
          </a:ln>
        </p:spPr>
        <p:txBody>
          <a:bodyPr wrap="square" lIns="0" tIns="0" rIns="0" bIns="0" anchor="t">
            <a:normAutofit fontScale="92500" lnSpcReduction="20000"/>
          </a:bodyPr>
          <a:lstStyle/>
          <a:p>
            <a:pPr marL="285750" indent="-285750" algn="l">
              <a:spcBef>
                <a:spcPts val="0"/>
              </a:spcBef>
              <a:spcAft>
                <a:spcPts val="350"/>
              </a:spcAft>
              <a:buClr>
                <a:srgbClr val="1E8A7C"/>
              </a:buClr>
              <a:buFont typeface="Arial"/>
              <a:buChar char="•"/>
            </a:pPr>
            <a:r>
              <a:rPr lang="es-ES" sz="1450" dirty="0">
                <a:solidFill>
                  <a:srgbClr val="09534E"/>
                </a:solidFill>
                <a:latin typeface="Arial"/>
                <a:cs typeface="Arial"/>
              </a:rPr>
              <a:t>Monitoriza continuamente la ontología</a:t>
            </a:r>
          </a:p>
          <a:p>
            <a:pPr marL="285750" indent="-285750" algn="l">
              <a:spcBef>
                <a:spcPts val="0"/>
              </a:spcBef>
              <a:spcAft>
                <a:spcPts val="350"/>
              </a:spcAft>
              <a:buClr>
                <a:srgbClr val="1E8A7C"/>
              </a:buClr>
              <a:buFont typeface="Arial"/>
              <a:buChar char="•"/>
            </a:pPr>
            <a:r>
              <a:rPr lang="es-ES" sz="1450" dirty="0">
                <a:solidFill>
                  <a:srgbClr val="09534E"/>
                </a:solidFill>
                <a:latin typeface="Arial"/>
                <a:cs typeface="Arial"/>
              </a:rPr>
              <a:t>Detecta condiciones y genera recomendaciones o acciones</a:t>
            </a:r>
          </a:p>
        </p:txBody>
      </p:sp>
      <p:sp>
        <p:nvSpPr>
          <p:cNvPr id="29" name="Chip 35">
            <a:extLst>
              <a:ext uri="{FF2B5EF4-FFF2-40B4-BE49-F238E27FC236}">
                <a16:creationId xmlns:a16="http://schemas.microsoft.com/office/drawing/2014/main" id="{6349B209-E605-2C1C-2A71-31C5A77F6C6B}"/>
              </a:ext>
            </a:extLst>
          </p:cNvPr>
          <p:cNvSpPr/>
          <p:nvPr/>
        </p:nvSpPr>
        <p:spPr>
          <a:xfrm>
            <a:off x="5269269" y="6362700"/>
            <a:ext cx="3360000" cy="1295400"/>
          </a:xfrm>
          <a:prstGeom prst="roundRect">
            <a:avLst>
              <a:gd name="adj" fmla="val 22000"/>
            </a:avLst>
          </a:prstGeom>
          <a:solidFill>
            <a:srgbClr val="E8B84B"/>
          </a:solidFill>
          <a:ln>
            <a:noFill/>
          </a:ln>
        </p:spPr>
        <p:txBody>
          <a:bodyPr wrap="square" lIns="0" tIns="0" rIns="0" bIns="0" anchor="t">
            <a:normAutofit/>
          </a:bodyPr>
          <a:lstStyle/>
          <a:p>
            <a:endParaRPr lang="es-ES"/>
          </a:p>
        </p:txBody>
      </p:sp>
      <p:sp>
        <p:nvSpPr>
          <p:cNvPr id="30" name="Chip texto 36">
            <a:extLst>
              <a:ext uri="{FF2B5EF4-FFF2-40B4-BE49-F238E27FC236}">
                <a16:creationId xmlns:a16="http://schemas.microsoft.com/office/drawing/2014/main" id="{4B254EA7-B79A-647F-46BD-4DF32B1B966F}"/>
              </a:ext>
            </a:extLst>
          </p:cNvPr>
          <p:cNvSpPr txBox="1"/>
          <p:nvPr/>
        </p:nvSpPr>
        <p:spPr>
          <a:xfrm>
            <a:off x="5244169" y="6362700"/>
            <a:ext cx="3360000" cy="750000"/>
          </a:xfrm>
          <a:prstGeom prst="rect">
            <a:avLst/>
          </a:prstGeom>
          <a:noFill/>
          <a:ln>
            <a:noFill/>
          </a:ln>
        </p:spPr>
        <p:txBody>
          <a:bodyPr wrap="square" lIns="90000" tIns="45720" rIns="90000" bIns="45720" anchor="ctr">
            <a:normAutofit/>
          </a:bodyPr>
          <a:lstStyle/>
          <a:p>
            <a:pPr algn="ctr"/>
            <a:r>
              <a:rPr lang="es-ES" b="1" dirty="0"/>
              <a:t>Generar recomendaciones o acciones</a:t>
            </a:r>
          </a:p>
        </p:txBody>
      </p:sp>
      <p:sp>
        <p:nvSpPr>
          <p:cNvPr id="31" name="Tarjeta 37">
            <a:extLst>
              <a:ext uri="{FF2B5EF4-FFF2-40B4-BE49-F238E27FC236}">
                <a16:creationId xmlns:a16="http://schemas.microsoft.com/office/drawing/2014/main" id="{8BA87792-7F22-A78E-5E78-E4BD3242A0DD}"/>
              </a:ext>
            </a:extLst>
          </p:cNvPr>
          <p:cNvSpPr/>
          <p:nvPr/>
        </p:nvSpPr>
        <p:spPr>
          <a:xfrm>
            <a:off x="9141269" y="3695700"/>
            <a:ext cx="3840000" cy="4190994"/>
          </a:xfrm>
          <a:prstGeom prst="roundRect">
            <a:avLst>
              <a:gd name="adj" fmla="val 6000"/>
            </a:avLst>
          </a:prstGeom>
          <a:solidFill>
            <a:srgbClr val="E4F7EE"/>
          </a:solidFill>
          <a:ln>
            <a:noFill/>
          </a:ln>
          <a:effectLst>
            <a:outerShdw blurRad="50800" dist="38100" dir="2700000" algn="tl" rotWithShape="0">
              <a:prstClr val="black">
                <a:alpha val="40000"/>
              </a:prstClr>
            </a:outerShdw>
          </a:effectLst>
        </p:spPr>
        <p:txBody>
          <a:bodyPr wrap="square" lIns="0" tIns="0" rIns="0" bIns="0" anchor="t">
            <a:normAutofit/>
          </a:bodyPr>
          <a:lstStyle/>
          <a:p>
            <a:endParaRPr lang="es-ES"/>
          </a:p>
        </p:txBody>
      </p:sp>
      <p:sp>
        <p:nvSpPr>
          <p:cNvPr id="34" name="Titulo tarjeta 40">
            <a:extLst>
              <a:ext uri="{FF2B5EF4-FFF2-40B4-BE49-F238E27FC236}">
                <a16:creationId xmlns:a16="http://schemas.microsoft.com/office/drawing/2014/main" id="{42F28FBE-70B2-C40A-1D78-FE6CA0A0BC2E}"/>
              </a:ext>
            </a:extLst>
          </p:cNvPr>
          <p:cNvSpPr txBox="1"/>
          <p:nvPr/>
        </p:nvSpPr>
        <p:spPr>
          <a:xfrm>
            <a:off x="10281269" y="3935700"/>
            <a:ext cx="2540000" cy="760000"/>
          </a:xfrm>
          <a:prstGeom prst="rect">
            <a:avLst/>
          </a:prstGeom>
          <a:noFill/>
          <a:ln>
            <a:noFill/>
          </a:ln>
        </p:spPr>
        <p:txBody>
          <a:bodyPr wrap="square" lIns="0" tIns="0" rIns="0" bIns="0" anchor="ctr">
            <a:normAutofit/>
          </a:bodyPr>
          <a:lstStyle/>
          <a:p>
            <a:pPr marL="0" indent="0" algn="l">
              <a:spcBef>
                <a:spcPts val="0"/>
              </a:spcBef>
              <a:spcAft>
                <a:spcPts val="0"/>
              </a:spcAft>
              <a:buNone/>
            </a:pPr>
            <a:r>
              <a:rPr lang="es-ES" sz="2000" b="1" dirty="0">
                <a:solidFill>
                  <a:srgbClr val="10635A"/>
                </a:solidFill>
                <a:latin typeface="Arial"/>
                <a:cs typeface="Arial"/>
              </a:rPr>
              <a:t>3. Copilot Studio</a:t>
            </a:r>
          </a:p>
        </p:txBody>
      </p:sp>
      <p:sp>
        <p:nvSpPr>
          <p:cNvPr id="35" name="Texto 41">
            <a:extLst>
              <a:ext uri="{FF2B5EF4-FFF2-40B4-BE49-F238E27FC236}">
                <a16:creationId xmlns:a16="http://schemas.microsoft.com/office/drawing/2014/main" id="{7C9F725C-2F38-274B-C8ED-54ED2A2582D6}"/>
              </a:ext>
            </a:extLst>
          </p:cNvPr>
          <p:cNvSpPr txBox="1"/>
          <p:nvPr/>
        </p:nvSpPr>
        <p:spPr>
          <a:xfrm>
            <a:off x="9381269" y="4925700"/>
            <a:ext cx="3360000" cy="360000"/>
          </a:xfrm>
          <a:prstGeom prst="rect">
            <a:avLst/>
          </a:prstGeom>
          <a:noFill/>
          <a:ln>
            <a:noFill/>
          </a:ln>
        </p:spPr>
        <p:txBody>
          <a:bodyPr wrap="square" lIns="0" tIns="0" rIns="0" bIns="0" anchor="t">
            <a:normAutofit/>
          </a:bodyPr>
          <a:lstStyle/>
          <a:p>
            <a:pPr marL="0" indent="0" algn="l">
              <a:spcBef>
                <a:spcPts val="0"/>
              </a:spcBef>
              <a:spcAft>
                <a:spcPts val="0"/>
              </a:spcAft>
              <a:buNone/>
            </a:pPr>
            <a:r>
              <a:rPr lang="es-ES" sz="1550" b="1" dirty="0">
                <a:solidFill>
                  <a:srgbClr val="1E8A7C"/>
                </a:solidFill>
                <a:latin typeface="Arial"/>
                <a:cs typeface="Arial"/>
              </a:rPr>
              <a:t>Llevar el conocimiento al usuario</a:t>
            </a:r>
          </a:p>
        </p:txBody>
      </p:sp>
      <p:sp>
        <p:nvSpPr>
          <p:cNvPr id="36" name="Texto 42">
            <a:extLst>
              <a:ext uri="{FF2B5EF4-FFF2-40B4-BE49-F238E27FC236}">
                <a16:creationId xmlns:a16="http://schemas.microsoft.com/office/drawing/2014/main" id="{A3460748-5561-F110-7ABF-D9A142012061}"/>
              </a:ext>
            </a:extLst>
          </p:cNvPr>
          <p:cNvSpPr txBox="1"/>
          <p:nvPr/>
        </p:nvSpPr>
        <p:spPr>
          <a:xfrm>
            <a:off x="9381269" y="5355700"/>
            <a:ext cx="3360000" cy="750000"/>
          </a:xfrm>
          <a:prstGeom prst="rect">
            <a:avLst/>
          </a:prstGeom>
          <a:noFill/>
          <a:ln>
            <a:noFill/>
          </a:ln>
        </p:spPr>
        <p:txBody>
          <a:bodyPr wrap="square" lIns="0" tIns="0" rIns="0" bIns="0" anchor="t">
            <a:normAutofit fontScale="92500" lnSpcReduction="20000"/>
          </a:bodyPr>
          <a:lstStyle/>
          <a:p>
            <a:pPr marL="285750" indent="-285750" algn="l">
              <a:spcBef>
                <a:spcPts val="0"/>
              </a:spcBef>
              <a:spcAft>
                <a:spcPts val="350"/>
              </a:spcAft>
              <a:buClr>
                <a:srgbClr val="1E8A7C"/>
              </a:buClr>
              <a:buFont typeface="Arial"/>
              <a:buChar char="•"/>
            </a:pPr>
            <a:r>
              <a:rPr lang="es-ES" sz="1450" dirty="0">
                <a:solidFill>
                  <a:srgbClr val="09534E"/>
                </a:solidFill>
                <a:latin typeface="Arial"/>
                <a:cs typeface="Arial"/>
              </a:rPr>
              <a:t>Experiencias conversacionales y automatizaciones low-code</a:t>
            </a:r>
          </a:p>
          <a:p>
            <a:pPr marL="285750" indent="-285750" algn="l">
              <a:spcBef>
                <a:spcPts val="0"/>
              </a:spcBef>
              <a:spcAft>
                <a:spcPts val="350"/>
              </a:spcAft>
              <a:buClr>
                <a:srgbClr val="1E8A7C"/>
              </a:buClr>
              <a:buFont typeface="Arial"/>
              <a:buChar char="•"/>
            </a:pPr>
            <a:r>
              <a:rPr lang="es-ES" sz="1450" dirty="0">
                <a:solidFill>
                  <a:srgbClr val="09534E"/>
                </a:solidFill>
                <a:latin typeface="Arial"/>
                <a:cs typeface="Arial"/>
              </a:rPr>
              <a:t>Usa el conocimiento de negocio definido en la ontología</a:t>
            </a:r>
          </a:p>
        </p:txBody>
      </p:sp>
      <p:sp>
        <p:nvSpPr>
          <p:cNvPr id="37" name="Chip 43">
            <a:extLst>
              <a:ext uri="{FF2B5EF4-FFF2-40B4-BE49-F238E27FC236}">
                <a16:creationId xmlns:a16="http://schemas.microsoft.com/office/drawing/2014/main" id="{5DAB1087-0250-C169-1D9B-AFE0FDCBD3B7}"/>
              </a:ext>
            </a:extLst>
          </p:cNvPr>
          <p:cNvSpPr/>
          <p:nvPr/>
        </p:nvSpPr>
        <p:spPr>
          <a:xfrm>
            <a:off x="9381269" y="6362700"/>
            <a:ext cx="3360000" cy="1295400"/>
          </a:xfrm>
          <a:prstGeom prst="roundRect">
            <a:avLst>
              <a:gd name="adj" fmla="val 22000"/>
            </a:avLst>
          </a:prstGeom>
          <a:solidFill>
            <a:srgbClr val="10635A"/>
          </a:solidFill>
          <a:ln>
            <a:noFill/>
          </a:ln>
        </p:spPr>
        <p:txBody>
          <a:bodyPr wrap="square" lIns="0" tIns="0" rIns="0" bIns="0" anchor="t">
            <a:normAutofit/>
          </a:bodyPr>
          <a:lstStyle/>
          <a:p>
            <a:endParaRPr lang="es-ES"/>
          </a:p>
        </p:txBody>
      </p:sp>
      <p:sp>
        <p:nvSpPr>
          <p:cNvPr id="38" name="Chip texto 44">
            <a:extLst>
              <a:ext uri="{FF2B5EF4-FFF2-40B4-BE49-F238E27FC236}">
                <a16:creationId xmlns:a16="http://schemas.microsoft.com/office/drawing/2014/main" id="{EAFEB220-F014-7EBA-A5D3-9953AD1EF49C}"/>
              </a:ext>
            </a:extLst>
          </p:cNvPr>
          <p:cNvSpPr txBox="1"/>
          <p:nvPr/>
        </p:nvSpPr>
        <p:spPr>
          <a:xfrm>
            <a:off x="9381269" y="6703798"/>
            <a:ext cx="3360000" cy="482599"/>
          </a:xfrm>
          <a:prstGeom prst="rect">
            <a:avLst/>
          </a:prstGeom>
          <a:noFill/>
          <a:ln>
            <a:noFill/>
          </a:ln>
        </p:spPr>
        <p:txBody>
          <a:bodyPr wrap="square" lIns="90000" tIns="45720" rIns="90000" bIns="45720" anchor="ctr">
            <a:normAutofit/>
          </a:bodyPr>
          <a:lstStyle/>
          <a:p>
            <a:pPr marL="0" indent="0" algn="ctr">
              <a:spcBef>
                <a:spcPts val="0"/>
              </a:spcBef>
              <a:spcAft>
                <a:spcPts val="0"/>
              </a:spcAft>
              <a:buNone/>
            </a:pPr>
            <a:r>
              <a:rPr lang="es-ES" sz="1600" b="1" dirty="0">
                <a:solidFill>
                  <a:srgbClr val="FFFFFF"/>
                </a:solidFill>
                <a:latin typeface="Arial"/>
                <a:cs typeface="Arial"/>
              </a:rPr>
              <a:t>Low-code</a:t>
            </a:r>
          </a:p>
        </p:txBody>
      </p:sp>
      <p:sp>
        <p:nvSpPr>
          <p:cNvPr id="39" name="Tarjeta 45">
            <a:extLst>
              <a:ext uri="{FF2B5EF4-FFF2-40B4-BE49-F238E27FC236}">
                <a16:creationId xmlns:a16="http://schemas.microsoft.com/office/drawing/2014/main" id="{83A5D02E-73D4-F75A-9B90-B6790883905E}"/>
              </a:ext>
            </a:extLst>
          </p:cNvPr>
          <p:cNvSpPr/>
          <p:nvPr/>
        </p:nvSpPr>
        <p:spPr>
          <a:xfrm>
            <a:off x="13253269" y="3695700"/>
            <a:ext cx="4117460" cy="4190992"/>
          </a:xfrm>
          <a:prstGeom prst="roundRect">
            <a:avLst>
              <a:gd name="adj" fmla="val 6000"/>
            </a:avLst>
          </a:prstGeom>
          <a:solidFill>
            <a:srgbClr val="E4F7EE"/>
          </a:solidFill>
          <a:ln>
            <a:noFill/>
          </a:ln>
          <a:effectLst>
            <a:outerShdw blurRad="50800" dist="38100" dir="2700000" algn="tl" rotWithShape="0">
              <a:prstClr val="black">
                <a:alpha val="40000"/>
              </a:prstClr>
            </a:outerShdw>
          </a:effectLst>
        </p:spPr>
        <p:txBody>
          <a:bodyPr wrap="square" lIns="0" tIns="0" rIns="0" bIns="0" anchor="t">
            <a:normAutofit/>
          </a:bodyPr>
          <a:lstStyle/>
          <a:p>
            <a:endParaRPr lang="es-ES"/>
          </a:p>
        </p:txBody>
      </p:sp>
      <p:sp>
        <p:nvSpPr>
          <p:cNvPr id="42" name="Titulo tarjeta 48">
            <a:extLst>
              <a:ext uri="{FF2B5EF4-FFF2-40B4-BE49-F238E27FC236}">
                <a16:creationId xmlns:a16="http://schemas.microsoft.com/office/drawing/2014/main" id="{E408ED5F-F38E-E76D-906C-D57845C9FA61}"/>
              </a:ext>
            </a:extLst>
          </p:cNvPr>
          <p:cNvSpPr txBox="1"/>
          <p:nvPr/>
        </p:nvSpPr>
        <p:spPr>
          <a:xfrm>
            <a:off x="14393269" y="4008567"/>
            <a:ext cx="2977460" cy="957077"/>
          </a:xfrm>
          <a:prstGeom prst="rect">
            <a:avLst/>
          </a:prstGeom>
          <a:noFill/>
          <a:ln>
            <a:noFill/>
          </a:ln>
        </p:spPr>
        <p:txBody>
          <a:bodyPr wrap="square" lIns="0" tIns="0" rIns="0" bIns="0" anchor="ctr">
            <a:normAutofit fontScale="85000" lnSpcReduction="20000"/>
          </a:bodyPr>
          <a:lstStyle/>
          <a:p>
            <a:r>
              <a:rPr lang="es-ES" sz="2200" b="1" dirty="0">
                <a:solidFill>
                  <a:srgbClr val="10635A"/>
                </a:solidFill>
                <a:latin typeface="Arial"/>
                <a:cs typeface="Arial"/>
              </a:rPr>
              <a:t>4. </a:t>
            </a:r>
            <a:r>
              <a:rPr lang="es-ES" sz="2200" b="1" dirty="0" err="1">
                <a:solidFill>
                  <a:srgbClr val="10635A"/>
                </a:solidFill>
                <a:latin typeface="Arial"/>
                <a:cs typeface="Arial"/>
              </a:rPr>
              <a:t>Foundry</a:t>
            </a:r>
            <a:r>
              <a:rPr lang="es-ES" sz="2200" b="1" dirty="0">
                <a:solidFill>
                  <a:srgbClr val="10635A"/>
                </a:solidFill>
                <a:latin typeface="Arial"/>
                <a:cs typeface="Arial"/>
              </a:rPr>
              <a:t> IQ y Agentes personalizados con </a:t>
            </a:r>
          </a:p>
          <a:p>
            <a:r>
              <a:rPr lang="es-ES" sz="2200" b="1" dirty="0">
                <a:solidFill>
                  <a:srgbClr val="10635A"/>
                </a:solidFill>
                <a:latin typeface="Arial"/>
                <a:cs typeface="Arial"/>
              </a:rPr>
              <a:t>servidor MCP de ontología</a:t>
            </a:r>
            <a:endParaRPr lang="es-ES" sz="1600" b="1" dirty="0">
              <a:solidFill>
                <a:srgbClr val="10635A"/>
              </a:solidFill>
              <a:latin typeface="Arial"/>
              <a:cs typeface="Arial"/>
            </a:endParaRPr>
          </a:p>
        </p:txBody>
      </p:sp>
      <p:sp>
        <p:nvSpPr>
          <p:cNvPr id="43" name="Texto 49">
            <a:extLst>
              <a:ext uri="{FF2B5EF4-FFF2-40B4-BE49-F238E27FC236}">
                <a16:creationId xmlns:a16="http://schemas.microsoft.com/office/drawing/2014/main" id="{D05A7A67-7B67-19B0-83CC-DEE929AE51BE}"/>
              </a:ext>
            </a:extLst>
          </p:cNvPr>
          <p:cNvSpPr txBox="1"/>
          <p:nvPr/>
        </p:nvSpPr>
        <p:spPr>
          <a:xfrm>
            <a:off x="13493269" y="5143500"/>
            <a:ext cx="3637462" cy="316800"/>
          </a:xfrm>
          <a:prstGeom prst="rect">
            <a:avLst/>
          </a:prstGeom>
          <a:noFill/>
          <a:ln>
            <a:noFill/>
          </a:ln>
        </p:spPr>
        <p:txBody>
          <a:bodyPr wrap="square" lIns="0" tIns="0" rIns="0" bIns="0" anchor="t">
            <a:normAutofit fontScale="92500"/>
          </a:bodyPr>
          <a:lstStyle/>
          <a:p>
            <a:pPr marL="0" indent="0" algn="l">
              <a:spcBef>
                <a:spcPts val="0"/>
              </a:spcBef>
              <a:spcAft>
                <a:spcPts val="0"/>
              </a:spcAft>
              <a:buNone/>
            </a:pPr>
            <a:r>
              <a:rPr lang="es-ES" sz="1550" b="1" dirty="0">
                <a:solidFill>
                  <a:srgbClr val="1E8A7C"/>
                </a:solidFill>
                <a:latin typeface="Arial"/>
                <a:cs typeface="Arial"/>
              </a:rPr>
              <a:t>Construir soluciones de IA avanzadas</a:t>
            </a:r>
          </a:p>
        </p:txBody>
      </p:sp>
      <p:sp>
        <p:nvSpPr>
          <p:cNvPr id="44" name="Texto 50">
            <a:extLst>
              <a:ext uri="{FF2B5EF4-FFF2-40B4-BE49-F238E27FC236}">
                <a16:creationId xmlns:a16="http://schemas.microsoft.com/office/drawing/2014/main" id="{EE7074DC-8FCF-CCCA-EE8F-508B87E5C1B6}"/>
              </a:ext>
            </a:extLst>
          </p:cNvPr>
          <p:cNvSpPr txBox="1"/>
          <p:nvPr/>
        </p:nvSpPr>
        <p:spPr>
          <a:xfrm>
            <a:off x="13493268" y="5536500"/>
            <a:ext cx="3743435" cy="750000"/>
          </a:xfrm>
          <a:prstGeom prst="rect">
            <a:avLst/>
          </a:prstGeom>
          <a:noFill/>
          <a:ln>
            <a:noFill/>
          </a:ln>
        </p:spPr>
        <p:txBody>
          <a:bodyPr wrap="square" lIns="0" tIns="0" rIns="0" bIns="0" anchor="t">
            <a:normAutofit fontScale="85000" lnSpcReduction="10000"/>
          </a:bodyPr>
          <a:lstStyle/>
          <a:p>
            <a:pPr marL="285750" indent="-285750" algn="l">
              <a:spcBef>
                <a:spcPts val="0"/>
              </a:spcBef>
              <a:spcAft>
                <a:spcPts val="350"/>
              </a:spcAft>
              <a:buClr>
                <a:srgbClr val="1E8A7C"/>
              </a:buClr>
              <a:buFont typeface="Arial"/>
              <a:buChar char="•"/>
            </a:pPr>
            <a:r>
              <a:rPr lang="es-ES" sz="1450" dirty="0">
                <a:solidFill>
                  <a:srgbClr val="09534E"/>
                </a:solidFill>
                <a:latin typeface="Arial"/>
                <a:cs typeface="Arial"/>
              </a:rPr>
              <a:t>Agentes personalizables que razonan con la ontología como fuente de conocimiento</a:t>
            </a:r>
          </a:p>
          <a:p>
            <a:pPr marL="285750" indent="-285750" algn="l">
              <a:spcBef>
                <a:spcPts val="0"/>
              </a:spcBef>
              <a:spcAft>
                <a:spcPts val="350"/>
              </a:spcAft>
              <a:buClr>
                <a:srgbClr val="1E8A7C"/>
              </a:buClr>
              <a:buFont typeface="Arial"/>
              <a:buChar char="•"/>
            </a:pPr>
            <a:r>
              <a:rPr lang="es-ES" sz="1450" dirty="0">
                <a:solidFill>
                  <a:srgbClr val="09534E"/>
                </a:solidFill>
                <a:latin typeface="Arial"/>
                <a:cs typeface="Arial"/>
              </a:rPr>
              <a:t>Pueden usar herramientas e integrarse con otros sistemas</a:t>
            </a:r>
          </a:p>
        </p:txBody>
      </p:sp>
      <p:sp>
        <p:nvSpPr>
          <p:cNvPr id="45" name="Chip 51">
            <a:extLst>
              <a:ext uri="{FF2B5EF4-FFF2-40B4-BE49-F238E27FC236}">
                <a16:creationId xmlns:a16="http://schemas.microsoft.com/office/drawing/2014/main" id="{9DF70F47-5062-9C58-939E-5A39F81A72BE}"/>
              </a:ext>
            </a:extLst>
          </p:cNvPr>
          <p:cNvSpPr/>
          <p:nvPr/>
        </p:nvSpPr>
        <p:spPr>
          <a:xfrm>
            <a:off x="13493269" y="6362700"/>
            <a:ext cx="3360000" cy="1292202"/>
          </a:xfrm>
          <a:prstGeom prst="roundRect">
            <a:avLst>
              <a:gd name="adj" fmla="val 22000"/>
            </a:avLst>
          </a:prstGeom>
          <a:solidFill>
            <a:srgbClr val="E8B84B"/>
          </a:solidFill>
          <a:ln>
            <a:noFill/>
          </a:ln>
        </p:spPr>
        <p:txBody>
          <a:bodyPr wrap="square" lIns="0" tIns="0" rIns="0" bIns="0" anchor="t">
            <a:normAutofit/>
          </a:bodyPr>
          <a:lstStyle/>
          <a:p>
            <a:endParaRPr lang="es-ES"/>
          </a:p>
        </p:txBody>
      </p:sp>
      <p:sp>
        <p:nvSpPr>
          <p:cNvPr id="46" name="Chip texto 52">
            <a:extLst>
              <a:ext uri="{FF2B5EF4-FFF2-40B4-BE49-F238E27FC236}">
                <a16:creationId xmlns:a16="http://schemas.microsoft.com/office/drawing/2014/main" id="{92B39ED7-2233-3918-EDE8-0E7BD7B0E80D}"/>
              </a:ext>
            </a:extLst>
          </p:cNvPr>
          <p:cNvSpPr txBox="1"/>
          <p:nvPr/>
        </p:nvSpPr>
        <p:spPr>
          <a:xfrm>
            <a:off x="13548238" y="6528496"/>
            <a:ext cx="3360000" cy="900000"/>
          </a:xfrm>
          <a:prstGeom prst="rect">
            <a:avLst/>
          </a:prstGeom>
          <a:noFill/>
          <a:ln>
            <a:noFill/>
          </a:ln>
        </p:spPr>
        <p:txBody>
          <a:bodyPr wrap="square" lIns="90000" tIns="45720" rIns="90000" bIns="45720" anchor="ctr">
            <a:normAutofit/>
          </a:bodyPr>
          <a:lstStyle/>
          <a:p>
            <a:pPr marL="0" indent="0" algn="ctr">
              <a:spcBef>
                <a:spcPts val="0"/>
              </a:spcBef>
              <a:spcAft>
                <a:spcPts val="0"/>
              </a:spcAft>
              <a:buNone/>
            </a:pPr>
            <a:r>
              <a:rPr lang="es-ES" sz="1600" b="1" dirty="0">
                <a:solidFill>
                  <a:srgbClr val="09534E"/>
                </a:solidFill>
                <a:latin typeface="Arial"/>
                <a:cs typeface="Arial"/>
              </a:rPr>
              <a:t>Escenarios Técnicos</a:t>
            </a:r>
          </a:p>
        </p:txBody>
      </p:sp>
      <p:sp>
        <p:nvSpPr>
          <p:cNvPr id="48" name="Mensaje clave 48"/>
          <p:cNvSpPr/>
          <p:nvPr/>
        </p:nvSpPr>
        <p:spPr>
          <a:xfrm>
            <a:off x="822960" y="8247888"/>
            <a:ext cx="16642080" cy="512064"/>
          </a:xfrm>
          <a:prstGeom prst="roundRect">
            <a:avLst>
              <a:gd name="adj" fmla="val 50000"/>
            </a:avLst>
          </a:prstGeom>
          <a:solidFill>
            <a:srgbClr val="09534E"/>
          </a:solidFill>
          <a:ln>
            <a:noFill/>
          </a:ln>
          <a:effectLst>
            <a:outerShdw blurRad="50800" dist="25400" dir="5400000" algn="t" rotWithShape="0">
              <a:prstClr val="black">
                <a:alpha val="28000"/>
              </a:prstClr>
            </a:outerShdw>
          </a:effectLst>
        </p:spPr>
        <p:txBody>
          <a:bodyPr wrap="square" lIns="182880" tIns="0" rIns="182880" bIns="0" anchor="ctr">
            <a:noAutofit/>
          </a:bodyPr>
          <a:lstStyle/>
          <a:p>
            <a:pPr algn="ctr"/>
            <a:r>
              <a:rPr lang="es-ES" sz="1900" b="1" dirty="0">
                <a:solidFill>
                  <a:srgbClr val="7DE9B0"/>
                </a:solidFill>
                <a:latin typeface="Arial"/>
                <a:cs typeface="Arial"/>
              </a:rPr>
              <a:t xml:space="preserve">✓  Una única capa de conocimiento gobernada: </a:t>
            </a:r>
            <a:r>
              <a:rPr lang="es-ES" sz="1900" b="1" dirty="0">
                <a:solidFill>
                  <a:srgbClr val="FFFFFF"/>
                </a:solidFill>
                <a:latin typeface="Arial"/>
                <a:cs typeface="Arial"/>
              </a:rPr>
              <a:t xml:space="preserve">cada canal la consume a su manera, todos desde la misma ontología</a:t>
            </a:r>
          </a:p>
        </p:txBody>
      </p:sp>
      <p:sp>
        <p:nvSpPr>
          <p:cNvPr id="50" name="Chip texto 36">
            <a:extLst>
              <a:ext uri="{FF2B5EF4-FFF2-40B4-BE49-F238E27FC236}">
                <a16:creationId xmlns:a16="http://schemas.microsoft.com/office/drawing/2014/main" id="{02281964-42AB-4CBB-BBEA-726E38754EFE}"/>
              </a:ext>
            </a:extLst>
          </p:cNvPr>
          <p:cNvSpPr txBox="1"/>
          <p:nvPr/>
        </p:nvSpPr>
        <p:spPr>
          <a:xfrm>
            <a:off x="5310600" y="6978496"/>
            <a:ext cx="3360000" cy="750000"/>
          </a:xfrm>
          <a:prstGeom prst="rect">
            <a:avLst/>
          </a:prstGeom>
          <a:noFill/>
          <a:ln>
            <a:noFill/>
          </a:ln>
        </p:spPr>
        <p:txBody>
          <a:bodyPr wrap="square" lIns="90000" tIns="45720" rIns="90000" bIns="45720" anchor="ctr">
            <a:normAutofit/>
          </a:bodyPr>
          <a:lstStyle/>
          <a:p>
            <a:pPr algn="ctr"/>
            <a:r>
              <a:rPr lang="es-ES" sz="1200" b="1" dirty="0">
                <a:solidFill>
                  <a:srgbClr val="09534E"/>
                </a:solidFill>
                <a:latin typeface="Arial"/>
                <a:cs typeface="Arial"/>
              </a:rPr>
              <a:t>(Ej. notificaciones mediante </a:t>
            </a:r>
            <a:r>
              <a:rPr lang="es-ES" sz="1200" b="1" dirty="0" err="1">
                <a:solidFill>
                  <a:srgbClr val="09534E"/>
                </a:solidFill>
                <a:latin typeface="Arial"/>
                <a:cs typeface="Arial"/>
              </a:rPr>
              <a:t>Teams</a:t>
            </a:r>
            <a:r>
              <a:rPr lang="es-ES" sz="1200" b="1" dirty="0">
                <a:solidFill>
                  <a:srgbClr val="09534E"/>
                </a:solidFill>
                <a:latin typeface="Arial"/>
                <a:cs typeface="Arial"/>
              </a:rPr>
              <a:t> cuando se cumplen determinadas condiciones)</a:t>
            </a:r>
          </a:p>
        </p:txBody>
      </p:sp>
      <p:pic>
        <p:nvPicPr>
          <p:cNvPr id="54" name="Imagen 53">
            <a:extLst>
              <a:ext uri="{FF2B5EF4-FFF2-40B4-BE49-F238E27FC236}">
                <a16:creationId xmlns:a16="http://schemas.microsoft.com/office/drawing/2014/main" id="{6DB01062-BCC9-9A20-54A3-A69BF484CE5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299748" y="3908908"/>
            <a:ext cx="749999" cy="749999"/>
          </a:xfrm>
          <a:prstGeom prst="rect">
            <a:avLst/>
          </a:prstGeom>
        </p:spPr>
      </p:pic>
      <p:pic>
        <p:nvPicPr>
          <p:cNvPr id="56" name="Imagen 55">
            <a:extLst>
              <a:ext uri="{FF2B5EF4-FFF2-40B4-BE49-F238E27FC236}">
                <a16:creationId xmlns:a16="http://schemas.microsoft.com/office/drawing/2014/main" id="{FA17BCD4-7A61-B02A-1D91-E9F5B490E42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45374" y="3567295"/>
            <a:ext cx="1381265" cy="1381265"/>
          </a:xfrm>
          <a:prstGeom prst="rect">
            <a:avLst/>
          </a:prstGeom>
        </p:spPr>
      </p:pic>
      <p:pic>
        <p:nvPicPr>
          <p:cNvPr id="59" name="Imagen 58">
            <a:extLst>
              <a:ext uri="{FF2B5EF4-FFF2-40B4-BE49-F238E27FC236}">
                <a16:creationId xmlns:a16="http://schemas.microsoft.com/office/drawing/2014/main" id="{6285422D-D2D0-8A01-4DEF-2A1B4429AF6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3325633" y="3833303"/>
            <a:ext cx="964793" cy="964793"/>
          </a:xfrm>
          <a:prstGeom prst="rect">
            <a:avLst/>
          </a:prstGeom>
        </p:spPr>
      </p:pic>
      <p:pic>
        <p:nvPicPr>
          <p:cNvPr id="61" name="Imagen 60">
            <a:extLst>
              <a:ext uri="{FF2B5EF4-FFF2-40B4-BE49-F238E27FC236}">
                <a16:creationId xmlns:a16="http://schemas.microsoft.com/office/drawing/2014/main" id="{0A63DE42-FF4F-A467-EA4E-0009648B10E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200744" y="3847047"/>
            <a:ext cx="993662" cy="920453"/>
          </a:xfrm>
          <a:prstGeom prst="rect">
            <a:avLst/>
          </a:prstGeom>
        </p:spPr>
      </p:pic>
    </p:spTree>
    <p:extLst>
      <p:ext uri="{BB962C8B-B14F-4D97-AF65-F5344CB8AC3E}">
        <p14:creationId xmlns:p14="http://schemas.microsoft.com/office/powerpoint/2010/main" val="36342741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264ED7-8D8F-6F89-6869-D14F93FDC6B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D16F0BD-5A3D-44C7-9E8B-0551D9B33AC4}"/>
              </a:ext>
            </a:extLst>
          </p:cNvPr>
          <p:cNvSpPr>
            <a:spLocks noGrp="1"/>
          </p:cNvSpPr>
          <p:nvPr>
            <p:ph type="title"/>
          </p:nvPr>
        </p:nvSpPr>
        <p:spPr>
          <a:xfrm>
            <a:off x="1223304" y="266700"/>
            <a:ext cx="15773400" cy="1584323"/>
          </a:xfrm>
        </p:spPr>
        <p:txBody>
          <a:bodyPr>
            <a:normAutofit/>
          </a:bodyPr>
          <a:lstStyle/>
          <a:p>
            <a:pPr marL="0" indent="0">
              <a:buNone/>
            </a:pPr>
            <a:r>
              <a:rPr lang="es-ES" sz="4400" b="1" dirty="0">
                <a:latin typeface="Arial"/>
                <a:cs typeface="Arial"/>
              </a:rPr>
              <a:t>Requisitos</a:t>
            </a:r>
          </a:p>
        </p:txBody>
      </p:sp>
      <p:sp>
        <p:nvSpPr>
          <p:cNvPr id="11" name="Tarjeta 11">
            <a:extLst>
              <a:ext uri="{FF2B5EF4-FFF2-40B4-BE49-F238E27FC236}">
                <a16:creationId xmlns:a16="http://schemas.microsoft.com/office/drawing/2014/main" id="{3208F751-70D6-C9E8-1B56-423D80297710}"/>
              </a:ext>
            </a:extLst>
          </p:cNvPr>
          <p:cNvSpPr/>
          <p:nvPr/>
        </p:nvSpPr>
        <p:spPr>
          <a:xfrm>
            <a:off x="1060704" y="2560000"/>
            <a:ext cx="3840000" cy="5450000"/>
          </a:xfrm>
          <a:prstGeom prst="roundRect">
            <a:avLst>
              <a:gd name="adj" fmla="val 6000"/>
            </a:avLst>
          </a:prstGeom>
          <a:solidFill>
            <a:srgbClr val="E4F7EE"/>
          </a:solidFill>
          <a:ln>
            <a:noFill/>
          </a:ln>
          <a:effectLst>
            <a:outerShdw blurRad="50800" dist="38100" dir="2700000" algn="tl" rotWithShape="0">
              <a:prstClr val="black">
                <a:alpha val="40000"/>
              </a:prstClr>
            </a:outerShdw>
          </a:effectLst>
        </p:spPr>
        <p:txBody>
          <a:bodyPr wrap="square" lIns="0" tIns="0" rIns="0" bIns="0" anchor="t">
            <a:normAutofit/>
          </a:bodyPr>
          <a:lstStyle/>
          <a:p>
            <a:endParaRPr lang="es-ES"/>
          </a:p>
        </p:txBody>
      </p:sp>
      <p:sp>
        <p:nvSpPr>
          <p:cNvPr id="12" name="Circulo 12">
            <a:extLst>
              <a:ext uri="{FF2B5EF4-FFF2-40B4-BE49-F238E27FC236}">
                <a16:creationId xmlns:a16="http://schemas.microsoft.com/office/drawing/2014/main" id="{280658F7-AF09-0253-CD1B-FFCFA25C6B5D}"/>
              </a:ext>
            </a:extLst>
          </p:cNvPr>
          <p:cNvSpPr/>
          <p:nvPr/>
        </p:nvSpPr>
        <p:spPr>
          <a:xfrm>
            <a:off x="1300704" y="2800000"/>
            <a:ext cx="760000" cy="760000"/>
          </a:xfrm>
          <a:prstGeom prst="ellipse">
            <a:avLst/>
          </a:prstGeom>
          <a:solidFill>
            <a:srgbClr val="10635A"/>
          </a:solidFill>
          <a:ln>
            <a:noFill/>
          </a:ln>
        </p:spPr>
        <p:txBody>
          <a:bodyPr wrap="square" lIns="0" tIns="0" rIns="0" bIns="0" anchor="t">
            <a:normAutofit/>
          </a:bodyPr>
          <a:lstStyle/>
          <a:p>
            <a:endParaRPr lang="es-ES"/>
          </a:p>
        </p:txBody>
      </p:sp>
      <p:pic>
        <p:nvPicPr>
          <p:cNvPr id="13" name="Icono 13" descr="Capacidad">
            <a:extLst>
              <a:ext uri="{FF2B5EF4-FFF2-40B4-BE49-F238E27FC236}">
                <a16:creationId xmlns:a16="http://schemas.microsoft.com/office/drawing/2014/main" id="{A4C60F59-D1C2-EE00-2801-3309662DCBBF}"/>
              </a:ext>
            </a:extLst>
          </p:cNvPr>
          <p:cNvPicPr>
            <a:picLocks noChangeAspect="1"/>
          </p:cNvPicPr>
          <p:nvPr/>
        </p:nvPicPr>
        <p:blipFill>
          <a:blip r:embed="rId2"/>
          <a:stretch>
            <a:fillRect/>
          </a:stretch>
        </p:blipFill>
        <p:spPr>
          <a:xfrm>
            <a:off x="1490704" y="2990000"/>
            <a:ext cx="380000" cy="380000"/>
          </a:xfrm>
          <a:prstGeom prst="rect">
            <a:avLst/>
          </a:prstGeom>
        </p:spPr>
      </p:pic>
      <p:sp>
        <p:nvSpPr>
          <p:cNvPr id="14" name="Titulo tarjeta 14">
            <a:extLst>
              <a:ext uri="{FF2B5EF4-FFF2-40B4-BE49-F238E27FC236}">
                <a16:creationId xmlns:a16="http://schemas.microsoft.com/office/drawing/2014/main" id="{B42D84E7-953D-CB3E-DE00-F16FE486E1EE}"/>
              </a:ext>
            </a:extLst>
          </p:cNvPr>
          <p:cNvSpPr txBox="1"/>
          <p:nvPr/>
        </p:nvSpPr>
        <p:spPr>
          <a:xfrm>
            <a:off x="2200704" y="2800000"/>
            <a:ext cx="2540000" cy="760000"/>
          </a:xfrm>
          <a:prstGeom prst="rect">
            <a:avLst/>
          </a:prstGeom>
          <a:noFill/>
          <a:ln>
            <a:noFill/>
          </a:ln>
        </p:spPr>
        <p:txBody>
          <a:bodyPr wrap="square" lIns="0" tIns="0" rIns="0" bIns="0" anchor="ctr">
            <a:normAutofit/>
          </a:bodyPr>
          <a:lstStyle/>
          <a:p>
            <a:pPr marL="0" indent="0" algn="l">
              <a:spcBef>
                <a:spcPts val="0"/>
              </a:spcBef>
              <a:spcAft>
                <a:spcPts val="0"/>
              </a:spcAft>
              <a:buNone/>
            </a:pPr>
            <a:r>
              <a:rPr lang="es-ES" sz="2000" b="1" dirty="0">
                <a:solidFill>
                  <a:srgbClr val="10635A"/>
                </a:solidFill>
                <a:latin typeface="Arial"/>
                <a:cs typeface="Arial"/>
              </a:rPr>
              <a:t>1. Capacidad y workspace</a:t>
            </a:r>
          </a:p>
        </p:txBody>
      </p:sp>
      <p:sp>
        <p:nvSpPr>
          <p:cNvPr id="15" name="Texto tarjeta 15">
            <a:extLst>
              <a:ext uri="{FF2B5EF4-FFF2-40B4-BE49-F238E27FC236}">
                <a16:creationId xmlns:a16="http://schemas.microsoft.com/office/drawing/2014/main" id="{65CEA7CA-CC2D-FBC0-0D3B-29EB3D825D7C}"/>
              </a:ext>
            </a:extLst>
          </p:cNvPr>
          <p:cNvSpPr txBox="1"/>
          <p:nvPr/>
        </p:nvSpPr>
        <p:spPr>
          <a:xfrm>
            <a:off x="1300704" y="3790000"/>
            <a:ext cx="3360000" cy="2930000"/>
          </a:xfrm>
          <a:prstGeom prst="rect">
            <a:avLst/>
          </a:prstGeom>
          <a:noFill/>
          <a:ln>
            <a:noFill/>
          </a:ln>
        </p:spPr>
        <p:txBody>
          <a:bodyPr wrap="square" lIns="0" tIns="0" rIns="0" bIns="0" anchor="t">
            <a:normAutofit/>
          </a:bodyPr>
          <a:lstStyle/>
          <a:p>
            <a:pPr marL="285750" indent="-285750" algn="l">
              <a:spcBef>
                <a:spcPts val="0"/>
              </a:spcBef>
              <a:spcAft>
                <a:spcPts val="600"/>
              </a:spcAft>
              <a:buClr>
                <a:srgbClr val="1E8A7C"/>
              </a:buClr>
              <a:buFont typeface="Arial"/>
              <a:buChar char="•"/>
            </a:pPr>
            <a:r>
              <a:rPr lang="es-ES" sz="1700" dirty="0">
                <a:solidFill>
                  <a:srgbClr val="09534E"/>
                </a:solidFill>
                <a:latin typeface="Arial"/>
                <a:cs typeface="Arial"/>
              </a:rPr>
              <a:t>Un workspace asociado a una capacidad con Fabric habilitado</a:t>
            </a:r>
          </a:p>
          <a:p>
            <a:pPr marL="285750" indent="-285750" algn="l">
              <a:spcBef>
                <a:spcPts val="0"/>
              </a:spcBef>
              <a:spcAft>
                <a:spcPts val="600"/>
              </a:spcAft>
              <a:buClr>
                <a:srgbClr val="1E8A7C"/>
              </a:buClr>
              <a:buFont typeface="Arial"/>
              <a:buChar char="•"/>
            </a:pPr>
            <a:r>
              <a:rPr lang="es-ES" sz="1700" dirty="0">
                <a:solidFill>
                  <a:srgbClr val="09534E"/>
                </a:solidFill>
                <a:latin typeface="Arial"/>
                <a:cs typeface="Arial"/>
              </a:rPr>
              <a:t>Los prerrequisitos de Ontology no fijan un SKU F mínimo</a:t>
            </a:r>
          </a:p>
          <a:p>
            <a:pPr marL="285750" indent="-285750" algn="l">
              <a:spcBef>
                <a:spcPts val="0"/>
              </a:spcBef>
              <a:spcAft>
                <a:spcPts val="600"/>
              </a:spcAft>
              <a:buClr>
                <a:srgbClr val="1E8A7C"/>
              </a:buClr>
              <a:buFont typeface="Arial"/>
              <a:buChar char="•"/>
            </a:pPr>
            <a:r>
              <a:rPr lang="es-ES" sz="1700" dirty="0">
                <a:solidFill>
                  <a:srgbClr val="09534E"/>
                </a:solidFill>
                <a:latin typeface="Arial"/>
                <a:cs typeface="Arial"/>
              </a:rPr>
              <a:t>Ontology, Graph y orígenes consumen CUs: consultas, exploración y refrescos</a:t>
            </a:r>
          </a:p>
        </p:txBody>
      </p:sp>
      <p:sp>
        <p:nvSpPr>
          <p:cNvPr id="16" name="Chip 16">
            <a:extLst>
              <a:ext uri="{FF2B5EF4-FFF2-40B4-BE49-F238E27FC236}">
                <a16:creationId xmlns:a16="http://schemas.microsoft.com/office/drawing/2014/main" id="{BBA9EBC0-F238-148C-1C95-F457D5F55F81}"/>
              </a:ext>
            </a:extLst>
          </p:cNvPr>
          <p:cNvSpPr/>
          <p:nvPr/>
        </p:nvSpPr>
        <p:spPr>
          <a:xfrm>
            <a:off x="1300704" y="6870000"/>
            <a:ext cx="3360000" cy="900000"/>
          </a:xfrm>
          <a:prstGeom prst="roundRect">
            <a:avLst>
              <a:gd name="adj" fmla="val 22000"/>
            </a:avLst>
          </a:prstGeom>
          <a:solidFill>
            <a:srgbClr val="10635A"/>
          </a:solidFill>
          <a:ln>
            <a:noFill/>
          </a:ln>
        </p:spPr>
        <p:txBody>
          <a:bodyPr wrap="square" lIns="120000" tIns="45720" rIns="120000" bIns="45720" anchor="ctr">
            <a:normAutofit/>
          </a:bodyPr>
          <a:lstStyle/>
          <a:p>
            <a:pPr marL="0" indent="0" algn="ctr">
              <a:spcBef>
                <a:spcPts val="0"/>
              </a:spcBef>
              <a:spcAft>
                <a:spcPts val="0"/>
              </a:spcAft>
              <a:buNone/>
            </a:pPr>
            <a:r>
              <a:rPr lang="es-ES" sz="1500" b="1" dirty="0">
                <a:solidFill>
                  <a:srgbClr val="FFFFFF"/>
                </a:solidFill>
                <a:latin typeface="Arial"/>
                <a:cs typeface="Arial"/>
              </a:rPr>
              <a:t>Microsoft Fabric Capacity</a:t>
            </a:r>
          </a:p>
        </p:txBody>
      </p:sp>
      <p:sp>
        <p:nvSpPr>
          <p:cNvPr id="17" name="Tarjeta 17">
            <a:extLst>
              <a:ext uri="{FF2B5EF4-FFF2-40B4-BE49-F238E27FC236}">
                <a16:creationId xmlns:a16="http://schemas.microsoft.com/office/drawing/2014/main" id="{BBB7461D-AE3B-1866-7F94-04DCD8333E7A}"/>
              </a:ext>
            </a:extLst>
          </p:cNvPr>
          <p:cNvSpPr/>
          <p:nvPr/>
        </p:nvSpPr>
        <p:spPr>
          <a:xfrm>
            <a:off x="5172704" y="2560000"/>
            <a:ext cx="3840000" cy="5450000"/>
          </a:xfrm>
          <a:prstGeom prst="roundRect">
            <a:avLst>
              <a:gd name="adj" fmla="val 6000"/>
            </a:avLst>
          </a:prstGeom>
          <a:solidFill>
            <a:srgbClr val="E4F7EE"/>
          </a:solidFill>
          <a:ln>
            <a:noFill/>
          </a:ln>
          <a:effectLst>
            <a:outerShdw blurRad="50800" dist="38100" dir="2700000" algn="tl" rotWithShape="0">
              <a:prstClr val="black">
                <a:alpha val="40000"/>
              </a:prstClr>
            </a:outerShdw>
          </a:effectLst>
        </p:spPr>
        <p:txBody>
          <a:bodyPr wrap="square" lIns="0" tIns="0" rIns="0" bIns="0" anchor="t">
            <a:normAutofit/>
          </a:bodyPr>
          <a:lstStyle/>
          <a:p>
            <a:endParaRPr lang="es-ES"/>
          </a:p>
        </p:txBody>
      </p:sp>
      <p:sp>
        <p:nvSpPr>
          <p:cNvPr id="18" name="Circulo 18">
            <a:extLst>
              <a:ext uri="{FF2B5EF4-FFF2-40B4-BE49-F238E27FC236}">
                <a16:creationId xmlns:a16="http://schemas.microsoft.com/office/drawing/2014/main" id="{42078080-0072-57F2-DC2F-CA356064C242}"/>
              </a:ext>
            </a:extLst>
          </p:cNvPr>
          <p:cNvSpPr/>
          <p:nvPr/>
        </p:nvSpPr>
        <p:spPr>
          <a:xfrm>
            <a:off x="5412704" y="2800000"/>
            <a:ext cx="760000" cy="760000"/>
          </a:xfrm>
          <a:prstGeom prst="ellipse">
            <a:avLst/>
          </a:prstGeom>
          <a:solidFill>
            <a:srgbClr val="10635A"/>
          </a:solidFill>
          <a:ln>
            <a:noFill/>
          </a:ln>
        </p:spPr>
        <p:txBody>
          <a:bodyPr wrap="square" lIns="0" tIns="0" rIns="0" bIns="0" anchor="t">
            <a:normAutofit/>
          </a:bodyPr>
          <a:lstStyle/>
          <a:p>
            <a:endParaRPr lang="es-ES"/>
          </a:p>
        </p:txBody>
      </p:sp>
      <p:pic>
        <p:nvPicPr>
          <p:cNvPr id="19" name="Icono 19" descr="Tenant">
            <a:extLst>
              <a:ext uri="{FF2B5EF4-FFF2-40B4-BE49-F238E27FC236}">
                <a16:creationId xmlns:a16="http://schemas.microsoft.com/office/drawing/2014/main" id="{798100AB-A13E-D16D-C851-8BBEEE09692F}"/>
              </a:ext>
            </a:extLst>
          </p:cNvPr>
          <p:cNvPicPr>
            <a:picLocks noChangeAspect="1"/>
          </p:cNvPicPr>
          <p:nvPr/>
        </p:nvPicPr>
        <p:blipFill>
          <a:blip r:embed="rId3"/>
          <a:stretch>
            <a:fillRect/>
          </a:stretch>
        </p:blipFill>
        <p:spPr>
          <a:xfrm>
            <a:off x="5602704" y="2990000"/>
            <a:ext cx="380000" cy="380000"/>
          </a:xfrm>
          <a:prstGeom prst="rect">
            <a:avLst/>
          </a:prstGeom>
        </p:spPr>
      </p:pic>
      <p:sp>
        <p:nvSpPr>
          <p:cNvPr id="20" name="Titulo tarjeta 20">
            <a:extLst>
              <a:ext uri="{FF2B5EF4-FFF2-40B4-BE49-F238E27FC236}">
                <a16:creationId xmlns:a16="http://schemas.microsoft.com/office/drawing/2014/main" id="{F5083A24-0915-2827-7615-3309A4AAAD78}"/>
              </a:ext>
            </a:extLst>
          </p:cNvPr>
          <p:cNvSpPr txBox="1"/>
          <p:nvPr/>
        </p:nvSpPr>
        <p:spPr>
          <a:xfrm>
            <a:off x="6312704" y="2800000"/>
            <a:ext cx="2540000" cy="760000"/>
          </a:xfrm>
          <a:prstGeom prst="rect">
            <a:avLst/>
          </a:prstGeom>
          <a:noFill/>
          <a:ln>
            <a:noFill/>
          </a:ln>
        </p:spPr>
        <p:txBody>
          <a:bodyPr wrap="square" lIns="0" tIns="0" rIns="0" bIns="0" anchor="ctr">
            <a:normAutofit/>
          </a:bodyPr>
          <a:lstStyle/>
          <a:p>
            <a:pPr marL="0" indent="0" algn="l">
              <a:spcBef>
                <a:spcPts val="0"/>
              </a:spcBef>
              <a:spcAft>
                <a:spcPts val="0"/>
              </a:spcAft>
              <a:buNone/>
            </a:pPr>
            <a:r>
              <a:rPr lang="es-ES" sz="2000" b="1" dirty="0">
                <a:solidFill>
                  <a:srgbClr val="10635A"/>
                </a:solidFill>
                <a:latin typeface="Arial"/>
                <a:cs typeface="Arial"/>
              </a:rPr>
              <a:t>2. Configuración del tenant</a:t>
            </a:r>
          </a:p>
        </p:txBody>
      </p:sp>
      <p:sp>
        <p:nvSpPr>
          <p:cNvPr id="21" name="Texto tarjeta 21">
            <a:extLst>
              <a:ext uri="{FF2B5EF4-FFF2-40B4-BE49-F238E27FC236}">
                <a16:creationId xmlns:a16="http://schemas.microsoft.com/office/drawing/2014/main" id="{8C6DC030-75AA-48D7-39C3-DCF37869EE00}"/>
              </a:ext>
            </a:extLst>
          </p:cNvPr>
          <p:cNvSpPr txBox="1"/>
          <p:nvPr/>
        </p:nvSpPr>
        <p:spPr>
          <a:xfrm>
            <a:off x="5412704" y="3790000"/>
            <a:ext cx="3360000" cy="2930000"/>
          </a:xfrm>
          <a:prstGeom prst="rect">
            <a:avLst/>
          </a:prstGeom>
          <a:noFill/>
          <a:ln>
            <a:noFill/>
          </a:ln>
        </p:spPr>
        <p:txBody>
          <a:bodyPr wrap="square" lIns="0" tIns="0" rIns="0" bIns="0" anchor="t">
            <a:normAutofit/>
          </a:bodyPr>
          <a:lstStyle/>
          <a:p>
            <a:pPr marL="285750" indent="-285750" algn="l">
              <a:spcBef>
                <a:spcPts val="0"/>
              </a:spcBef>
              <a:spcAft>
                <a:spcPts val="600"/>
              </a:spcAft>
              <a:buClr>
                <a:srgbClr val="1E8A7C"/>
              </a:buClr>
              <a:buFont typeface="Arial"/>
              <a:buChar char="•"/>
            </a:pPr>
            <a:r>
              <a:rPr lang="es-ES" sz="1700" dirty="0">
                <a:solidFill>
                  <a:srgbClr val="09534E"/>
                </a:solidFill>
                <a:latin typeface="Arial"/>
                <a:cs typeface="Arial"/>
              </a:rPr>
              <a:t>Un Fabric Administrator lo activa en Admin Portal → Tenant settings; sin él nadie crea Ontology</a:t>
            </a:r>
          </a:p>
          <a:p>
            <a:pPr marL="285750" indent="-285750" algn="l">
              <a:spcBef>
                <a:spcPts val="0"/>
              </a:spcBef>
              <a:spcAft>
                <a:spcPts val="600"/>
              </a:spcAft>
              <a:buClr>
                <a:srgbClr val="1E8A7C"/>
              </a:buClr>
              <a:buFont typeface="Arial"/>
              <a:buChar char="•"/>
            </a:pPr>
            <a:r>
              <a:rPr lang="es-ES" sz="1700" dirty="0">
                <a:solidFill>
                  <a:srgbClr val="09534E"/>
                </a:solidFill>
                <a:latin typeface="Arial"/>
                <a:cs typeface="Arial"/>
              </a:rPr>
              <a:t>Con Data Agent: Copilot / Azure OpenAI y datos fuera de la región (según config.)</a:t>
            </a:r>
          </a:p>
          <a:p>
            <a:pPr marL="285750" indent="-285750" algn="l">
              <a:spcBef>
                <a:spcPts val="0"/>
              </a:spcBef>
              <a:spcAft>
                <a:spcPts val="600"/>
              </a:spcAft>
              <a:buClr>
                <a:srgbClr val="1E8A7C"/>
              </a:buClr>
              <a:buFont typeface="Arial"/>
              <a:buChar char="•"/>
            </a:pPr>
            <a:r>
              <a:rPr lang="es-ES" sz="1700" dirty="0">
                <a:solidFill>
                  <a:srgbClr val="09534E"/>
                </a:solidFill>
                <a:latin typeface="Arial"/>
                <a:cs typeface="Arial"/>
              </a:rPr>
              <a:t>Con Operations Agent: sus propios tenant settings</a:t>
            </a:r>
          </a:p>
        </p:txBody>
      </p:sp>
      <p:sp>
        <p:nvSpPr>
          <p:cNvPr id="22" name="Chip 22">
            <a:extLst>
              <a:ext uri="{FF2B5EF4-FFF2-40B4-BE49-F238E27FC236}">
                <a16:creationId xmlns:a16="http://schemas.microsoft.com/office/drawing/2014/main" id="{640ED796-1FE7-E678-B24F-64206123E39A}"/>
              </a:ext>
            </a:extLst>
          </p:cNvPr>
          <p:cNvSpPr/>
          <p:nvPr/>
        </p:nvSpPr>
        <p:spPr>
          <a:xfrm>
            <a:off x="5412704" y="6870000"/>
            <a:ext cx="3360000" cy="900000"/>
          </a:xfrm>
          <a:prstGeom prst="roundRect">
            <a:avLst>
              <a:gd name="adj" fmla="val 22000"/>
            </a:avLst>
          </a:prstGeom>
          <a:solidFill>
            <a:srgbClr val="E8B84B"/>
          </a:solidFill>
          <a:ln>
            <a:noFill/>
          </a:ln>
        </p:spPr>
        <p:txBody>
          <a:bodyPr wrap="square" lIns="120000" tIns="45720" rIns="120000" bIns="45720" anchor="ctr">
            <a:normAutofit/>
          </a:bodyPr>
          <a:lstStyle/>
          <a:p>
            <a:pPr marL="0" indent="0" algn="ctr">
              <a:spcBef>
                <a:spcPts val="0"/>
              </a:spcBef>
              <a:spcAft>
                <a:spcPts val="0"/>
              </a:spcAft>
              <a:buNone/>
            </a:pPr>
            <a:r>
              <a:rPr lang="es-ES" sz="1500" b="1" dirty="0">
                <a:solidFill>
                  <a:srgbClr val="09534E"/>
                </a:solidFill>
                <a:latin typeface="Arial"/>
                <a:cs typeface="Arial"/>
              </a:rPr>
              <a:t>Users can create Ontology (preview) items</a:t>
            </a:r>
          </a:p>
        </p:txBody>
      </p:sp>
      <p:sp>
        <p:nvSpPr>
          <p:cNvPr id="23" name="Tarjeta 23">
            <a:extLst>
              <a:ext uri="{FF2B5EF4-FFF2-40B4-BE49-F238E27FC236}">
                <a16:creationId xmlns:a16="http://schemas.microsoft.com/office/drawing/2014/main" id="{9D386211-D7A4-AE2B-209C-E2904A0416EC}"/>
              </a:ext>
            </a:extLst>
          </p:cNvPr>
          <p:cNvSpPr/>
          <p:nvPr/>
        </p:nvSpPr>
        <p:spPr>
          <a:xfrm>
            <a:off x="9284704" y="2560000"/>
            <a:ext cx="3840000" cy="5450000"/>
          </a:xfrm>
          <a:prstGeom prst="roundRect">
            <a:avLst>
              <a:gd name="adj" fmla="val 6000"/>
            </a:avLst>
          </a:prstGeom>
          <a:solidFill>
            <a:srgbClr val="E4F7EE"/>
          </a:solidFill>
          <a:ln>
            <a:noFill/>
          </a:ln>
          <a:effectLst>
            <a:outerShdw blurRad="50800" dist="38100" dir="2700000" algn="tl" rotWithShape="0">
              <a:prstClr val="black">
                <a:alpha val="40000"/>
              </a:prstClr>
            </a:outerShdw>
          </a:effectLst>
        </p:spPr>
        <p:txBody>
          <a:bodyPr wrap="square" lIns="0" tIns="0" rIns="0" bIns="0" anchor="t">
            <a:normAutofit/>
          </a:bodyPr>
          <a:lstStyle/>
          <a:p>
            <a:endParaRPr lang="es-ES"/>
          </a:p>
        </p:txBody>
      </p:sp>
      <p:sp>
        <p:nvSpPr>
          <p:cNvPr id="24" name="Circulo 24">
            <a:extLst>
              <a:ext uri="{FF2B5EF4-FFF2-40B4-BE49-F238E27FC236}">
                <a16:creationId xmlns:a16="http://schemas.microsoft.com/office/drawing/2014/main" id="{1E502B01-7376-E441-259E-843F0BFEA5DC}"/>
              </a:ext>
            </a:extLst>
          </p:cNvPr>
          <p:cNvSpPr/>
          <p:nvPr/>
        </p:nvSpPr>
        <p:spPr>
          <a:xfrm>
            <a:off x="9524704" y="2800000"/>
            <a:ext cx="760000" cy="760000"/>
          </a:xfrm>
          <a:prstGeom prst="ellipse">
            <a:avLst/>
          </a:prstGeom>
          <a:solidFill>
            <a:srgbClr val="10635A"/>
          </a:solidFill>
          <a:ln>
            <a:noFill/>
          </a:ln>
        </p:spPr>
        <p:txBody>
          <a:bodyPr wrap="square" lIns="0" tIns="0" rIns="0" bIns="0" anchor="t">
            <a:normAutofit/>
          </a:bodyPr>
          <a:lstStyle/>
          <a:p>
            <a:endParaRPr lang="es-ES"/>
          </a:p>
        </p:txBody>
      </p:sp>
      <p:pic>
        <p:nvPicPr>
          <p:cNvPr id="25" name="Icono 25" descr="Permisos">
            <a:extLst>
              <a:ext uri="{FF2B5EF4-FFF2-40B4-BE49-F238E27FC236}">
                <a16:creationId xmlns:a16="http://schemas.microsoft.com/office/drawing/2014/main" id="{690A0D2C-DED1-C29D-0B58-6096AC5476AE}"/>
              </a:ext>
            </a:extLst>
          </p:cNvPr>
          <p:cNvPicPr>
            <a:picLocks noChangeAspect="1"/>
          </p:cNvPicPr>
          <p:nvPr/>
        </p:nvPicPr>
        <p:blipFill>
          <a:blip r:embed="rId4"/>
          <a:stretch>
            <a:fillRect/>
          </a:stretch>
        </p:blipFill>
        <p:spPr>
          <a:xfrm>
            <a:off x="9714704" y="2990000"/>
            <a:ext cx="380000" cy="380000"/>
          </a:xfrm>
          <a:prstGeom prst="rect">
            <a:avLst/>
          </a:prstGeom>
        </p:spPr>
      </p:pic>
      <p:sp>
        <p:nvSpPr>
          <p:cNvPr id="26" name="Titulo tarjeta 26">
            <a:extLst>
              <a:ext uri="{FF2B5EF4-FFF2-40B4-BE49-F238E27FC236}">
                <a16:creationId xmlns:a16="http://schemas.microsoft.com/office/drawing/2014/main" id="{425337F5-6ABB-AE8B-7D3F-5D5BBC90B34D}"/>
              </a:ext>
            </a:extLst>
          </p:cNvPr>
          <p:cNvSpPr txBox="1"/>
          <p:nvPr/>
        </p:nvSpPr>
        <p:spPr>
          <a:xfrm>
            <a:off x="10424704" y="2800000"/>
            <a:ext cx="2540000" cy="760000"/>
          </a:xfrm>
          <a:prstGeom prst="rect">
            <a:avLst/>
          </a:prstGeom>
          <a:noFill/>
          <a:ln>
            <a:noFill/>
          </a:ln>
        </p:spPr>
        <p:txBody>
          <a:bodyPr wrap="square" lIns="0" tIns="0" rIns="0" bIns="0" anchor="ctr">
            <a:normAutofit/>
          </a:bodyPr>
          <a:lstStyle/>
          <a:p>
            <a:pPr marL="0" indent="0" algn="l">
              <a:spcBef>
                <a:spcPts val="0"/>
              </a:spcBef>
              <a:spcAft>
                <a:spcPts val="0"/>
              </a:spcAft>
              <a:buNone/>
            </a:pPr>
            <a:r>
              <a:rPr lang="es-ES" sz="2000" b="1" dirty="0">
                <a:solidFill>
                  <a:srgbClr val="10635A"/>
                </a:solidFill>
                <a:latin typeface="Arial"/>
                <a:cs typeface="Arial"/>
              </a:rPr>
              <a:t>3. Permisos</a:t>
            </a:r>
          </a:p>
        </p:txBody>
      </p:sp>
      <p:sp>
        <p:nvSpPr>
          <p:cNvPr id="27" name="Texto tarjeta 27">
            <a:extLst>
              <a:ext uri="{FF2B5EF4-FFF2-40B4-BE49-F238E27FC236}">
                <a16:creationId xmlns:a16="http://schemas.microsoft.com/office/drawing/2014/main" id="{F5B028E0-1E51-3EE8-20D3-C83FF8FA9D63}"/>
              </a:ext>
            </a:extLst>
          </p:cNvPr>
          <p:cNvSpPr txBox="1"/>
          <p:nvPr/>
        </p:nvSpPr>
        <p:spPr>
          <a:xfrm>
            <a:off x="9524704" y="3790000"/>
            <a:ext cx="3360000" cy="2930000"/>
          </a:xfrm>
          <a:prstGeom prst="rect">
            <a:avLst/>
          </a:prstGeom>
          <a:noFill/>
          <a:ln>
            <a:noFill/>
          </a:ln>
        </p:spPr>
        <p:txBody>
          <a:bodyPr wrap="square" lIns="0" tIns="0" rIns="0" bIns="0" anchor="t">
            <a:normAutofit/>
          </a:bodyPr>
          <a:lstStyle/>
          <a:p>
            <a:pPr marL="285750" indent="-285750" algn="l">
              <a:spcBef>
                <a:spcPts val="0"/>
              </a:spcBef>
              <a:spcAft>
                <a:spcPts val="600"/>
              </a:spcAft>
              <a:buClr>
                <a:srgbClr val="1E8A7C"/>
              </a:buClr>
              <a:buFont typeface="Arial"/>
              <a:buChar char="•"/>
            </a:pPr>
            <a:r>
              <a:rPr lang="es-ES" sz="1700" dirty="0">
                <a:solidFill>
                  <a:srgbClr val="09534E"/>
                </a:solidFill>
                <a:latin typeface="Arial"/>
                <a:cs typeface="Arial"/>
              </a:rPr>
              <a:t>Acceso al workspace y permisos sobre los elementos de origen</a:t>
            </a:r>
          </a:p>
          <a:p>
            <a:pPr marL="285750" indent="-285750" algn="l">
              <a:spcBef>
                <a:spcPts val="0"/>
              </a:spcBef>
              <a:spcAft>
                <a:spcPts val="600"/>
              </a:spcAft>
              <a:buClr>
                <a:srgbClr val="1E8A7C"/>
              </a:buClr>
              <a:buFont typeface="Arial"/>
              <a:buChar char="•"/>
            </a:pPr>
            <a:r>
              <a:rPr lang="es-ES" sz="1700" dirty="0">
                <a:solidFill>
                  <a:srgbClr val="09534E"/>
                </a:solidFill>
                <a:latin typeface="Arial"/>
                <a:cs typeface="Arial"/>
              </a:rPr>
              <a:t>Vía API: rol Contributor y scope Item.ReadWrite.All</a:t>
            </a:r>
          </a:p>
          <a:p>
            <a:pPr marL="285750" indent="-285750" algn="l">
              <a:spcBef>
                <a:spcPts val="0"/>
              </a:spcBef>
              <a:spcAft>
                <a:spcPts val="600"/>
              </a:spcAft>
              <a:buClr>
                <a:srgbClr val="1E8A7C"/>
              </a:buClr>
              <a:buFont typeface="Arial"/>
              <a:buChar char="•"/>
            </a:pPr>
            <a:r>
              <a:rPr lang="es-ES" sz="1700" dirty="0">
                <a:solidFill>
                  <a:srgbClr val="09534E"/>
                </a:solidFill>
                <a:latin typeface="Arial"/>
                <a:cs typeface="Arial"/>
              </a:rPr>
              <a:t>La seguridad sigue dependiendo de los elementos Fabric que intervienen</a:t>
            </a:r>
          </a:p>
        </p:txBody>
      </p:sp>
      <p:sp>
        <p:nvSpPr>
          <p:cNvPr id="28" name="Chip 28">
            <a:extLst>
              <a:ext uri="{FF2B5EF4-FFF2-40B4-BE49-F238E27FC236}">
                <a16:creationId xmlns:a16="http://schemas.microsoft.com/office/drawing/2014/main" id="{E49B6352-148D-E986-2EDC-1306AD0AA71E}"/>
              </a:ext>
            </a:extLst>
          </p:cNvPr>
          <p:cNvSpPr/>
          <p:nvPr/>
        </p:nvSpPr>
        <p:spPr>
          <a:xfrm>
            <a:off x="9524704" y="6870000"/>
            <a:ext cx="3360000" cy="900000"/>
          </a:xfrm>
          <a:prstGeom prst="roundRect">
            <a:avLst>
              <a:gd name="adj" fmla="val 22000"/>
            </a:avLst>
          </a:prstGeom>
          <a:solidFill>
            <a:srgbClr val="10635A"/>
          </a:solidFill>
          <a:ln>
            <a:noFill/>
          </a:ln>
        </p:spPr>
        <p:txBody>
          <a:bodyPr wrap="square" lIns="120000" tIns="45720" rIns="120000" bIns="45720" anchor="ctr">
            <a:normAutofit/>
          </a:bodyPr>
          <a:lstStyle/>
          <a:p>
            <a:pPr marL="0" indent="0" algn="ctr">
              <a:spcBef>
                <a:spcPts val="0"/>
              </a:spcBef>
              <a:spcAft>
                <a:spcPts val="0"/>
              </a:spcAft>
              <a:buNone/>
            </a:pPr>
            <a:r>
              <a:rPr lang="es-ES" sz="1500" b="1" dirty="0">
                <a:solidFill>
                  <a:srgbClr val="FFFFFF"/>
                </a:solidFill>
                <a:latin typeface="Arial"/>
                <a:cs typeface="Arial"/>
              </a:rPr>
              <a:t>No es una copia aislada de tus datos</a:t>
            </a:r>
          </a:p>
        </p:txBody>
      </p:sp>
      <p:sp>
        <p:nvSpPr>
          <p:cNvPr id="29" name="Tarjeta 29">
            <a:extLst>
              <a:ext uri="{FF2B5EF4-FFF2-40B4-BE49-F238E27FC236}">
                <a16:creationId xmlns:a16="http://schemas.microsoft.com/office/drawing/2014/main" id="{9D0E7F3B-C4C6-070A-886B-5365080BBE20}"/>
              </a:ext>
            </a:extLst>
          </p:cNvPr>
          <p:cNvSpPr/>
          <p:nvPr/>
        </p:nvSpPr>
        <p:spPr>
          <a:xfrm>
            <a:off x="13396704" y="2560000"/>
            <a:ext cx="3840000" cy="5450000"/>
          </a:xfrm>
          <a:prstGeom prst="roundRect">
            <a:avLst>
              <a:gd name="adj" fmla="val 6000"/>
            </a:avLst>
          </a:prstGeom>
          <a:solidFill>
            <a:srgbClr val="E4F7EE"/>
          </a:solidFill>
          <a:ln>
            <a:noFill/>
          </a:ln>
          <a:effectLst>
            <a:outerShdw blurRad="50800" dist="38100" dir="2700000" algn="tl" rotWithShape="0">
              <a:prstClr val="black">
                <a:alpha val="40000"/>
              </a:prstClr>
            </a:outerShdw>
          </a:effectLst>
        </p:spPr>
        <p:txBody>
          <a:bodyPr wrap="square" lIns="0" tIns="0" rIns="0" bIns="0" anchor="t">
            <a:normAutofit/>
          </a:bodyPr>
          <a:lstStyle/>
          <a:p>
            <a:endParaRPr lang="es-ES"/>
          </a:p>
        </p:txBody>
      </p:sp>
      <p:sp>
        <p:nvSpPr>
          <p:cNvPr id="30" name="Circulo 30">
            <a:extLst>
              <a:ext uri="{FF2B5EF4-FFF2-40B4-BE49-F238E27FC236}">
                <a16:creationId xmlns:a16="http://schemas.microsoft.com/office/drawing/2014/main" id="{D808B8BD-2957-9802-2C5F-CBCC0F238E7E}"/>
              </a:ext>
            </a:extLst>
          </p:cNvPr>
          <p:cNvSpPr/>
          <p:nvPr/>
        </p:nvSpPr>
        <p:spPr>
          <a:xfrm>
            <a:off x="13636704" y="2800000"/>
            <a:ext cx="760000" cy="760000"/>
          </a:xfrm>
          <a:prstGeom prst="ellipse">
            <a:avLst/>
          </a:prstGeom>
          <a:solidFill>
            <a:srgbClr val="10635A"/>
          </a:solidFill>
          <a:ln>
            <a:noFill/>
          </a:ln>
        </p:spPr>
        <p:txBody>
          <a:bodyPr wrap="square" lIns="0" tIns="0" rIns="0" bIns="0" anchor="t">
            <a:normAutofit/>
          </a:bodyPr>
          <a:lstStyle/>
          <a:p>
            <a:endParaRPr lang="es-ES"/>
          </a:p>
        </p:txBody>
      </p:sp>
      <p:pic>
        <p:nvPicPr>
          <p:cNvPr id="31" name="Icono 31" descr="Datos">
            <a:extLst>
              <a:ext uri="{FF2B5EF4-FFF2-40B4-BE49-F238E27FC236}">
                <a16:creationId xmlns:a16="http://schemas.microsoft.com/office/drawing/2014/main" id="{A5CD4164-DF17-EB4D-EFBB-E7F4E3410F5F}"/>
              </a:ext>
            </a:extLst>
          </p:cNvPr>
          <p:cNvPicPr>
            <a:picLocks noChangeAspect="1"/>
          </p:cNvPicPr>
          <p:nvPr/>
        </p:nvPicPr>
        <p:blipFill>
          <a:blip r:embed="rId5"/>
          <a:stretch>
            <a:fillRect/>
          </a:stretch>
        </p:blipFill>
        <p:spPr>
          <a:xfrm>
            <a:off x="13826704" y="2990000"/>
            <a:ext cx="380000" cy="380000"/>
          </a:xfrm>
          <a:prstGeom prst="rect">
            <a:avLst/>
          </a:prstGeom>
        </p:spPr>
      </p:pic>
      <p:sp>
        <p:nvSpPr>
          <p:cNvPr id="32" name="Titulo tarjeta 32">
            <a:extLst>
              <a:ext uri="{FF2B5EF4-FFF2-40B4-BE49-F238E27FC236}">
                <a16:creationId xmlns:a16="http://schemas.microsoft.com/office/drawing/2014/main" id="{18BDE30B-3BCE-C595-E9B4-D220218FD392}"/>
              </a:ext>
            </a:extLst>
          </p:cNvPr>
          <p:cNvSpPr txBox="1"/>
          <p:nvPr/>
        </p:nvSpPr>
        <p:spPr>
          <a:xfrm>
            <a:off x="14536704" y="2800000"/>
            <a:ext cx="2540000" cy="760000"/>
          </a:xfrm>
          <a:prstGeom prst="rect">
            <a:avLst/>
          </a:prstGeom>
          <a:noFill/>
          <a:ln>
            <a:noFill/>
          </a:ln>
        </p:spPr>
        <p:txBody>
          <a:bodyPr wrap="square" lIns="0" tIns="0" rIns="0" bIns="0" anchor="ctr">
            <a:normAutofit/>
          </a:bodyPr>
          <a:lstStyle/>
          <a:p>
            <a:pPr marL="0" indent="0" algn="l">
              <a:spcBef>
                <a:spcPts val="0"/>
              </a:spcBef>
              <a:spcAft>
                <a:spcPts val="0"/>
              </a:spcAft>
              <a:buNone/>
            </a:pPr>
            <a:r>
              <a:rPr lang="es-ES" sz="2000" b="1" dirty="0">
                <a:solidFill>
                  <a:srgbClr val="10635A"/>
                </a:solidFill>
                <a:latin typeface="Arial"/>
                <a:cs typeface="Arial"/>
              </a:rPr>
              <a:t>4. Datos preparados</a:t>
            </a:r>
          </a:p>
        </p:txBody>
      </p:sp>
      <p:sp>
        <p:nvSpPr>
          <p:cNvPr id="33" name="Texto tarjeta 33">
            <a:extLst>
              <a:ext uri="{FF2B5EF4-FFF2-40B4-BE49-F238E27FC236}">
                <a16:creationId xmlns:a16="http://schemas.microsoft.com/office/drawing/2014/main" id="{1C2C9A9A-C16D-CBB7-2816-4E182E548358}"/>
              </a:ext>
            </a:extLst>
          </p:cNvPr>
          <p:cNvSpPr txBox="1"/>
          <p:nvPr/>
        </p:nvSpPr>
        <p:spPr>
          <a:xfrm>
            <a:off x="13636704" y="3790000"/>
            <a:ext cx="3360000" cy="2930000"/>
          </a:xfrm>
          <a:prstGeom prst="rect">
            <a:avLst/>
          </a:prstGeom>
          <a:noFill/>
          <a:ln>
            <a:noFill/>
          </a:ln>
        </p:spPr>
        <p:txBody>
          <a:bodyPr wrap="square" lIns="0" tIns="0" rIns="0" bIns="0" anchor="t">
            <a:normAutofit/>
          </a:bodyPr>
          <a:lstStyle/>
          <a:p>
            <a:pPr marL="0" indent="0" algn="l">
              <a:spcBef>
                <a:spcPts val="0"/>
              </a:spcBef>
              <a:spcAft>
                <a:spcPts val="500"/>
              </a:spcAft>
              <a:buNone/>
            </a:pPr>
            <a:r>
              <a:rPr lang="es-ES" sz="1700" dirty="0">
                <a:solidFill>
                  <a:srgbClr val="09534E"/>
                </a:solidFill>
                <a:latin typeface="Arial"/>
                <a:cs typeface="Arial"/>
              </a:rPr>
              <a:t>Antes de construir, el dato debe estar:</a:t>
            </a:r>
          </a:p>
          <a:p>
            <a:pPr marL="285750" indent="-285750" algn="l">
              <a:spcBef>
                <a:spcPts val="0"/>
              </a:spcBef>
              <a:spcAft>
                <a:spcPts val="300"/>
              </a:spcAft>
              <a:buClr>
                <a:srgbClr val="1E8A7C"/>
              </a:buClr>
              <a:buFont typeface="Arial"/>
              <a:buChar char="•"/>
            </a:pPr>
            <a:r>
              <a:rPr lang="es-ES" sz="1700" dirty="0">
                <a:solidFill>
                  <a:srgbClr val="09534E"/>
                </a:solidFill>
                <a:latin typeface="Arial"/>
                <a:cs typeface="Arial"/>
              </a:rPr>
              <a:t>organizado</a:t>
            </a:r>
          </a:p>
          <a:p>
            <a:pPr marL="285750" indent="-285750" algn="l">
              <a:spcBef>
                <a:spcPts val="0"/>
              </a:spcBef>
              <a:spcAft>
                <a:spcPts val="300"/>
              </a:spcAft>
              <a:buClr>
                <a:srgbClr val="1E8A7C"/>
              </a:buClr>
              <a:buFont typeface="Arial"/>
              <a:buChar char="•"/>
            </a:pPr>
            <a:r>
              <a:rPr lang="es-ES" sz="1700" dirty="0">
                <a:solidFill>
                  <a:srgbClr val="09534E"/>
                </a:solidFill>
                <a:latin typeface="Arial"/>
                <a:cs typeface="Arial"/>
              </a:rPr>
              <a:t>con el ETL necesario hecho</a:t>
            </a:r>
          </a:p>
          <a:p>
            <a:pPr marL="285750" indent="-285750" algn="l">
              <a:spcBef>
                <a:spcPts val="0"/>
              </a:spcBef>
              <a:spcAft>
                <a:spcPts val="300"/>
              </a:spcAft>
              <a:buClr>
                <a:srgbClr val="1E8A7C"/>
              </a:buClr>
              <a:buFont typeface="Arial"/>
              <a:buChar char="•"/>
            </a:pPr>
            <a:r>
              <a:rPr lang="es-ES" sz="1700" dirty="0">
                <a:solidFill>
                  <a:srgbClr val="09534E"/>
                </a:solidFill>
                <a:latin typeface="Arial"/>
                <a:cs typeface="Arial"/>
              </a:rPr>
              <a:t>con la información para representar las entidades</a:t>
            </a:r>
          </a:p>
          <a:p>
            <a:pPr marL="285750" indent="-285750" algn="l">
              <a:spcBef>
                <a:spcPts val="0"/>
              </a:spcBef>
              <a:spcAft>
                <a:spcPts val="300"/>
              </a:spcAft>
              <a:buClr>
                <a:srgbClr val="1E8A7C"/>
              </a:buClr>
              <a:buFont typeface="Arial"/>
              <a:buChar char="•"/>
            </a:pPr>
            <a:r>
              <a:rPr lang="es-ES" sz="1700" dirty="0">
                <a:solidFill>
                  <a:srgbClr val="09534E"/>
                </a:solidFill>
                <a:latin typeface="Arial"/>
                <a:cs typeface="Arial"/>
              </a:rPr>
              <a:t>disponible dentro de Fabric</a:t>
            </a:r>
          </a:p>
        </p:txBody>
      </p:sp>
      <p:sp>
        <p:nvSpPr>
          <p:cNvPr id="34" name="Chip 34">
            <a:extLst>
              <a:ext uri="{FF2B5EF4-FFF2-40B4-BE49-F238E27FC236}">
                <a16:creationId xmlns:a16="http://schemas.microsoft.com/office/drawing/2014/main" id="{34F34183-25CC-CF5C-D4D4-5CA75048FA12}"/>
              </a:ext>
            </a:extLst>
          </p:cNvPr>
          <p:cNvSpPr/>
          <p:nvPr/>
        </p:nvSpPr>
        <p:spPr>
          <a:xfrm>
            <a:off x="13636704" y="6870000"/>
            <a:ext cx="3360000" cy="900000"/>
          </a:xfrm>
          <a:prstGeom prst="roundRect">
            <a:avLst>
              <a:gd name="adj" fmla="val 22000"/>
            </a:avLst>
          </a:prstGeom>
          <a:solidFill>
            <a:srgbClr val="10635A"/>
          </a:solidFill>
          <a:ln>
            <a:noFill/>
          </a:ln>
        </p:spPr>
        <p:txBody>
          <a:bodyPr wrap="square" lIns="120000" tIns="45720" rIns="120000" bIns="45720" anchor="ctr">
            <a:normAutofit lnSpcReduction="10000"/>
          </a:bodyPr>
          <a:lstStyle/>
          <a:p>
            <a:pPr marL="0" indent="0" algn="ctr">
              <a:spcBef>
                <a:spcPts val="0"/>
              </a:spcBef>
              <a:spcAft>
                <a:spcPts val="200"/>
              </a:spcAft>
              <a:buNone/>
            </a:pPr>
            <a:r>
              <a:rPr lang="es-ES" sz="1500" b="1" dirty="0">
                <a:solidFill>
                  <a:srgbClr val="FFFFFF"/>
                </a:solidFill>
                <a:latin typeface="Arial"/>
                <a:cs typeface="Arial"/>
              </a:rPr>
              <a:t>Estático → OneLake</a:t>
            </a:r>
          </a:p>
          <a:p>
            <a:pPr marL="0" indent="0" algn="ctr">
              <a:spcBef>
                <a:spcPts val="0"/>
              </a:spcBef>
              <a:spcAft>
                <a:spcPts val="0"/>
              </a:spcAft>
              <a:buNone/>
            </a:pPr>
            <a:r>
              <a:rPr lang="es-ES" sz="1500" b="1" dirty="0">
                <a:solidFill>
                  <a:srgbClr val="FFFFFF"/>
                </a:solidFill>
                <a:latin typeface="Arial"/>
                <a:cs typeface="Arial"/>
              </a:rPr>
              <a:t>Series temporales → OneLake · Eventhouse</a:t>
            </a:r>
          </a:p>
        </p:txBody>
      </p:sp>
      <p:sp>
        <p:nvSpPr>
          <p:cNvPr id="35" name="Mensaje clave 35"/>
          <p:cNvSpPr/>
          <p:nvPr/>
        </p:nvSpPr>
        <p:spPr>
          <a:xfrm>
            <a:off x="2286000" y="8321040"/>
            <a:ext cx="13716000" cy="512064"/>
          </a:xfrm>
          <a:prstGeom prst="roundRect">
            <a:avLst>
              <a:gd name="adj" fmla="val 50000"/>
            </a:avLst>
          </a:prstGeom>
          <a:solidFill>
            <a:srgbClr val="09534E"/>
          </a:solidFill>
          <a:ln>
            <a:noFill/>
          </a:ln>
          <a:effectLst>
            <a:outerShdw blurRad="50800" dist="25400" dir="5400000" algn="t" rotWithShape="0">
              <a:prstClr val="black">
                <a:alpha val="28000"/>
              </a:prstClr>
            </a:outerShdw>
          </a:effectLst>
        </p:spPr>
        <p:txBody>
          <a:bodyPr wrap="square" lIns="182880" tIns="0" rIns="182880" bIns="0" anchor="ctr">
            <a:noAutofit/>
          </a:bodyPr>
          <a:lstStyle/>
          <a:p>
            <a:pPr algn="ctr"/>
            <a:r>
              <a:rPr lang="es-ES" sz="2000" b="1" dirty="0">
                <a:solidFill>
                  <a:srgbClr val="7DE9B0"/>
                </a:solidFill>
                <a:latin typeface="Arial"/>
                <a:cs typeface="Arial"/>
              </a:rPr>
              <a:t xml:space="preserve">✓  Sin capacidad, tenant, permisos y datos preparados, </a:t>
            </a:r>
            <a:r>
              <a:rPr lang="es-ES" sz="2000" b="1" dirty="0">
                <a:solidFill>
                  <a:srgbClr val="FFFFFF"/>
                </a:solidFill>
                <a:latin typeface="Arial"/>
                <a:cs typeface="Arial"/>
              </a:rPr>
              <a:t xml:space="preserve">no hay ontología</a:t>
            </a:r>
          </a:p>
        </p:txBody>
      </p:sp>
      <p:sp>
        <p:nvSpPr>
          <p:cNvPr id="4" name="CuadroTexto 3">
            <a:extLst>
              <a:ext uri="{FF2B5EF4-FFF2-40B4-BE49-F238E27FC236}">
                <a16:creationId xmlns:a16="http://schemas.microsoft.com/office/drawing/2014/main" id="{0D8A306C-0515-1433-F59B-2C4151FE5CA1}"/>
              </a:ext>
            </a:extLst>
          </p:cNvPr>
          <p:cNvSpPr txBox="1"/>
          <p:nvPr/>
        </p:nvSpPr>
        <p:spPr>
          <a:xfrm>
            <a:off x="1036991" y="1737801"/>
            <a:ext cx="15631426" cy="446276"/>
          </a:xfrm>
          <a:prstGeom prst="rect">
            <a:avLst/>
          </a:prstGeom>
          <a:noFill/>
        </p:spPr>
        <p:txBody>
          <a:bodyPr wrap="square">
            <a:spAutoFit/>
          </a:bodyPr>
          <a:lstStyle/>
          <a:p>
            <a:r>
              <a:rPr lang="es-ES" sz="2300" dirty="0">
                <a:solidFill>
                  <a:srgbClr val="09534E"/>
                </a:solidFill>
                <a:latin typeface="Arial"/>
                <a:cs typeface="Arial"/>
              </a:rPr>
              <a:t>¿Qué necesitamos para trabajar con ontologías en </a:t>
            </a:r>
            <a:r>
              <a:rPr lang="es-ES" sz="2300" dirty="0" err="1">
                <a:solidFill>
                  <a:srgbClr val="09534E"/>
                </a:solidFill>
                <a:latin typeface="Arial"/>
                <a:cs typeface="Arial"/>
              </a:rPr>
              <a:t>Fabric</a:t>
            </a:r>
            <a:r>
              <a:rPr lang="es-ES" sz="2300" dirty="0">
                <a:solidFill>
                  <a:srgbClr val="09534E"/>
                </a:solidFill>
                <a:latin typeface="Arial"/>
                <a:cs typeface="Arial"/>
              </a:rPr>
              <a:t>?</a:t>
            </a:r>
          </a:p>
        </p:txBody>
      </p:sp>
    </p:spTree>
    <p:extLst>
      <p:ext uri="{BB962C8B-B14F-4D97-AF65-F5344CB8AC3E}">
        <p14:creationId xmlns:p14="http://schemas.microsoft.com/office/powerpoint/2010/main" val="1881587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marL="0" indent="0">
              <a:buNone/>
            </a:pPr>
            <a:r>
              <a:rPr lang="es-ES" sz="4400" b="1" dirty="0">
                <a:latin typeface="Arial"/>
                <a:cs typeface="Arial"/>
              </a:rPr>
              <a:t>Limitaciones actuales </a:t>
            </a:r>
            <a:r>
              <a:rPr lang="es-ES" b="1" dirty="0">
                <a:latin typeface="Arial"/>
                <a:cs typeface="Arial"/>
              </a:rPr>
              <a:t>de</a:t>
            </a:r>
            <a:r>
              <a:rPr lang="es-ES" sz="4400" b="1" dirty="0">
                <a:latin typeface="Arial"/>
                <a:cs typeface="Arial"/>
              </a:rPr>
              <a:t> Ontologías en </a:t>
            </a:r>
            <a:r>
              <a:rPr lang="es-ES" sz="4400" b="1" dirty="0" err="1">
                <a:latin typeface="Arial"/>
                <a:cs typeface="Arial"/>
              </a:rPr>
              <a:t>Fabric</a:t>
            </a:r>
            <a:r>
              <a:rPr lang="es-ES" sz="4400" b="1" dirty="0">
                <a:latin typeface="Arial"/>
                <a:cs typeface="Arial"/>
              </a:rPr>
              <a:t/>
            </a:r>
          </a:p>
        </p:txBody>
      </p:sp>
      <p:sp>
        <p:nvSpPr>
          <p:cNvPr id="11" name="Tarjeta 11"/>
          <p:cNvSpPr/>
          <p:nvPr/>
        </p:nvSpPr>
        <p:spPr>
          <a:xfrm>
            <a:off x="1060704" y="2560000"/>
            <a:ext cx="3837152" cy="5450000"/>
          </a:xfrm>
          <a:prstGeom prst="roundRect">
            <a:avLst>
              <a:gd name="adj" fmla="val 6000"/>
            </a:avLst>
          </a:prstGeom>
          <a:solidFill>
            <a:srgbClr val="E4F7EE"/>
          </a:solidFill>
          <a:ln>
            <a:noFill/>
          </a:ln>
          <a:effectLst>
            <a:outerShdw blurRad="50800" dist="38100" dir="2700000" algn="tl" rotWithShape="0">
              <a:prstClr val="black">
                <a:alpha val="40000"/>
              </a:prstClr>
            </a:outerShdw>
          </a:effectLst>
        </p:spPr>
        <p:txBody>
          <a:bodyPr wrap="square" lIns="0" tIns="0" rIns="0" bIns="0" anchor="t">
            <a:normAutofit/>
          </a:bodyPr>
          <a:lstStyle/>
          <a:p>
            <a:endParaRPr lang="es-ES"/>
          </a:p>
        </p:txBody>
      </p:sp>
      <p:sp>
        <p:nvSpPr>
          <p:cNvPr id="12" name="Circulo 12"/>
          <p:cNvSpPr/>
          <p:nvPr/>
        </p:nvSpPr>
        <p:spPr>
          <a:xfrm>
            <a:off x="1137274" y="2800000"/>
            <a:ext cx="760000" cy="760000"/>
          </a:xfrm>
          <a:prstGeom prst="ellipse">
            <a:avLst/>
          </a:prstGeom>
          <a:solidFill>
            <a:srgbClr val="10635A"/>
          </a:solidFill>
          <a:ln>
            <a:noFill/>
          </a:ln>
        </p:spPr>
        <p:txBody>
          <a:bodyPr wrap="square" lIns="0" tIns="0" rIns="0" bIns="0" anchor="t">
            <a:normAutofit/>
          </a:bodyPr>
          <a:lstStyle/>
          <a:p>
            <a:endParaRPr lang="es-ES"/>
          </a:p>
        </p:txBody>
      </p:sp>
      <p:pic>
        <p:nvPicPr>
          <p:cNvPr id="13" name="Icono 13" descr="Preview"/>
          <p:cNvPicPr>
            <a:picLocks noChangeAspect="1"/>
          </p:cNvPicPr>
          <p:nvPr/>
        </p:nvPicPr>
        <p:blipFill>
          <a:blip r:embed="rId2"/>
          <a:stretch>
            <a:fillRect/>
          </a:stretch>
        </p:blipFill>
        <p:spPr>
          <a:xfrm>
            <a:off x="1327274" y="2990000"/>
            <a:ext cx="380000" cy="380000"/>
          </a:xfrm>
          <a:prstGeom prst="rect">
            <a:avLst/>
          </a:prstGeom>
        </p:spPr>
      </p:pic>
      <p:sp>
        <p:nvSpPr>
          <p:cNvPr id="14" name="Titulo tarjeta 14"/>
          <p:cNvSpPr txBox="1"/>
          <p:nvPr/>
        </p:nvSpPr>
        <p:spPr>
          <a:xfrm>
            <a:off x="2028220" y="2800000"/>
            <a:ext cx="2751812" cy="760000"/>
          </a:xfrm>
          <a:prstGeom prst="rect">
            <a:avLst/>
          </a:prstGeom>
          <a:noFill/>
          <a:ln>
            <a:noFill/>
          </a:ln>
        </p:spPr>
        <p:txBody>
          <a:bodyPr wrap="square" lIns="0" tIns="0" rIns="0" bIns="0" anchor="ctr">
            <a:normAutofit/>
          </a:bodyPr>
          <a:lstStyle/>
          <a:p>
            <a:pPr marL="0" indent="0" algn="l">
              <a:spcBef>
                <a:spcPts val="0"/>
              </a:spcBef>
              <a:spcAft>
                <a:spcPts val="0"/>
              </a:spcAft>
              <a:buNone/>
            </a:pPr>
            <a:r>
              <a:rPr lang="es-ES" sz="2000" b="1" dirty="0">
                <a:solidFill>
                  <a:srgbClr val="10635A"/>
                </a:solidFill>
                <a:latin typeface="Arial"/>
                <a:cs typeface="Arial"/>
              </a:rPr>
              <a:t>1. Sigue siendo Preview</a:t>
            </a:r>
          </a:p>
        </p:txBody>
      </p:sp>
      <p:sp>
        <p:nvSpPr>
          <p:cNvPr id="15" name="Etiqueta 15"/>
          <p:cNvSpPr/>
          <p:nvPr/>
        </p:nvSpPr>
        <p:spPr>
          <a:xfrm>
            <a:off x="1237440" y="3790000"/>
            <a:ext cx="1472807" cy="520000"/>
          </a:xfrm>
          <a:prstGeom prst="roundRect">
            <a:avLst>
              <a:gd name="adj" fmla="val 50000"/>
            </a:avLst>
          </a:prstGeom>
          <a:solidFill>
            <a:srgbClr val="E8B84B"/>
          </a:solidFill>
          <a:ln>
            <a:noFill/>
          </a:ln>
        </p:spPr>
        <p:txBody>
          <a:bodyPr wrap="square" lIns="0" tIns="0" rIns="0" bIns="0" anchor="t">
            <a:normAutofit/>
          </a:bodyPr>
          <a:lstStyle/>
          <a:p>
            <a:endParaRPr lang="es-ES"/>
          </a:p>
        </p:txBody>
      </p:sp>
      <p:sp>
        <p:nvSpPr>
          <p:cNvPr id="16" name="Etiqueta texto 16"/>
          <p:cNvSpPr txBox="1"/>
          <p:nvPr/>
        </p:nvSpPr>
        <p:spPr>
          <a:xfrm>
            <a:off x="1237440" y="3790000"/>
            <a:ext cx="1472807" cy="520000"/>
          </a:xfrm>
          <a:prstGeom prst="rect">
            <a:avLst/>
          </a:prstGeom>
          <a:noFill/>
          <a:ln>
            <a:noFill/>
          </a:ln>
        </p:spPr>
        <p:txBody>
          <a:bodyPr wrap="square" lIns="0" tIns="0" rIns="0" bIns="0" anchor="ctr">
            <a:normAutofit/>
          </a:bodyPr>
          <a:lstStyle/>
          <a:p>
            <a:pPr marL="0" indent="0" algn="ctr">
              <a:spcBef>
                <a:spcPts val="0"/>
              </a:spcBef>
              <a:spcAft>
                <a:spcPts val="0"/>
              </a:spcAft>
              <a:buNone/>
            </a:pPr>
            <a:r>
              <a:rPr lang="es-ES" sz="1800" b="1" dirty="0">
                <a:solidFill>
                  <a:srgbClr val="09534E"/>
                </a:solidFill>
                <a:latin typeface="Arial"/>
                <a:cs typeface="Arial"/>
              </a:rPr>
              <a:t>PREVIEW</a:t>
            </a:r>
          </a:p>
        </p:txBody>
      </p:sp>
      <p:sp>
        <p:nvSpPr>
          <p:cNvPr id="17" name="Texto 17"/>
          <p:cNvSpPr txBox="1"/>
          <p:nvPr/>
        </p:nvSpPr>
        <p:spPr>
          <a:xfrm>
            <a:off x="1237440" y="4430000"/>
            <a:ext cx="3483679" cy="1700000"/>
          </a:xfrm>
          <a:prstGeom prst="rect">
            <a:avLst/>
          </a:prstGeom>
          <a:noFill/>
          <a:ln>
            <a:noFill/>
          </a:ln>
        </p:spPr>
        <p:txBody>
          <a:bodyPr wrap="square" lIns="0" tIns="0" rIns="0" bIns="0" anchor="t">
            <a:normAutofit/>
          </a:bodyPr>
          <a:lstStyle/>
          <a:p>
            <a:pPr marL="0" indent="0" algn="l">
              <a:spcBef>
                <a:spcPts val="0"/>
              </a:spcBef>
              <a:spcAft>
                <a:spcPts val="500"/>
              </a:spcAft>
              <a:buNone/>
            </a:pPr>
            <a:r>
              <a:rPr lang="es-ES" sz="1700" dirty="0">
                <a:solidFill>
                  <a:srgbClr val="09534E"/>
                </a:solidFill>
                <a:latin typeface="Arial"/>
                <a:cs typeface="Arial"/>
              </a:rPr>
              <a:t>Antes de GA, Microsoft puede cambiar:</a:t>
            </a:r>
          </a:p>
          <a:p>
            <a:pPr marL="285750" indent="-285750" algn="l">
              <a:spcBef>
                <a:spcPts val="0"/>
              </a:spcBef>
              <a:spcAft>
                <a:spcPts val="300"/>
              </a:spcAft>
              <a:buClr>
                <a:srgbClr val="1E8A7C"/>
              </a:buClr>
              <a:buFont typeface="Arial"/>
              <a:buChar char="•"/>
            </a:pPr>
            <a:r>
              <a:rPr lang="es-ES" sz="1700" dirty="0">
                <a:solidFill>
                  <a:srgbClr val="09534E"/>
                </a:solidFill>
                <a:latin typeface="Arial"/>
                <a:cs typeface="Arial"/>
              </a:rPr>
              <a:t>funcionalidad y límites</a:t>
            </a:r>
          </a:p>
          <a:p>
            <a:pPr marL="285750" indent="-285750" algn="l">
              <a:spcBef>
                <a:spcPts val="0"/>
              </a:spcBef>
              <a:spcAft>
                <a:spcPts val="300"/>
              </a:spcAft>
              <a:buClr>
                <a:srgbClr val="1E8A7C"/>
              </a:buClr>
              <a:buFont typeface="Arial"/>
              <a:buChar char="•"/>
            </a:pPr>
            <a:r>
              <a:rPr lang="es-ES" sz="1700" dirty="0">
                <a:solidFill>
                  <a:srgbClr val="09534E"/>
                </a:solidFill>
                <a:latin typeface="Arial"/>
                <a:cs typeface="Arial"/>
              </a:rPr>
              <a:t>APIs y experiencia de usuario</a:t>
            </a:r>
          </a:p>
          <a:p>
            <a:pPr marL="285750" indent="-285750" algn="l">
              <a:spcBef>
                <a:spcPts val="0"/>
              </a:spcBef>
              <a:spcAft>
                <a:spcPts val="300"/>
              </a:spcAft>
              <a:buClr>
                <a:srgbClr val="1E8A7C"/>
              </a:buClr>
              <a:buFont typeface="Arial"/>
              <a:buChar char="•"/>
            </a:pPr>
            <a:r>
              <a:rPr lang="es-ES" sz="1700" dirty="0">
                <a:solidFill>
                  <a:srgbClr val="09534E"/>
                </a:solidFill>
                <a:latin typeface="Arial"/>
                <a:cs typeface="Arial"/>
              </a:rPr>
              <a:t>modelo de consumo</a:t>
            </a:r>
          </a:p>
        </p:txBody>
      </p:sp>
      <p:sp>
        <p:nvSpPr>
          <p:cNvPr id="18" name="Aviso 18"/>
          <p:cNvSpPr/>
          <p:nvPr/>
        </p:nvSpPr>
        <p:spPr>
          <a:xfrm>
            <a:off x="1237440" y="6720000"/>
            <a:ext cx="3483679" cy="1050000"/>
          </a:xfrm>
          <a:prstGeom prst="roundRect">
            <a:avLst>
              <a:gd name="adj" fmla="val 14000"/>
            </a:avLst>
          </a:prstGeom>
          <a:solidFill>
            <a:srgbClr val="E4572E"/>
          </a:solidFill>
          <a:ln>
            <a:noFill/>
          </a:ln>
        </p:spPr>
        <p:txBody>
          <a:bodyPr wrap="square" lIns="0" tIns="0" rIns="0" bIns="0" anchor="t">
            <a:normAutofit/>
          </a:bodyPr>
          <a:lstStyle/>
          <a:p>
            <a:endParaRPr lang="es-ES"/>
          </a:p>
        </p:txBody>
      </p:sp>
      <p:sp>
        <p:nvSpPr>
          <p:cNvPr id="21" name="Marca 21"/>
          <p:cNvSpPr/>
          <p:nvPr/>
        </p:nvSpPr>
        <p:spPr>
          <a:xfrm>
            <a:off x="1275412" y="6970000"/>
            <a:ext cx="550000" cy="550000"/>
          </a:xfrm>
          <a:prstGeom prst="ellipse">
            <a:avLst/>
          </a:prstGeom>
          <a:solidFill>
            <a:srgbClr val="FFFFFF"/>
          </a:solidFill>
          <a:ln>
            <a:noFill/>
          </a:ln>
        </p:spPr>
        <p:txBody>
          <a:bodyPr wrap="square" lIns="0" tIns="0" rIns="0" bIns="0" anchor="t">
            <a:normAutofit/>
          </a:bodyPr>
          <a:lstStyle/>
          <a:p>
            <a:endParaRPr lang="es-ES"/>
          </a:p>
        </p:txBody>
      </p:sp>
      <p:sp>
        <p:nvSpPr>
          <p:cNvPr id="22" name="Signo 22"/>
          <p:cNvSpPr txBox="1"/>
          <p:nvPr/>
        </p:nvSpPr>
        <p:spPr>
          <a:xfrm>
            <a:off x="1275412" y="6970000"/>
            <a:ext cx="550000" cy="550000"/>
          </a:xfrm>
          <a:prstGeom prst="rect">
            <a:avLst/>
          </a:prstGeom>
          <a:noFill/>
          <a:ln>
            <a:noFill/>
          </a:ln>
        </p:spPr>
        <p:txBody>
          <a:bodyPr wrap="square" lIns="0" tIns="0" rIns="0" bIns="0" anchor="ctr">
            <a:normAutofit/>
          </a:bodyPr>
          <a:lstStyle/>
          <a:p>
            <a:pPr marL="0" indent="0" algn="ctr">
              <a:spcBef>
                <a:spcPts val="0"/>
              </a:spcBef>
              <a:spcAft>
                <a:spcPts val="0"/>
              </a:spcAft>
              <a:buNone/>
            </a:pPr>
            <a:r>
              <a:rPr lang="es-ES" sz="2600" b="1" dirty="0">
                <a:solidFill>
                  <a:srgbClr val="E4572E"/>
                </a:solidFill>
                <a:latin typeface="Arial"/>
                <a:cs typeface="Arial"/>
              </a:rPr>
              <a:t>!</a:t>
            </a:r>
          </a:p>
        </p:txBody>
      </p:sp>
      <p:sp>
        <p:nvSpPr>
          <p:cNvPr id="23" name="Aviso texto 23"/>
          <p:cNvSpPr txBox="1"/>
          <p:nvPr/>
        </p:nvSpPr>
        <p:spPr>
          <a:xfrm>
            <a:off x="1991399" y="6720000"/>
            <a:ext cx="2656079" cy="1050000"/>
          </a:xfrm>
          <a:prstGeom prst="rect">
            <a:avLst/>
          </a:prstGeom>
          <a:noFill/>
          <a:ln>
            <a:noFill/>
          </a:ln>
        </p:spPr>
        <p:txBody>
          <a:bodyPr wrap="square" lIns="0" tIns="0" rIns="0" bIns="0" anchor="ctr">
            <a:normAutofit/>
          </a:bodyPr>
          <a:lstStyle/>
          <a:p>
            <a:pPr marL="0" indent="0" algn="l">
              <a:spcBef>
                <a:spcPts val="0"/>
              </a:spcBef>
              <a:spcAft>
                <a:spcPts val="0"/>
              </a:spcAft>
              <a:buNone/>
            </a:pPr>
            <a:r>
              <a:rPr lang="es-ES" sz="1700" b="1" dirty="0">
                <a:solidFill>
                  <a:srgbClr val="FFFFFF"/>
                </a:solidFill>
                <a:latin typeface="Arial"/>
                <a:cs typeface="Arial"/>
              </a:rPr>
              <a:t>Sin versionado nativo de Ontologies</a:t>
            </a:r>
          </a:p>
        </p:txBody>
      </p:sp>
      <p:sp>
        <p:nvSpPr>
          <p:cNvPr id="24" name="Tarjeta 24"/>
          <p:cNvSpPr/>
          <p:nvPr/>
        </p:nvSpPr>
        <p:spPr>
          <a:xfrm>
            <a:off x="5170468" y="2560000"/>
            <a:ext cx="3837152" cy="5450000"/>
          </a:xfrm>
          <a:prstGeom prst="roundRect">
            <a:avLst>
              <a:gd name="adj" fmla="val 6000"/>
            </a:avLst>
          </a:prstGeom>
          <a:solidFill>
            <a:srgbClr val="E4F7EE"/>
          </a:solidFill>
          <a:ln>
            <a:noFill/>
          </a:ln>
          <a:effectLst>
            <a:outerShdw blurRad="50800" dist="38100" dir="2700000" algn="tl" rotWithShape="0">
              <a:prstClr val="black">
                <a:alpha val="40000"/>
              </a:prstClr>
            </a:outerShdw>
          </a:effectLst>
        </p:spPr>
        <p:txBody>
          <a:bodyPr wrap="square" lIns="0" tIns="0" rIns="0" bIns="0" anchor="t">
            <a:normAutofit/>
          </a:bodyPr>
          <a:lstStyle/>
          <a:p>
            <a:endParaRPr lang="es-ES"/>
          </a:p>
        </p:txBody>
      </p:sp>
      <p:sp>
        <p:nvSpPr>
          <p:cNvPr id="25" name="Circulo 25"/>
          <p:cNvSpPr/>
          <p:nvPr/>
        </p:nvSpPr>
        <p:spPr>
          <a:xfrm>
            <a:off x="5247038" y="2800000"/>
            <a:ext cx="760000" cy="760000"/>
          </a:xfrm>
          <a:prstGeom prst="ellipse">
            <a:avLst/>
          </a:prstGeom>
          <a:solidFill>
            <a:srgbClr val="10635A"/>
          </a:solidFill>
          <a:ln>
            <a:noFill/>
          </a:ln>
        </p:spPr>
        <p:txBody>
          <a:bodyPr wrap="square" lIns="0" tIns="0" rIns="0" bIns="0" anchor="t">
            <a:normAutofit/>
          </a:bodyPr>
          <a:lstStyle/>
          <a:p>
            <a:endParaRPr lang="es-ES"/>
          </a:p>
        </p:txBody>
      </p:sp>
      <p:pic>
        <p:nvPicPr>
          <p:cNvPr id="26" name="Icono 26" descr="Orígenes"/>
          <p:cNvPicPr>
            <a:picLocks noChangeAspect="1"/>
          </p:cNvPicPr>
          <p:nvPr/>
        </p:nvPicPr>
        <p:blipFill>
          <a:blip r:embed="rId3"/>
          <a:stretch>
            <a:fillRect/>
          </a:stretch>
        </p:blipFill>
        <p:spPr>
          <a:xfrm>
            <a:off x="5437038" y="2990000"/>
            <a:ext cx="380000" cy="380000"/>
          </a:xfrm>
          <a:prstGeom prst="rect">
            <a:avLst/>
          </a:prstGeom>
        </p:spPr>
      </p:pic>
      <p:sp>
        <p:nvSpPr>
          <p:cNvPr id="27" name="Titulo tarjeta 27"/>
          <p:cNvSpPr txBox="1"/>
          <p:nvPr/>
        </p:nvSpPr>
        <p:spPr>
          <a:xfrm>
            <a:off x="6137984" y="2800000"/>
            <a:ext cx="2751812" cy="760000"/>
          </a:xfrm>
          <a:prstGeom prst="rect">
            <a:avLst/>
          </a:prstGeom>
          <a:noFill/>
          <a:ln>
            <a:noFill/>
          </a:ln>
        </p:spPr>
        <p:txBody>
          <a:bodyPr wrap="square" lIns="0" tIns="0" rIns="0" bIns="0" anchor="ctr">
            <a:normAutofit/>
          </a:bodyPr>
          <a:lstStyle/>
          <a:p>
            <a:pPr marL="0" indent="0" algn="l">
              <a:spcBef>
                <a:spcPts val="0"/>
              </a:spcBef>
              <a:spcAft>
                <a:spcPts val="0"/>
              </a:spcAft>
              <a:buNone/>
            </a:pPr>
            <a:r>
              <a:rPr lang="es-ES" sz="2000" b="1" dirty="0">
                <a:solidFill>
                  <a:srgbClr val="10635A"/>
                </a:solidFill>
                <a:latin typeface="Arial"/>
                <a:cs typeface="Arial"/>
              </a:rPr>
              <a:t>2. Limitaciones de los orígenes</a:t>
            </a:r>
          </a:p>
        </p:txBody>
      </p:sp>
      <p:sp>
        <p:nvSpPr>
          <p:cNvPr id="28" name="Etiqueta 28"/>
          <p:cNvSpPr txBox="1"/>
          <p:nvPr/>
        </p:nvSpPr>
        <p:spPr>
          <a:xfrm>
            <a:off x="5347205" y="3790000"/>
            <a:ext cx="3483679" cy="330000"/>
          </a:xfrm>
          <a:prstGeom prst="rect">
            <a:avLst/>
          </a:prstGeom>
          <a:noFill/>
          <a:ln>
            <a:noFill/>
          </a:ln>
        </p:spPr>
        <p:txBody>
          <a:bodyPr wrap="square" lIns="0" tIns="0" rIns="0" bIns="0" anchor="t">
            <a:normAutofit/>
          </a:bodyPr>
          <a:lstStyle/>
          <a:p>
            <a:pPr marL="0" indent="0" algn="l">
              <a:spcBef>
                <a:spcPts val="0"/>
              </a:spcBef>
              <a:spcAft>
                <a:spcPts val="0"/>
              </a:spcAft>
              <a:buNone/>
            </a:pPr>
            <a:r>
              <a:rPr lang="es-ES" sz="1300" b="1" dirty="0">
                <a:solidFill>
                  <a:srgbClr val="1E8A7C"/>
                </a:solidFill>
                <a:latin typeface="Arial"/>
                <a:cs typeface="Arial"/>
              </a:rPr>
              <a:t>DATOS ESTÁTICOS</a:t>
            </a:r>
          </a:p>
        </p:txBody>
      </p:sp>
      <p:sp>
        <p:nvSpPr>
          <p:cNvPr id="29" name="Fila 29"/>
          <p:cNvSpPr/>
          <p:nvPr/>
        </p:nvSpPr>
        <p:spPr>
          <a:xfrm>
            <a:off x="5347205" y="4170000"/>
            <a:ext cx="3483679" cy="600000"/>
          </a:xfrm>
          <a:prstGeom prst="roundRect">
            <a:avLst>
              <a:gd name="adj" fmla="val 20000"/>
            </a:avLst>
          </a:prstGeom>
          <a:solidFill>
            <a:srgbClr val="FFFFFF"/>
          </a:solidFill>
          <a:ln>
            <a:noFill/>
          </a:ln>
        </p:spPr>
        <p:txBody>
          <a:bodyPr wrap="square" lIns="0" tIns="0" rIns="0" bIns="0" anchor="t">
            <a:normAutofit/>
          </a:bodyPr>
          <a:lstStyle/>
          <a:p>
            <a:endParaRPr lang="es-ES"/>
          </a:p>
        </p:txBody>
      </p:sp>
      <p:sp>
        <p:nvSpPr>
          <p:cNvPr id="30" name="Estado 30"/>
          <p:cNvSpPr/>
          <p:nvPr/>
        </p:nvSpPr>
        <p:spPr>
          <a:xfrm>
            <a:off x="5375490" y="4270000"/>
            <a:ext cx="400000" cy="400000"/>
          </a:xfrm>
          <a:prstGeom prst="ellipse">
            <a:avLst/>
          </a:prstGeom>
          <a:solidFill>
            <a:srgbClr val="1E8A7C"/>
          </a:solidFill>
          <a:ln>
            <a:noFill/>
          </a:ln>
        </p:spPr>
        <p:txBody>
          <a:bodyPr wrap="square" lIns="0" tIns="0" rIns="0" bIns="0" anchor="t">
            <a:normAutofit/>
          </a:bodyPr>
          <a:lstStyle/>
          <a:p>
            <a:endParaRPr lang="es-ES"/>
          </a:p>
        </p:txBody>
      </p:sp>
      <p:pic>
        <p:nvPicPr>
          <p:cNvPr id="31" name="Icono 31" descr="Sí"/>
          <p:cNvPicPr>
            <a:picLocks noChangeAspect="1"/>
          </p:cNvPicPr>
          <p:nvPr/>
        </p:nvPicPr>
        <p:blipFill>
          <a:blip r:embed="rId4"/>
          <a:stretch>
            <a:fillRect/>
          </a:stretch>
        </p:blipFill>
        <p:spPr>
          <a:xfrm>
            <a:off x="5475490" y="4370000"/>
            <a:ext cx="200000" cy="200000"/>
          </a:xfrm>
          <a:prstGeom prst="rect">
            <a:avLst/>
          </a:prstGeom>
        </p:spPr>
      </p:pic>
      <p:sp>
        <p:nvSpPr>
          <p:cNvPr id="32" name="Fila texto 32"/>
          <p:cNvSpPr txBox="1"/>
          <p:nvPr/>
        </p:nvSpPr>
        <p:spPr>
          <a:xfrm>
            <a:off x="5895215" y="4170000"/>
            <a:ext cx="2876756" cy="600000"/>
          </a:xfrm>
          <a:prstGeom prst="rect">
            <a:avLst/>
          </a:prstGeom>
          <a:noFill/>
          <a:ln>
            <a:noFill/>
          </a:ln>
        </p:spPr>
        <p:txBody>
          <a:bodyPr wrap="square" lIns="0" tIns="0" rIns="0" bIns="0" anchor="ctr">
            <a:normAutofit/>
          </a:bodyPr>
          <a:lstStyle/>
          <a:p>
            <a:pPr marL="0" indent="0" algn="l">
              <a:spcBef>
                <a:spcPts val="0"/>
              </a:spcBef>
              <a:spcAft>
                <a:spcPts val="0"/>
              </a:spcAft>
              <a:buNone/>
            </a:pPr>
            <a:r>
              <a:rPr lang="es-ES" sz="1700" b="1" dirty="0">
                <a:solidFill>
                  <a:srgbClr val="09534E"/>
                </a:solidFill>
                <a:latin typeface="Arial"/>
                <a:cs typeface="Arial"/>
              </a:rPr>
              <a:t>Managed Lakehouse tables</a:t>
            </a:r>
          </a:p>
        </p:txBody>
      </p:sp>
      <p:sp>
        <p:nvSpPr>
          <p:cNvPr id="33" name="Fila 33"/>
          <p:cNvSpPr/>
          <p:nvPr/>
        </p:nvSpPr>
        <p:spPr>
          <a:xfrm>
            <a:off x="5347205" y="4880000"/>
            <a:ext cx="3483679" cy="600000"/>
          </a:xfrm>
          <a:prstGeom prst="roundRect">
            <a:avLst>
              <a:gd name="adj" fmla="val 20000"/>
            </a:avLst>
          </a:prstGeom>
          <a:solidFill>
            <a:srgbClr val="FFFFFF"/>
          </a:solidFill>
          <a:ln>
            <a:noFill/>
          </a:ln>
        </p:spPr>
        <p:txBody>
          <a:bodyPr wrap="square" lIns="0" tIns="0" rIns="0" bIns="0" anchor="t">
            <a:normAutofit/>
          </a:bodyPr>
          <a:lstStyle/>
          <a:p>
            <a:endParaRPr lang="es-ES"/>
          </a:p>
        </p:txBody>
      </p:sp>
      <p:sp>
        <p:nvSpPr>
          <p:cNvPr id="34" name="Estado 34"/>
          <p:cNvSpPr/>
          <p:nvPr/>
        </p:nvSpPr>
        <p:spPr>
          <a:xfrm>
            <a:off x="5375490" y="4980000"/>
            <a:ext cx="400000" cy="400000"/>
          </a:xfrm>
          <a:prstGeom prst="ellipse">
            <a:avLst/>
          </a:prstGeom>
          <a:solidFill>
            <a:srgbClr val="E4572E"/>
          </a:solidFill>
          <a:ln>
            <a:noFill/>
          </a:ln>
        </p:spPr>
        <p:txBody>
          <a:bodyPr wrap="square" lIns="0" tIns="0" rIns="0" bIns="0" anchor="t">
            <a:normAutofit/>
          </a:bodyPr>
          <a:lstStyle/>
          <a:p>
            <a:endParaRPr lang="es-ES"/>
          </a:p>
        </p:txBody>
      </p:sp>
      <p:pic>
        <p:nvPicPr>
          <p:cNvPr id="35" name="Icono 35" descr="No"/>
          <p:cNvPicPr>
            <a:picLocks noChangeAspect="1"/>
          </p:cNvPicPr>
          <p:nvPr/>
        </p:nvPicPr>
        <p:blipFill>
          <a:blip r:embed="rId5"/>
          <a:stretch>
            <a:fillRect/>
          </a:stretch>
        </p:blipFill>
        <p:spPr>
          <a:xfrm>
            <a:off x="5475490" y="5080000"/>
            <a:ext cx="200000" cy="200000"/>
          </a:xfrm>
          <a:prstGeom prst="rect">
            <a:avLst/>
          </a:prstGeom>
        </p:spPr>
      </p:pic>
      <p:sp>
        <p:nvSpPr>
          <p:cNvPr id="36" name="Fila texto 36"/>
          <p:cNvSpPr txBox="1"/>
          <p:nvPr/>
        </p:nvSpPr>
        <p:spPr>
          <a:xfrm>
            <a:off x="5895215" y="4880000"/>
            <a:ext cx="2876756" cy="600000"/>
          </a:xfrm>
          <a:prstGeom prst="rect">
            <a:avLst/>
          </a:prstGeom>
          <a:noFill/>
          <a:ln>
            <a:noFill/>
          </a:ln>
        </p:spPr>
        <p:txBody>
          <a:bodyPr wrap="square" lIns="0" tIns="0" rIns="0" bIns="0" anchor="ctr">
            <a:normAutofit/>
          </a:bodyPr>
          <a:lstStyle/>
          <a:p>
            <a:pPr marL="0" indent="0" algn="l">
              <a:spcBef>
                <a:spcPts val="0"/>
              </a:spcBef>
              <a:spcAft>
                <a:spcPts val="0"/>
              </a:spcAft>
              <a:buNone/>
            </a:pPr>
            <a:r>
              <a:rPr lang="es-ES" sz="1700" b="1" dirty="0">
                <a:solidFill>
                  <a:srgbClr val="09534E"/>
                </a:solidFill>
                <a:latin typeface="Arial"/>
                <a:cs typeface="Arial"/>
              </a:rPr>
              <a:t>External Lakehouse tables</a:t>
            </a:r>
          </a:p>
        </p:txBody>
      </p:sp>
      <p:sp>
        <p:nvSpPr>
          <p:cNvPr id="37" name="Etiqueta 37"/>
          <p:cNvSpPr txBox="1"/>
          <p:nvPr/>
        </p:nvSpPr>
        <p:spPr>
          <a:xfrm>
            <a:off x="5347205" y="5804100"/>
            <a:ext cx="3483679" cy="330000"/>
          </a:xfrm>
          <a:prstGeom prst="rect">
            <a:avLst/>
          </a:prstGeom>
          <a:noFill/>
          <a:ln>
            <a:noFill/>
          </a:ln>
        </p:spPr>
        <p:txBody>
          <a:bodyPr wrap="square" lIns="0" tIns="0" rIns="0" bIns="0" anchor="t">
            <a:normAutofit/>
          </a:bodyPr>
          <a:lstStyle/>
          <a:p>
            <a:pPr marL="0" indent="0" algn="l">
              <a:spcBef>
                <a:spcPts val="0"/>
              </a:spcBef>
              <a:spcAft>
                <a:spcPts val="0"/>
              </a:spcAft>
              <a:buNone/>
            </a:pPr>
            <a:r>
              <a:rPr lang="es-ES" sz="1300" b="1" dirty="0">
                <a:solidFill>
                  <a:srgbClr val="1E8A7C"/>
                </a:solidFill>
                <a:latin typeface="Arial"/>
                <a:cs typeface="Arial"/>
              </a:rPr>
              <a:t>DELTA TABLES</a:t>
            </a:r>
          </a:p>
        </p:txBody>
      </p:sp>
      <p:sp>
        <p:nvSpPr>
          <p:cNvPr id="38" name="Fila 38"/>
          <p:cNvSpPr/>
          <p:nvPr/>
        </p:nvSpPr>
        <p:spPr>
          <a:xfrm>
            <a:off x="5347205" y="6179500"/>
            <a:ext cx="3483679" cy="1250000"/>
          </a:xfrm>
          <a:prstGeom prst="roundRect">
            <a:avLst>
              <a:gd name="adj" fmla="val 12000"/>
            </a:avLst>
          </a:prstGeom>
          <a:solidFill>
            <a:srgbClr val="FFFFFF"/>
          </a:solidFill>
          <a:ln>
            <a:noFill/>
          </a:ln>
        </p:spPr>
        <p:txBody>
          <a:bodyPr wrap="square" lIns="0" tIns="0" rIns="0" bIns="0" anchor="t">
            <a:normAutofit/>
          </a:bodyPr>
          <a:lstStyle/>
          <a:p>
            <a:endParaRPr lang="es-ES"/>
          </a:p>
        </p:txBody>
      </p:sp>
      <p:sp>
        <p:nvSpPr>
          <p:cNvPr id="39" name="Estado 39"/>
          <p:cNvSpPr/>
          <p:nvPr/>
        </p:nvSpPr>
        <p:spPr>
          <a:xfrm>
            <a:off x="5375490" y="6604500"/>
            <a:ext cx="400000" cy="400000"/>
          </a:xfrm>
          <a:prstGeom prst="ellipse">
            <a:avLst/>
          </a:prstGeom>
          <a:solidFill>
            <a:srgbClr val="E4572E"/>
          </a:solidFill>
          <a:ln>
            <a:noFill/>
          </a:ln>
        </p:spPr>
        <p:txBody>
          <a:bodyPr wrap="square" lIns="0" tIns="0" rIns="0" bIns="0" anchor="t">
            <a:normAutofit/>
          </a:bodyPr>
          <a:lstStyle/>
          <a:p>
            <a:endParaRPr lang="es-ES"/>
          </a:p>
        </p:txBody>
      </p:sp>
      <p:pic>
        <p:nvPicPr>
          <p:cNvPr id="40" name="Icono 40" descr="No"/>
          <p:cNvPicPr>
            <a:picLocks noChangeAspect="1"/>
          </p:cNvPicPr>
          <p:nvPr/>
        </p:nvPicPr>
        <p:blipFill>
          <a:blip r:embed="rId5"/>
          <a:stretch>
            <a:fillRect/>
          </a:stretch>
        </p:blipFill>
        <p:spPr>
          <a:xfrm>
            <a:off x="5475490" y="6704500"/>
            <a:ext cx="200000" cy="200000"/>
          </a:xfrm>
          <a:prstGeom prst="rect">
            <a:avLst/>
          </a:prstGeom>
        </p:spPr>
      </p:pic>
      <p:sp>
        <p:nvSpPr>
          <p:cNvPr id="41" name="Fila texto 41"/>
          <p:cNvSpPr txBox="1"/>
          <p:nvPr/>
        </p:nvSpPr>
        <p:spPr>
          <a:xfrm>
            <a:off x="5895215" y="6179500"/>
            <a:ext cx="2876756" cy="1250000"/>
          </a:xfrm>
          <a:prstGeom prst="rect">
            <a:avLst/>
          </a:prstGeom>
          <a:noFill/>
          <a:ln>
            <a:noFill/>
          </a:ln>
        </p:spPr>
        <p:txBody>
          <a:bodyPr wrap="square" lIns="0" tIns="0" rIns="0" bIns="0" anchor="ctr">
            <a:normAutofit/>
          </a:bodyPr>
          <a:lstStyle/>
          <a:p>
            <a:pPr marL="0" indent="0" algn="l">
              <a:spcBef>
                <a:spcPts val="0"/>
              </a:spcBef>
              <a:spcAft>
                <a:spcPts val="200"/>
              </a:spcAft>
              <a:buNone/>
            </a:pPr>
            <a:r>
              <a:rPr lang="es-ES" sz="1700" b="1" dirty="0">
                <a:solidFill>
                  <a:srgbClr val="09534E"/>
                </a:solidFill>
                <a:latin typeface="Arial"/>
                <a:cs typeface="Arial"/>
              </a:rPr>
              <a:t>Con Column Mapping habilitado</a:t>
            </a:r>
          </a:p>
          <a:p>
            <a:pPr marL="0" indent="0" algn="l">
              <a:spcBef>
                <a:spcPts val="0"/>
              </a:spcBef>
              <a:spcAft>
                <a:spcPts val="0"/>
              </a:spcAft>
              <a:buNone/>
            </a:pPr>
            <a:r>
              <a:rPr lang="es-ES" sz="1400" dirty="0">
                <a:solidFill>
                  <a:srgbClr val="09534E"/>
                </a:solidFill>
                <a:latin typeface="Arial"/>
                <a:cs typeface="Arial"/>
              </a:rPr>
              <a:t>p. ej. columnas con espacios o caracteres especiales</a:t>
            </a:r>
          </a:p>
        </p:txBody>
      </p:sp>
      <p:sp>
        <p:nvSpPr>
          <p:cNvPr id="60" name="Tarjeta 60"/>
          <p:cNvSpPr/>
          <p:nvPr/>
        </p:nvSpPr>
        <p:spPr>
          <a:xfrm>
            <a:off x="9285732" y="2560000"/>
            <a:ext cx="3835065" cy="5450000"/>
          </a:xfrm>
          <a:prstGeom prst="roundRect">
            <a:avLst>
              <a:gd name="adj" fmla="val 6000"/>
            </a:avLst>
          </a:prstGeom>
          <a:solidFill>
            <a:srgbClr val="E4F7EE"/>
          </a:solidFill>
          <a:ln>
            <a:noFill/>
          </a:ln>
          <a:effectLst>
            <a:outerShdw blurRad="50800" dist="38100" dir="2700000" algn="tl" rotWithShape="0">
              <a:prstClr val="black">
                <a:alpha val="40000"/>
              </a:prstClr>
            </a:outerShdw>
          </a:effectLst>
        </p:spPr>
        <p:txBody>
          <a:bodyPr wrap="square" lIns="0" tIns="0" rIns="0" bIns="0" anchor="t">
            <a:normAutofit/>
          </a:bodyPr>
          <a:lstStyle/>
          <a:p>
            <a:endParaRPr lang="es-ES"/>
          </a:p>
        </p:txBody>
      </p:sp>
      <p:sp>
        <p:nvSpPr>
          <p:cNvPr id="61" name="Circulo 61"/>
          <p:cNvSpPr/>
          <p:nvPr/>
        </p:nvSpPr>
        <p:spPr>
          <a:xfrm>
            <a:off x="9428312" y="2800000"/>
            <a:ext cx="760000" cy="760000"/>
          </a:xfrm>
          <a:prstGeom prst="ellipse">
            <a:avLst/>
          </a:prstGeom>
          <a:solidFill>
            <a:srgbClr val="10635A"/>
          </a:solidFill>
          <a:ln>
            <a:noFill/>
          </a:ln>
        </p:spPr>
        <p:txBody>
          <a:bodyPr wrap="square" lIns="0" tIns="0" rIns="0" bIns="0" anchor="t">
            <a:normAutofit/>
          </a:bodyPr>
          <a:lstStyle/>
          <a:p>
            <a:endParaRPr lang="es-ES"/>
          </a:p>
        </p:txBody>
      </p:sp>
      <p:pic>
        <p:nvPicPr>
          <p:cNvPr id="62" name="Icono 62" descr="Refresh"/>
          <p:cNvPicPr>
            <a:picLocks noChangeAspect="1"/>
          </p:cNvPicPr>
          <p:nvPr/>
        </p:nvPicPr>
        <p:blipFill>
          <a:blip r:embed="rId7"/>
          <a:stretch>
            <a:fillRect/>
          </a:stretch>
        </p:blipFill>
        <p:spPr>
          <a:xfrm>
            <a:off x="9618312" y="2990000"/>
            <a:ext cx="380000" cy="380000"/>
          </a:xfrm>
          <a:prstGeom prst="rect">
            <a:avLst/>
          </a:prstGeom>
        </p:spPr>
      </p:pic>
      <p:sp>
        <p:nvSpPr>
          <p:cNvPr id="63" name="Titulo tarjeta 63"/>
          <p:cNvSpPr txBox="1"/>
          <p:nvPr/>
        </p:nvSpPr>
        <p:spPr>
          <a:xfrm>
            <a:off x="10374621" y="2800000"/>
            <a:ext cx="2611316" cy="760000"/>
          </a:xfrm>
          <a:prstGeom prst="rect">
            <a:avLst/>
          </a:prstGeom>
          <a:noFill/>
          <a:ln>
            <a:noFill/>
          </a:ln>
        </p:spPr>
        <p:txBody>
          <a:bodyPr wrap="square" lIns="0" tIns="0" rIns="0" bIns="0" anchor="ctr">
            <a:normAutofit/>
          </a:bodyPr>
          <a:lstStyle/>
          <a:p>
            <a:pPr marL="0" indent="0" algn="l">
              <a:spcBef>
                <a:spcPts val="0"/>
              </a:spcBef>
              <a:spcAft>
                <a:spcPts val="0"/>
              </a:spcAft>
              <a:buNone/>
            </a:pPr>
            <a:r>
              <a:rPr lang="es-ES" sz="2000" b="1" dirty="0">
                <a:solidFill>
                  <a:srgbClr val="10635A"/>
                </a:solidFill>
                <a:latin typeface="Arial"/>
                <a:cs typeface="Arial"/>
              </a:rPr>
              <a:t>3. El cambio no es inmediato</a:t>
            </a:r>
          </a:p>
        </p:txBody>
      </p:sp>
      <p:sp>
        <p:nvSpPr>
          <p:cNvPr id="64" name="Caja 64"/>
          <p:cNvSpPr/>
          <p:nvPr/>
        </p:nvSpPr>
        <p:spPr>
          <a:xfrm>
            <a:off x="9488021" y="3790000"/>
            <a:ext cx="3430486" cy="640000"/>
          </a:xfrm>
          <a:prstGeom prst="roundRect">
            <a:avLst>
              <a:gd name="adj" fmla="val 14000"/>
            </a:avLst>
          </a:prstGeom>
          <a:solidFill>
            <a:srgbClr val="FFFFFF"/>
          </a:solidFill>
          <a:ln>
            <a:noFill/>
          </a:ln>
        </p:spPr>
        <p:txBody>
          <a:bodyPr wrap="square" lIns="0" tIns="0" rIns="0" bIns="0" anchor="t">
            <a:normAutofit/>
          </a:bodyPr>
          <a:lstStyle/>
          <a:p>
            <a:endParaRPr lang="es-ES"/>
          </a:p>
        </p:txBody>
      </p:sp>
      <p:sp>
        <p:nvSpPr>
          <p:cNvPr id="65" name="Caja texto 65"/>
          <p:cNvSpPr txBox="1"/>
          <p:nvPr/>
        </p:nvSpPr>
        <p:spPr>
          <a:xfrm>
            <a:off x="9488021" y="3790000"/>
            <a:ext cx="3430486" cy="640000"/>
          </a:xfrm>
          <a:prstGeom prst="rect">
            <a:avLst/>
          </a:prstGeom>
          <a:noFill/>
          <a:ln>
            <a:noFill/>
          </a:ln>
        </p:spPr>
        <p:txBody>
          <a:bodyPr wrap="square" lIns="80000" tIns="20000" rIns="80000" bIns="20000" anchor="ctr">
            <a:normAutofit/>
          </a:bodyPr>
          <a:lstStyle/>
          <a:p>
            <a:pPr marL="0" indent="0" algn="ctr">
              <a:spcBef>
                <a:spcPts val="0"/>
              </a:spcBef>
              <a:spcAft>
                <a:spcPts val="0"/>
              </a:spcAft>
              <a:buNone/>
            </a:pPr>
            <a:r>
              <a:rPr lang="es-ES" sz="1600" b="1" dirty="0">
                <a:solidFill>
                  <a:srgbClr val="09534E"/>
                </a:solidFill>
                <a:latin typeface="Arial"/>
                <a:cs typeface="Arial"/>
              </a:rPr>
              <a:t>Lakehouse</a:t>
            </a:r>
          </a:p>
          <a:p>
            <a:pPr marL="0" indent="0" algn="ctr">
              <a:spcBef>
                <a:spcPts val="0"/>
              </a:spcBef>
              <a:spcAft>
                <a:spcPts val="0"/>
              </a:spcAft>
              <a:buNone/>
            </a:pPr>
            <a:r>
              <a:rPr lang="es-ES" sz="1300" dirty="0">
                <a:solidFill>
                  <a:srgbClr val="09534E"/>
                </a:solidFill>
                <a:latin typeface="Arial"/>
                <a:cs typeface="Arial"/>
              </a:rPr>
              <a:t>nuevas filas</a:t>
            </a:r>
          </a:p>
        </p:txBody>
      </p:sp>
      <p:sp>
        <p:nvSpPr>
          <p:cNvPr id="66" name="Flecha 66"/>
          <p:cNvSpPr/>
          <p:nvPr/>
        </p:nvSpPr>
        <p:spPr>
          <a:xfrm>
            <a:off x="11063264" y="4450000"/>
            <a:ext cx="280000" cy="260000"/>
          </a:xfrm>
          <a:prstGeom prst="downArrow">
            <a:avLst/>
          </a:prstGeom>
          <a:solidFill>
            <a:srgbClr val="1E8A7C"/>
          </a:solidFill>
          <a:ln>
            <a:noFill/>
          </a:ln>
        </p:spPr>
        <p:txBody>
          <a:bodyPr wrap="square" lIns="0" tIns="0" rIns="0" bIns="0" anchor="t">
            <a:normAutofit fontScale="85000" lnSpcReduction="20000"/>
          </a:bodyPr>
          <a:lstStyle/>
          <a:p>
            <a:endParaRPr lang="es-ES"/>
          </a:p>
        </p:txBody>
      </p:sp>
      <p:sp>
        <p:nvSpPr>
          <p:cNvPr id="67" name="Caja 67"/>
          <p:cNvSpPr/>
          <p:nvPr/>
        </p:nvSpPr>
        <p:spPr>
          <a:xfrm>
            <a:off x="9488021" y="4730000"/>
            <a:ext cx="3430486" cy="800000"/>
          </a:xfrm>
          <a:prstGeom prst="roundRect">
            <a:avLst>
              <a:gd name="adj" fmla="val 14000"/>
            </a:avLst>
          </a:prstGeom>
          <a:solidFill>
            <a:srgbClr val="10635A"/>
          </a:solidFill>
          <a:ln>
            <a:noFill/>
          </a:ln>
        </p:spPr>
        <p:txBody>
          <a:bodyPr wrap="square" lIns="0" tIns="0" rIns="0" bIns="0" anchor="t">
            <a:normAutofit/>
          </a:bodyPr>
          <a:lstStyle/>
          <a:p>
            <a:endParaRPr lang="es-ES"/>
          </a:p>
        </p:txBody>
      </p:sp>
      <p:sp>
        <p:nvSpPr>
          <p:cNvPr id="68" name="Caja texto 68"/>
          <p:cNvSpPr txBox="1"/>
          <p:nvPr/>
        </p:nvSpPr>
        <p:spPr>
          <a:xfrm>
            <a:off x="9488021" y="4730000"/>
            <a:ext cx="3430486" cy="800000"/>
          </a:xfrm>
          <a:prstGeom prst="rect">
            <a:avLst/>
          </a:prstGeom>
          <a:noFill/>
          <a:ln>
            <a:noFill/>
          </a:ln>
        </p:spPr>
        <p:txBody>
          <a:bodyPr wrap="square" lIns="80000" tIns="20000" rIns="80000" bIns="20000" anchor="ctr">
            <a:normAutofit/>
          </a:bodyPr>
          <a:lstStyle/>
          <a:p>
            <a:pPr marL="0" indent="0" algn="ctr">
              <a:spcBef>
                <a:spcPts val="0"/>
              </a:spcBef>
              <a:spcAft>
                <a:spcPts val="0"/>
              </a:spcAft>
              <a:buNone/>
            </a:pPr>
            <a:r>
              <a:rPr lang="es-ES" sz="1600" b="1" dirty="0">
                <a:solidFill>
                  <a:srgbClr val="FFFFFF"/>
                </a:solidFill>
                <a:latin typeface="Arial"/>
                <a:cs typeface="Arial"/>
              </a:rPr>
              <a:t>Refresh del Graph</a:t>
            </a:r>
          </a:p>
          <a:p>
            <a:pPr marL="0" indent="0" algn="ctr">
              <a:spcBef>
                <a:spcPts val="0"/>
              </a:spcBef>
              <a:spcAft>
                <a:spcPts val="0"/>
              </a:spcAft>
              <a:buNone/>
            </a:pPr>
            <a:r>
              <a:rPr lang="es-ES" sz="1300" dirty="0">
                <a:solidFill>
                  <a:srgbClr val="FFFFFF"/>
                </a:solidFill>
                <a:latin typeface="Arial"/>
                <a:cs typeface="Arial"/>
              </a:rPr>
              <a:t>re-ingesta y reconstruye el grafo</a:t>
            </a:r>
          </a:p>
        </p:txBody>
      </p:sp>
      <p:sp>
        <p:nvSpPr>
          <p:cNvPr id="69" name="Flecha 69"/>
          <p:cNvSpPr/>
          <p:nvPr/>
        </p:nvSpPr>
        <p:spPr>
          <a:xfrm>
            <a:off x="11063264" y="5550000"/>
            <a:ext cx="280000" cy="260000"/>
          </a:xfrm>
          <a:prstGeom prst="downArrow">
            <a:avLst/>
          </a:prstGeom>
          <a:solidFill>
            <a:srgbClr val="1E8A7C"/>
          </a:solidFill>
          <a:ln>
            <a:noFill/>
          </a:ln>
        </p:spPr>
        <p:txBody>
          <a:bodyPr wrap="square" lIns="0" tIns="0" rIns="0" bIns="0" anchor="t">
            <a:normAutofit fontScale="85000" lnSpcReduction="20000"/>
          </a:bodyPr>
          <a:lstStyle/>
          <a:p>
            <a:endParaRPr lang="es-ES"/>
          </a:p>
        </p:txBody>
      </p:sp>
      <p:sp>
        <p:nvSpPr>
          <p:cNvPr id="70" name="Caja 70"/>
          <p:cNvSpPr/>
          <p:nvPr/>
        </p:nvSpPr>
        <p:spPr>
          <a:xfrm>
            <a:off x="9488021" y="5830000"/>
            <a:ext cx="3430486" cy="640000"/>
          </a:xfrm>
          <a:prstGeom prst="roundRect">
            <a:avLst>
              <a:gd name="adj" fmla="val 14000"/>
            </a:avLst>
          </a:prstGeom>
          <a:solidFill>
            <a:srgbClr val="FFFFFF"/>
          </a:solidFill>
          <a:ln>
            <a:noFill/>
          </a:ln>
        </p:spPr>
        <p:txBody>
          <a:bodyPr wrap="square" lIns="0" tIns="0" rIns="0" bIns="0" anchor="t">
            <a:normAutofit/>
          </a:bodyPr>
          <a:lstStyle/>
          <a:p>
            <a:endParaRPr lang="es-ES"/>
          </a:p>
        </p:txBody>
      </p:sp>
      <p:sp>
        <p:nvSpPr>
          <p:cNvPr id="71" name="Caja texto 71"/>
          <p:cNvSpPr txBox="1"/>
          <p:nvPr/>
        </p:nvSpPr>
        <p:spPr>
          <a:xfrm>
            <a:off x="9488021" y="5830000"/>
            <a:ext cx="3430486" cy="640000"/>
          </a:xfrm>
          <a:prstGeom prst="rect">
            <a:avLst/>
          </a:prstGeom>
          <a:noFill/>
          <a:ln>
            <a:noFill/>
          </a:ln>
        </p:spPr>
        <p:txBody>
          <a:bodyPr wrap="square" lIns="80000" tIns="20000" rIns="80000" bIns="20000" anchor="ctr">
            <a:normAutofit/>
          </a:bodyPr>
          <a:lstStyle/>
          <a:p>
            <a:pPr marL="0" indent="0" algn="ctr">
              <a:spcBef>
                <a:spcPts val="0"/>
              </a:spcBef>
              <a:spcAft>
                <a:spcPts val="0"/>
              </a:spcAft>
              <a:buNone/>
            </a:pPr>
            <a:r>
              <a:rPr lang="es-ES" sz="1600" b="1" dirty="0">
                <a:solidFill>
                  <a:srgbClr val="09534E"/>
                </a:solidFill>
                <a:latin typeface="Arial"/>
                <a:cs typeface="Arial"/>
              </a:rPr>
              <a:t>Ontology actualizada</a:t>
            </a:r>
          </a:p>
        </p:txBody>
      </p:sp>
      <p:sp>
        <p:nvSpPr>
          <p:cNvPr id="72" name="Texto 72"/>
          <p:cNvSpPr txBox="1"/>
          <p:nvPr/>
        </p:nvSpPr>
        <p:spPr>
          <a:xfrm>
            <a:off x="9488021" y="6640000"/>
            <a:ext cx="3430486" cy="1130000"/>
          </a:xfrm>
          <a:prstGeom prst="rect">
            <a:avLst/>
          </a:prstGeom>
          <a:noFill/>
          <a:ln>
            <a:noFill/>
          </a:ln>
        </p:spPr>
        <p:txBody>
          <a:bodyPr wrap="square" lIns="0" tIns="0" rIns="0" bIns="0" anchor="t">
            <a:normAutofit/>
          </a:bodyPr>
          <a:lstStyle/>
          <a:p>
            <a:pPr marL="0" indent="0" algn="l">
              <a:spcBef>
                <a:spcPts val="0"/>
              </a:spcBef>
              <a:spcAft>
                <a:spcPts val="0"/>
              </a:spcAft>
              <a:buNone/>
            </a:pPr>
            <a:r>
              <a:rPr lang="es-ES" sz="1500" b="1" dirty="0">
                <a:solidFill>
                  <a:srgbClr val="09534E"/>
                </a:solidFill>
                <a:latin typeface="Arial"/>
                <a:cs typeface="Arial"/>
              </a:rPr>
              <a:t>Manual o scheduled: </a:t>
            </a:r>
            <a:r>
              <a:rPr lang="es-ES" sz="1500" dirty="0">
                <a:solidFill>
                  <a:srgbClr val="09534E"/>
                </a:solidFill>
                <a:latin typeface="Arial"/>
                <a:cs typeface="Arial"/>
              </a:rPr>
              <a:t>cada minutos, horas, días, semanas o meses</a:t>
            </a:r>
          </a:p>
        </p:txBody>
      </p:sp>
      <p:sp>
        <p:nvSpPr>
          <p:cNvPr id="107" name="Tarjeta 107"/>
          <p:cNvSpPr/>
          <p:nvPr/>
        </p:nvSpPr>
        <p:spPr>
          <a:xfrm>
            <a:off x="13401762" y="2560000"/>
            <a:ext cx="3835362" cy="5450000"/>
          </a:xfrm>
          <a:prstGeom prst="roundRect">
            <a:avLst>
              <a:gd name="adj" fmla="val 6000"/>
            </a:avLst>
          </a:prstGeom>
          <a:solidFill>
            <a:srgbClr val="E4F7EE"/>
          </a:solidFill>
          <a:ln>
            <a:noFill/>
          </a:ln>
          <a:effectLst>
            <a:outerShdw blurRad="50800" dist="38100" dir="2700000" algn="tl" rotWithShape="0">
              <a:prstClr val="black">
                <a:alpha val="40000"/>
              </a:prstClr>
            </a:outerShdw>
          </a:effectLst>
        </p:spPr>
        <p:txBody>
          <a:bodyPr wrap="square" lIns="0" tIns="0" rIns="0" bIns="0" anchor="t">
            <a:normAutofit/>
          </a:bodyPr>
          <a:lstStyle/>
          <a:p>
            <a:endParaRPr lang="es-ES"/>
          </a:p>
        </p:txBody>
      </p:sp>
      <p:sp>
        <p:nvSpPr>
          <p:cNvPr id="108" name="Circulo 108"/>
          <p:cNvSpPr/>
          <p:nvPr/>
        </p:nvSpPr>
        <p:spPr>
          <a:xfrm>
            <a:off x="13532046" y="2800000"/>
            <a:ext cx="760000" cy="760000"/>
          </a:xfrm>
          <a:prstGeom prst="ellipse">
            <a:avLst/>
          </a:prstGeom>
          <a:solidFill>
            <a:srgbClr val="10635A"/>
          </a:solidFill>
          <a:ln>
            <a:noFill/>
          </a:ln>
        </p:spPr>
        <p:txBody>
          <a:bodyPr wrap="square" lIns="0" tIns="0" rIns="0" bIns="0" anchor="t">
            <a:normAutofit/>
          </a:bodyPr>
          <a:lstStyle/>
          <a:p>
            <a:endParaRPr lang="es-ES"/>
          </a:p>
        </p:txBody>
      </p:sp>
      <p:pic>
        <p:nvPicPr>
          <p:cNvPr id="109" name="Icono 109" descr="Tipos de datos"/>
          <p:cNvPicPr>
            <a:picLocks noChangeAspect="1"/>
          </p:cNvPicPr>
          <p:nvPr/>
        </p:nvPicPr>
        <p:blipFill>
          <a:blip r:embed="rId8"/>
          <a:stretch>
            <a:fillRect/>
          </a:stretch>
        </p:blipFill>
        <p:spPr>
          <a:xfrm>
            <a:off x="13722046" y="2990000"/>
            <a:ext cx="380000" cy="380000"/>
          </a:xfrm>
          <a:prstGeom prst="rect">
            <a:avLst/>
          </a:prstGeom>
        </p:spPr>
      </p:pic>
      <p:sp>
        <p:nvSpPr>
          <p:cNvPr id="110" name="Titulo tarjeta 110"/>
          <p:cNvSpPr txBox="1"/>
          <p:nvPr/>
        </p:nvSpPr>
        <p:spPr>
          <a:xfrm>
            <a:off x="14468042" y="2800000"/>
            <a:ext cx="2637395" cy="760000"/>
          </a:xfrm>
          <a:prstGeom prst="rect">
            <a:avLst/>
          </a:prstGeom>
          <a:noFill/>
          <a:ln>
            <a:noFill/>
          </a:ln>
        </p:spPr>
        <p:txBody>
          <a:bodyPr wrap="square" lIns="0" tIns="0" rIns="0" bIns="0" anchor="ctr">
            <a:normAutofit/>
          </a:bodyPr>
          <a:lstStyle/>
          <a:p>
            <a:pPr marL="0" indent="0" algn="l">
              <a:spcBef>
                <a:spcPts val="0"/>
              </a:spcBef>
              <a:spcAft>
                <a:spcPts val="0"/>
              </a:spcAft>
              <a:buNone/>
            </a:pPr>
            <a:r>
              <a:rPr lang="es-ES" sz="2000" b="1" dirty="0">
                <a:solidFill>
                  <a:srgbClr val="10635A"/>
                </a:solidFill>
                <a:latin typeface="Arial"/>
                <a:cs typeface="Arial"/>
              </a:rPr>
              <a:t>4. Graph y tipos de datos</a:t>
            </a:r>
          </a:p>
        </p:txBody>
      </p:sp>
      <p:sp>
        <p:nvSpPr>
          <p:cNvPr id="111" name="Fila 111"/>
          <p:cNvSpPr/>
          <p:nvPr/>
        </p:nvSpPr>
        <p:spPr>
          <a:xfrm>
            <a:off x="13599291" y="3790000"/>
            <a:ext cx="3440303" cy="900000"/>
          </a:xfrm>
          <a:prstGeom prst="roundRect">
            <a:avLst>
              <a:gd name="adj" fmla="val 14000"/>
            </a:avLst>
          </a:prstGeom>
          <a:solidFill>
            <a:srgbClr val="FFFFFF"/>
          </a:solidFill>
          <a:ln>
            <a:noFill/>
          </a:ln>
        </p:spPr>
        <p:txBody>
          <a:bodyPr wrap="square" lIns="0" tIns="0" rIns="0" bIns="0" anchor="t">
            <a:normAutofit/>
          </a:bodyPr>
          <a:lstStyle/>
          <a:p>
            <a:endParaRPr lang="es-ES"/>
          </a:p>
        </p:txBody>
      </p:sp>
      <p:sp>
        <p:nvSpPr>
          <p:cNvPr id="112" name="Estado 112"/>
          <p:cNvSpPr/>
          <p:nvPr/>
        </p:nvSpPr>
        <p:spPr>
          <a:xfrm>
            <a:off x="13670276" y="3990000"/>
            <a:ext cx="500000" cy="500000"/>
          </a:xfrm>
          <a:prstGeom prst="ellipse">
            <a:avLst/>
          </a:prstGeom>
          <a:solidFill>
            <a:srgbClr val="E4572E"/>
          </a:solidFill>
          <a:ln>
            <a:noFill/>
          </a:ln>
        </p:spPr>
        <p:txBody>
          <a:bodyPr wrap="square" lIns="0" tIns="0" rIns="0" bIns="0" anchor="t">
            <a:normAutofit/>
          </a:bodyPr>
          <a:lstStyle/>
          <a:p>
            <a:endParaRPr lang="es-ES"/>
          </a:p>
        </p:txBody>
      </p:sp>
      <p:pic>
        <p:nvPicPr>
          <p:cNvPr id="113" name="Icono 113" descr="No"/>
          <p:cNvPicPr>
            <a:picLocks noChangeAspect="1"/>
          </p:cNvPicPr>
          <p:nvPr/>
        </p:nvPicPr>
        <p:blipFill>
          <a:blip r:embed="rId9"/>
          <a:stretch>
            <a:fillRect/>
          </a:stretch>
        </p:blipFill>
        <p:spPr>
          <a:xfrm>
            <a:off x="13795276" y="4115000"/>
            <a:ext cx="250000" cy="250000"/>
          </a:xfrm>
          <a:prstGeom prst="rect">
            <a:avLst/>
          </a:prstGeom>
        </p:spPr>
      </p:pic>
      <p:sp>
        <p:nvSpPr>
          <p:cNvPr id="114" name="Tipo 114"/>
          <p:cNvSpPr txBox="1"/>
          <p:nvPr/>
        </p:nvSpPr>
        <p:spPr>
          <a:xfrm>
            <a:off x="14241262" y="3790000"/>
            <a:ext cx="2765411" cy="900000"/>
          </a:xfrm>
          <a:prstGeom prst="rect">
            <a:avLst/>
          </a:prstGeom>
          <a:noFill/>
          <a:ln>
            <a:noFill/>
          </a:ln>
        </p:spPr>
        <p:txBody>
          <a:bodyPr wrap="square" lIns="0" tIns="0" rIns="0" bIns="0" anchor="ctr">
            <a:normAutofit/>
          </a:bodyPr>
          <a:lstStyle/>
          <a:p>
            <a:pPr marL="0" indent="0" algn="l">
              <a:spcBef>
                <a:spcPts val="0"/>
              </a:spcBef>
              <a:spcAft>
                <a:spcPts val="0"/>
              </a:spcAft>
              <a:buNone/>
            </a:pPr>
            <a:r>
              <a:rPr lang="es-ES" sz="2200" b="1" dirty="0">
                <a:solidFill>
                  <a:srgbClr val="09534E"/>
                </a:solidFill>
                <a:latin typeface="Arial"/>
                <a:cs typeface="Arial"/>
              </a:rPr>
              <a:t>Decimal</a:t>
            </a:r>
          </a:p>
          <a:p>
            <a:pPr marL="0" indent="0" algn="l">
              <a:spcBef>
                <a:spcPts val="0"/>
              </a:spcBef>
              <a:spcAft>
                <a:spcPts val="0"/>
              </a:spcAft>
              <a:buNone/>
            </a:pPr>
            <a:r>
              <a:rPr lang="es-ES" sz="1500" dirty="0">
                <a:solidFill>
                  <a:srgbClr val="09534E"/>
                </a:solidFill>
                <a:latin typeface="Arial"/>
                <a:cs typeface="Arial"/>
              </a:rPr>
              <a:t>devuelve NULL</a:t>
            </a:r>
          </a:p>
        </p:txBody>
      </p:sp>
      <p:sp>
        <p:nvSpPr>
          <p:cNvPr id="115" name="Fila 115"/>
          <p:cNvSpPr/>
          <p:nvPr/>
        </p:nvSpPr>
        <p:spPr>
          <a:xfrm>
            <a:off x="13599291" y="4800000"/>
            <a:ext cx="3440303" cy="900000"/>
          </a:xfrm>
          <a:prstGeom prst="roundRect">
            <a:avLst>
              <a:gd name="adj" fmla="val 14000"/>
            </a:avLst>
          </a:prstGeom>
          <a:solidFill>
            <a:srgbClr val="FFFFFF"/>
          </a:solidFill>
          <a:ln>
            <a:noFill/>
          </a:ln>
        </p:spPr>
        <p:txBody>
          <a:bodyPr wrap="square" lIns="0" tIns="0" rIns="0" bIns="0" anchor="t">
            <a:normAutofit/>
          </a:bodyPr>
          <a:lstStyle/>
          <a:p>
            <a:endParaRPr lang="es-ES"/>
          </a:p>
        </p:txBody>
      </p:sp>
      <p:sp>
        <p:nvSpPr>
          <p:cNvPr id="116" name="Estado 116"/>
          <p:cNvSpPr/>
          <p:nvPr/>
        </p:nvSpPr>
        <p:spPr>
          <a:xfrm>
            <a:off x="13670276" y="5000000"/>
            <a:ext cx="500000" cy="500000"/>
          </a:xfrm>
          <a:prstGeom prst="ellipse">
            <a:avLst/>
          </a:prstGeom>
          <a:solidFill>
            <a:srgbClr val="1E8A7C"/>
          </a:solidFill>
          <a:ln>
            <a:noFill/>
          </a:ln>
        </p:spPr>
        <p:txBody>
          <a:bodyPr wrap="square" lIns="0" tIns="0" rIns="0" bIns="0" anchor="t">
            <a:normAutofit/>
          </a:bodyPr>
          <a:lstStyle/>
          <a:p>
            <a:endParaRPr lang="es-ES"/>
          </a:p>
        </p:txBody>
      </p:sp>
      <p:pic>
        <p:nvPicPr>
          <p:cNvPr id="117" name="Icono 117" descr="Sí"/>
          <p:cNvPicPr>
            <a:picLocks noChangeAspect="1"/>
          </p:cNvPicPr>
          <p:nvPr/>
        </p:nvPicPr>
        <p:blipFill>
          <a:blip r:embed="rId10"/>
          <a:stretch>
            <a:fillRect/>
          </a:stretch>
        </p:blipFill>
        <p:spPr>
          <a:xfrm>
            <a:off x="13795276" y="5125000"/>
            <a:ext cx="250000" cy="250000"/>
          </a:xfrm>
          <a:prstGeom prst="rect">
            <a:avLst/>
          </a:prstGeom>
        </p:spPr>
      </p:pic>
      <p:sp>
        <p:nvSpPr>
          <p:cNvPr id="118" name="Tipo 118"/>
          <p:cNvSpPr txBox="1"/>
          <p:nvPr/>
        </p:nvSpPr>
        <p:spPr>
          <a:xfrm>
            <a:off x="14241262" y="4800000"/>
            <a:ext cx="2765411" cy="900000"/>
          </a:xfrm>
          <a:prstGeom prst="rect">
            <a:avLst/>
          </a:prstGeom>
          <a:noFill/>
          <a:ln>
            <a:noFill/>
          </a:ln>
        </p:spPr>
        <p:txBody>
          <a:bodyPr wrap="square" lIns="0" tIns="0" rIns="0" bIns="0" anchor="ctr">
            <a:normAutofit/>
          </a:bodyPr>
          <a:lstStyle/>
          <a:p>
            <a:pPr marL="0" indent="0" algn="l">
              <a:spcBef>
                <a:spcPts val="0"/>
              </a:spcBef>
              <a:spcAft>
                <a:spcPts val="0"/>
              </a:spcAft>
              <a:buNone/>
            </a:pPr>
            <a:r>
              <a:rPr lang="es-ES" sz="2200" b="1" dirty="0">
                <a:solidFill>
                  <a:srgbClr val="09534E"/>
                </a:solidFill>
                <a:latin typeface="Arial"/>
                <a:cs typeface="Arial"/>
              </a:rPr>
              <a:t>Double</a:t>
            </a:r>
          </a:p>
          <a:p>
            <a:pPr marL="0" indent="0" algn="l">
              <a:spcBef>
                <a:spcPts val="0"/>
              </a:spcBef>
              <a:spcAft>
                <a:spcPts val="0"/>
              </a:spcAft>
              <a:buNone/>
            </a:pPr>
            <a:r>
              <a:rPr lang="es-ES" sz="1500" dirty="0">
                <a:solidFill>
                  <a:srgbClr val="09534E"/>
                </a:solidFill>
                <a:latin typeface="Arial"/>
                <a:cs typeface="Arial"/>
              </a:rPr>
              <a:t>soportado</a:t>
            </a:r>
          </a:p>
        </p:txBody>
      </p:sp>
      <p:sp>
        <p:nvSpPr>
          <p:cNvPr id="119" name="Texto 119"/>
          <p:cNvSpPr txBox="1"/>
          <p:nvPr/>
        </p:nvSpPr>
        <p:spPr>
          <a:xfrm>
            <a:off x="13599291" y="5890000"/>
            <a:ext cx="3440303" cy="900000"/>
          </a:xfrm>
          <a:prstGeom prst="rect">
            <a:avLst/>
          </a:prstGeom>
          <a:noFill/>
          <a:ln>
            <a:noFill/>
          </a:ln>
        </p:spPr>
        <p:txBody>
          <a:bodyPr wrap="square" lIns="0" tIns="0" rIns="0" bIns="0" anchor="t">
            <a:normAutofit/>
          </a:bodyPr>
          <a:lstStyle/>
          <a:p>
            <a:pPr marL="0" indent="0" algn="l">
              <a:spcBef>
                <a:spcPts val="0"/>
              </a:spcBef>
              <a:spcAft>
                <a:spcPts val="0"/>
              </a:spcAft>
              <a:buNone/>
            </a:pPr>
            <a:r>
              <a:rPr lang="es-ES" sz="1500" dirty="0">
                <a:solidFill>
                  <a:srgbClr val="09534E"/>
                </a:solidFill>
                <a:latin typeface="Arial"/>
                <a:cs typeface="Arial"/>
              </a:rPr>
              <a:t>Si la tabla origen tiene columnas Decimal, sus propiedades pueden salir como NULL</a:t>
            </a:r>
          </a:p>
        </p:txBody>
      </p:sp>
      <p:sp>
        <p:nvSpPr>
          <p:cNvPr id="120" name="Aviso 120"/>
          <p:cNvSpPr/>
          <p:nvPr/>
        </p:nvSpPr>
        <p:spPr>
          <a:xfrm>
            <a:off x="13599291" y="6840000"/>
            <a:ext cx="3440303" cy="930000"/>
          </a:xfrm>
          <a:prstGeom prst="roundRect">
            <a:avLst>
              <a:gd name="adj" fmla="val 14000"/>
            </a:avLst>
          </a:prstGeom>
          <a:solidFill>
            <a:srgbClr val="E8B84B"/>
          </a:solidFill>
          <a:ln>
            <a:noFill/>
          </a:ln>
        </p:spPr>
        <p:txBody>
          <a:bodyPr wrap="square" lIns="0" tIns="0" rIns="0" bIns="0" anchor="t">
            <a:normAutofit/>
          </a:bodyPr>
          <a:lstStyle/>
          <a:p>
            <a:endParaRPr lang="es-ES"/>
          </a:p>
        </p:txBody>
      </p:sp>
      <p:sp>
        <p:nvSpPr>
          <p:cNvPr id="121" name="Aviso texto 121"/>
          <p:cNvSpPr txBox="1"/>
          <p:nvPr/>
        </p:nvSpPr>
        <p:spPr>
          <a:xfrm>
            <a:off x="13727307" y="6840000"/>
            <a:ext cx="3312287" cy="930000"/>
          </a:xfrm>
          <a:prstGeom prst="rect">
            <a:avLst/>
          </a:prstGeom>
          <a:noFill/>
          <a:ln>
            <a:noFill/>
          </a:ln>
        </p:spPr>
        <p:txBody>
          <a:bodyPr wrap="square" lIns="120000" tIns="20000" rIns="120000" bIns="20000" anchor="ctr">
            <a:normAutofit/>
          </a:bodyPr>
          <a:lstStyle/>
          <a:p>
            <a:pPr marL="0" indent="0" algn="ctr">
              <a:spcBef>
                <a:spcPts val="0"/>
              </a:spcBef>
              <a:spcAft>
                <a:spcPts val="0"/>
              </a:spcAft>
              <a:buNone/>
            </a:pPr>
            <a:r>
              <a:rPr lang="es-ES" sz="1500" b="1" dirty="0">
                <a:solidFill>
                  <a:srgbClr val="09534E"/>
                </a:solidFill>
                <a:latin typeface="Arial"/>
                <a:cs typeface="Arial"/>
              </a:rPr>
              <a:t>Ojo con datos financieros, precios e importes</a:t>
            </a:r>
          </a:p>
        </p:txBody>
      </p:sp>
      <p:sp>
        <p:nvSpPr>
          <p:cNvPr id="59" name="Mensaje clave 59"/>
          <p:cNvSpPr/>
          <p:nvPr/>
        </p:nvSpPr>
        <p:spPr>
          <a:xfrm>
            <a:off x="2057400" y="8321040"/>
            <a:ext cx="14173200" cy="512064"/>
          </a:xfrm>
          <a:prstGeom prst="roundRect">
            <a:avLst>
              <a:gd name="adj" fmla="val 50000"/>
            </a:avLst>
          </a:prstGeom>
          <a:solidFill>
            <a:srgbClr val="09534E"/>
          </a:solidFill>
          <a:ln>
            <a:noFill/>
          </a:ln>
          <a:effectLst>
            <a:outerShdw blurRad="50800" dist="25400" dir="5400000" algn="t" rotWithShape="0">
              <a:prstClr val="black">
                <a:alpha val="28000"/>
              </a:prstClr>
            </a:outerShdw>
          </a:effectLst>
        </p:spPr>
        <p:txBody>
          <a:bodyPr wrap="square" lIns="182880" tIns="0" rIns="182880" bIns="0" anchor="ctr">
            <a:noAutofit/>
          </a:bodyPr>
          <a:lstStyle/>
          <a:p>
            <a:pPr algn="ctr"/>
            <a:r>
              <a:rPr lang="es-ES" sz="2000" b="1" dirty="0">
                <a:solidFill>
                  <a:srgbClr val="7DE9B0"/>
                </a:solidFill>
                <a:latin typeface="Arial"/>
                <a:cs typeface="Arial"/>
              </a:rPr>
              <a:t xml:space="preserve">✓  Antes de construir: </a:t>
            </a:r>
            <a:r>
              <a:rPr lang="es-ES" sz="2000" b="1" dirty="0">
                <a:solidFill>
                  <a:srgbClr val="FFFFFF"/>
                </a:solidFill>
                <a:latin typeface="Arial"/>
                <a:cs typeface="Arial"/>
              </a:rPr>
              <a:t xml:space="preserve">revisa el estado, el tipo de origen y el binding de cada entidad</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85800" y="419100"/>
            <a:ext cx="15773400" cy="1584323"/>
          </a:xfrm>
        </p:spPr>
        <p:txBody>
          <a:bodyPr/>
          <a:lstStyle/>
          <a:p>
            <a:pPr marL="0" indent="0">
              <a:buNone/>
            </a:pPr>
            <a:r>
              <a:rPr lang="es-ES" sz="4400" b="1" dirty="0">
                <a:latin typeface="Arial"/>
                <a:cs typeface="Arial"/>
              </a:rPr>
              <a:t>Cómo crear una Ontología en Fabric — paso a paso</a:t>
            </a:r>
          </a:p>
        </p:txBody>
      </p:sp>
      <p:sp>
        <p:nvSpPr>
          <p:cNvPr id="27" name="Pill 27"/>
          <p:cNvSpPr/>
          <p:nvPr/>
        </p:nvSpPr>
        <p:spPr>
          <a:xfrm>
            <a:off x="1060704" y="2012900"/>
            <a:ext cx="7952000" cy="700000"/>
          </a:xfrm>
          <a:prstGeom prst="roundRect">
            <a:avLst>
              <a:gd name="adj" fmla="val 18000"/>
            </a:avLst>
          </a:prstGeom>
          <a:solidFill>
            <a:srgbClr val="E4F7EE"/>
          </a:solidFill>
          <a:ln>
            <a:noFill/>
          </a:ln>
          <a:effectLst>
            <a:outerShdw blurRad="50800" dist="38100" dir="2700000" algn="tl" rotWithShape="0">
              <a:prstClr val="black">
                <a:alpha val="40000"/>
              </a:prstClr>
            </a:outerShdw>
          </a:effectLst>
        </p:spPr>
        <p:txBody>
          <a:bodyPr wrap="square" lIns="0" tIns="0" rIns="0" bIns="0" anchor="t">
            <a:normAutofit/>
          </a:bodyPr>
          <a:lstStyle/>
          <a:p>
            <a:endParaRPr lang="es-ES"/>
          </a:p>
        </p:txBody>
      </p:sp>
      <p:sp>
        <p:nvSpPr>
          <p:cNvPr id="28" name="Circulo 28"/>
          <p:cNvSpPr/>
          <p:nvPr/>
        </p:nvSpPr>
        <p:spPr>
          <a:xfrm>
            <a:off x="1300704" y="2102900"/>
            <a:ext cx="520000" cy="520000"/>
          </a:xfrm>
          <a:prstGeom prst="ellipse">
            <a:avLst/>
          </a:prstGeom>
          <a:solidFill>
            <a:srgbClr val="10635A"/>
          </a:solidFill>
          <a:ln>
            <a:noFill/>
          </a:ln>
        </p:spPr>
        <p:txBody>
          <a:bodyPr wrap="square" lIns="0" tIns="0" rIns="0" bIns="0" anchor="t">
            <a:normAutofit/>
          </a:bodyPr>
          <a:lstStyle/>
          <a:p>
            <a:endParaRPr lang="es-ES"/>
          </a:p>
        </p:txBody>
      </p:sp>
      <p:pic>
        <p:nvPicPr>
          <p:cNvPr id="29" name="Icono 29" descr="Desde cero"/>
          <p:cNvPicPr>
            <a:picLocks noChangeAspect="1"/>
          </p:cNvPicPr>
          <p:nvPr/>
        </p:nvPicPr>
        <p:blipFill>
          <a:blip r:embed="rId2"/>
          <a:stretch>
            <a:fillRect/>
          </a:stretch>
        </p:blipFill>
        <p:spPr>
          <a:xfrm>
            <a:off x="1420704" y="2222900"/>
            <a:ext cx="280000" cy="280000"/>
          </a:xfrm>
          <a:prstGeom prst="rect">
            <a:avLst/>
          </a:prstGeom>
        </p:spPr>
      </p:pic>
      <p:sp>
        <p:nvSpPr>
          <p:cNvPr id="30" name="Pill titulo 30"/>
          <p:cNvSpPr txBox="1"/>
          <p:nvPr/>
        </p:nvSpPr>
        <p:spPr>
          <a:xfrm>
            <a:off x="1960704" y="2012900"/>
            <a:ext cx="6892000" cy="700000"/>
          </a:xfrm>
          <a:prstGeom prst="rect">
            <a:avLst/>
          </a:prstGeom>
          <a:noFill/>
          <a:ln>
            <a:noFill/>
          </a:ln>
        </p:spPr>
        <p:txBody>
          <a:bodyPr wrap="square" lIns="0" tIns="0" rIns="0" bIns="0" anchor="ctr">
            <a:normAutofit/>
          </a:bodyPr>
          <a:lstStyle/>
          <a:p>
            <a:pPr marL="0" indent="0" algn="l">
              <a:spcBef>
                <a:spcPts val="0"/>
              </a:spcBef>
              <a:spcAft>
                <a:spcPts val="0"/>
              </a:spcAft>
              <a:buNone/>
            </a:pPr>
            <a:r>
              <a:rPr lang="es-ES" sz="2000" b="1" dirty="0">
                <a:solidFill>
                  <a:srgbClr val="10635A"/>
                </a:solidFill>
                <a:latin typeface="Arial"/>
                <a:cs typeface="Arial"/>
              </a:rPr>
              <a:t>Opción 1: Desde cero · sin modelo previo, control total</a:t>
            </a:r>
          </a:p>
        </p:txBody>
      </p:sp>
      <p:sp>
        <p:nvSpPr>
          <p:cNvPr id="31" name="Pill 31"/>
          <p:cNvSpPr/>
          <p:nvPr/>
        </p:nvSpPr>
        <p:spPr>
          <a:xfrm>
            <a:off x="9284704" y="2012900"/>
            <a:ext cx="7952000" cy="700000"/>
          </a:xfrm>
          <a:prstGeom prst="roundRect">
            <a:avLst>
              <a:gd name="adj" fmla="val 18000"/>
            </a:avLst>
          </a:prstGeom>
          <a:solidFill>
            <a:srgbClr val="E4F7EE"/>
          </a:solidFill>
          <a:ln>
            <a:noFill/>
          </a:ln>
          <a:effectLst>
            <a:outerShdw blurRad="50800" dist="38100" dir="2700000" algn="tl" rotWithShape="0">
              <a:prstClr val="black">
                <a:alpha val="40000"/>
              </a:prstClr>
            </a:outerShdw>
          </a:effectLst>
        </p:spPr>
        <p:txBody>
          <a:bodyPr wrap="square" lIns="0" tIns="0" rIns="0" bIns="0" anchor="t">
            <a:normAutofit/>
          </a:bodyPr>
          <a:lstStyle/>
          <a:p>
            <a:endParaRPr lang="es-ES"/>
          </a:p>
        </p:txBody>
      </p:sp>
      <p:sp>
        <p:nvSpPr>
          <p:cNvPr id="32" name="Circulo 32"/>
          <p:cNvSpPr/>
          <p:nvPr/>
        </p:nvSpPr>
        <p:spPr>
          <a:xfrm>
            <a:off x="9524704" y="2102900"/>
            <a:ext cx="520000" cy="520000"/>
          </a:xfrm>
          <a:prstGeom prst="ellipse">
            <a:avLst/>
          </a:prstGeom>
          <a:solidFill>
            <a:srgbClr val="10635A"/>
          </a:solidFill>
          <a:ln>
            <a:noFill/>
          </a:ln>
        </p:spPr>
        <p:txBody>
          <a:bodyPr wrap="square" lIns="0" tIns="0" rIns="0" bIns="0" anchor="t">
            <a:normAutofit/>
          </a:bodyPr>
          <a:lstStyle/>
          <a:p>
            <a:endParaRPr lang="es-ES"/>
          </a:p>
        </p:txBody>
      </p:sp>
      <p:pic>
        <p:nvPicPr>
          <p:cNvPr id="33" name="Icono 33" descr="Desde un modelo semántico"/>
          <p:cNvPicPr>
            <a:picLocks noChangeAspect="1"/>
          </p:cNvPicPr>
          <p:nvPr/>
        </p:nvPicPr>
        <p:blipFill>
          <a:blip r:embed="rId3"/>
          <a:stretch>
            <a:fillRect/>
          </a:stretch>
        </p:blipFill>
        <p:spPr>
          <a:xfrm>
            <a:off x="9644704" y="2222900"/>
            <a:ext cx="280000" cy="280000"/>
          </a:xfrm>
          <a:prstGeom prst="rect">
            <a:avLst/>
          </a:prstGeom>
        </p:spPr>
      </p:pic>
      <p:sp>
        <p:nvSpPr>
          <p:cNvPr id="34" name="Pill titulo 34"/>
          <p:cNvSpPr txBox="1"/>
          <p:nvPr/>
        </p:nvSpPr>
        <p:spPr>
          <a:xfrm>
            <a:off x="10184704" y="2012900"/>
            <a:ext cx="6892000" cy="700000"/>
          </a:xfrm>
          <a:prstGeom prst="rect">
            <a:avLst/>
          </a:prstGeom>
          <a:noFill/>
          <a:ln>
            <a:noFill/>
          </a:ln>
        </p:spPr>
        <p:txBody>
          <a:bodyPr wrap="square" lIns="0" tIns="0" rIns="0" bIns="0" anchor="ctr">
            <a:normAutofit/>
          </a:bodyPr>
          <a:lstStyle/>
          <a:p>
            <a:pPr marL="0" indent="0" algn="l">
              <a:spcBef>
                <a:spcPts val="0"/>
              </a:spcBef>
              <a:spcAft>
                <a:spcPts val="0"/>
              </a:spcAft>
              <a:buNone/>
            </a:pPr>
            <a:r>
              <a:rPr lang="es-ES" sz="2000" b="1" dirty="0">
                <a:solidFill>
                  <a:srgbClr val="10635A"/>
                </a:solidFill>
                <a:latin typeface="Arial"/>
                <a:cs typeface="Arial"/>
              </a:rPr>
              <a:t>Opción 2: Desde un modelo semántico · arranque rápido</a:t>
            </a:r>
          </a:p>
        </p:txBody>
      </p:sp>
      <p:sp>
        <p:nvSpPr>
          <p:cNvPr id="35" name="Caption 35"/>
          <p:cNvSpPr txBox="1"/>
          <p:nvPr/>
        </p:nvSpPr>
        <p:spPr>
          <a:xfrm>
            <a:off x="1060704" y="2862900"/>
            <a:ext cx="7952000" cy="420000"/>
          </a:xfrm>
          <a:prstGeom prst="rect">
            <a:avLst/>
          </a:prstGeom>
          <a:noFill/>
          <a:ln>
            <a:noFill/>
          </a:ln>
        </p:spPr>
        <p:txBody>
          <a:bodyPr wrap="square" lIns="0" tIns="0" rIns="0" bIns="0" anchor="ctr">
            <a:normAutofit/>
          </a:bodyPr>
          <a:lstStyle/>
          <a:p>
            <a:pPr marL="0" indent="0" algn="ctr">
              <a:spcBef>
                <a:spcPts val="0"/>
              </a:spcBef>
              <a:spcAft>
                <a:spcPts val="0"/>
              </a:spcAft>
              <a:buNone/>
            </a:pPr>
            <a:r>
              <a:rPr lang="es-ES" sz="1400" b="1" dirty="0">
                <a:solidFill>
                  <a:srgbClr val="10635A"/>
                </a:solidFill>
                <a:latin typeface="Arial"/>
                <a:cs typeface="Arial"/>
              </a:rPr>
              <a:t>1. Nuevo item → buscar "Ontology"</a:t>
            </a:r>
          </a:p>
        </p:txBody>
      </p:sp>
      <p:pic>
        <p:nvPicPr>
          <p:cNvPr id="36" name="Icono 36" descr="1. Nuevo item → buscar Ontology"/>
          <p:cNvPicPr>
            <a:picLocks noChangeAspect="1"/>
          </p:cNvPicPr>
          <p:nvPr/>
        </p:nvPicPr>
        <p:blipFill>
          <a:blip r:embed="rId4"/>
          <a:stretch>
            <a:fillRect/>
          </a:stretch>
        </p:blipFill>
        <p:spPr>
          <a:xfrm>
            <a:off x="4125240" y="3238500"/>
            <a:ext cx="2123160" cy="2154693"/>
          </a:xfrm>
          <a:prstGeom prst="rect">
            <a:avLst/>
          </a:prstGeom>
          <a:effectLst>
            <a:outerShdw blurRad="50800" dist="38100" dir="2700000" algn="tl" rotWithShape="0">
              <a:prstClr val="black">
                <a:alpha val="40000"/>
              </a:prstClr>
            </a:outerShdw>
          </a:effectLst>
        </p:spPr>
      </p:pic>
      <p:sp>
        <p:nvSpPr>
          <p:cNvPr id="37" name="Caption 37"/>
          <p:cNvSpPr txBox="1"/>
          <p:nvPr/>
        </p:nvSpPr>
        <p:spPr>
          <a:xfrm>
            <a:off x="1060704" y="5615300"/>
            <a:ext cx="7952000" cy="420000"/>
          </a:xfrm>
          <a:prstGeom prst="rect">
            <a:avLst/>
          </a:prstGeom>
          <a:noFill/>
          <a:ln>
            <a:noFill/>
          </a:ln>
        </p:spPr>
        <p:txBody>
          <a:bodyPr wrap="square" lIns="0" tIns="0" rIns="0" bIns="0" anchor="ctr">
            <a:normAutofit lnSpcReduction="10000"/>
          </a:bodyPr>
          <a:lstStyle/>
          <a:p>
            <a:pPr marL="0" indent="0" algn="ctr">
              <a:spcBef>
                <a:spcPts val="0"/>
              </a:spcBef>
              <a:spcAft>
                <a:spcPts val="0"/>
              </a:spcAft>
              <a:buNone/>
            </a:pPr>
            <a:r>
              <a:rPr lang="es-ES" sz="1400" b="1" dirty="0">
                <a:solidFill>
                  <a:srgbClr val="10635A"/>
                </a:solidFill>
                <a:latin typeface="Arial"/>
                <a:cs typeface="Arial"/>
              </a:rPr>
              <a:t>2. Resultado: item Ontology + Graph, Lakehouse y SQL Endpoint</a:t>
            </a:r>
          </a:p>
        </p:txBody>
      </p:sp>
      <p:pic>
        <p:nvPicPr>
          <p:cNvPr id="38" name="Icono 38" descr="2. Resultado: item Ontology y sus componentes (Graph, Lakehouse, SQL Endpoint) en el workspace"/>
          <p:cNvPicPr>
            <a:picLocks noChangeAspect="1"/>
          </p:cNvPicPr>
          <p:nvPr/>
        </p:nvPicPr>
        <p:blipFill>
          <a:blip r:embed="rId5"/>
          <a:stretch>
            <a:fillRect/>
          </a:stretch>
        </p:blipFill>
        <p:spPr>
          <a:xfrm>
            <a:off x="1655063" y="6016752"/>
            <a:ext cx="6766560" cy="2429980"/>
          </a:xfrm>
          <a:prstGeom prst="rect">
            <a:avLst/>
          </a:prstGeom>
          <a:effectLst>
            <a:outerShdw blurRad="50800" dist="38100" dir="2700000" algn="tl" rotWithShape="0">
              <a:prstClr val="black">
                <a:alpha val="40000"/>
              </a:prstClr>
            </a:outerShdw>
          </a:effectLst>
        </p:spPr>
      </p:pic>
      <p:sp>
        <p:nvSpPr>
          <p:cNvPr id="39" name="Caption 39"/>
          <p:cNvSpPr txBox="1"/>
          <p:nvPr/>
        </p:nvSpPr>
        <p:spPr>
          <a:xfrm>
            <a:off x="9284704" y="2862900"/>
            <a:ext cx="7952000" cy="420000"/>
          </a:xfrm>
          <a:prstGeom prst="rect">
            <a:avLst/>
          </a:prstGeom>
          <a:noFill/>
          <a:ln>
            <a:noFill/>
          </a:ln>
        </p:spPr>
        <p:txBody>
          <a:bodyPr wrap="square" lIns="0" tIns="0" rIns="0" bIns="0" anchor="ctr">
            <a:normAutofit/>
          </a:bodyPr>
          <a:lstStyle/>
          <a:p>
            <a:pPr marL="0" indent="0" algn="ctr">
              <a:spcBef>
                <a:spcPts val="0"/>
              </a:spcBef>
              <a:spcAft>
                <a:spcPts val="0"/>
              </a:spcAft>
              <a:buNone/>
            </a:pPr>
            <a:r>
              <a:rPr lang="es-ES" sz="1400" b="1" dirty="0">
                <a:solidFill>
                  <a:srgbClr val="10635A"/>
                </a:solidFill>
                <a:latin typeface="Arial"/>
                <a:cs typeface="Arial"/>
              </a:rPr>
              <a:t>1. Modelo semántico → botón "Generar ontología"</a:t>
            </a:r>
          </a:p>
        </p:txBody>
      </p:sp>
      <p:pic>
        <p:nvPicPr>
          <p:cNvPr id="40" name="Icono 40" descr="1. Modelo semántico → botón Generar ontología"/>
          <p:cNvPicPr>
            <a:picLocks noChangeAspect="1"/>
          </p:cNvPicPr>
          <p:nvPr/>
        </p:nvPicPr>
        <p:blipFill>
          <a:blip r:embed="rId6"/>
          <a:stretch>
            <a:fillRect/>
          </a:stretch>
        </p:blipFill>
        <p:spPr>
          <a:xfrm>
            <a:off x="9677400" y="3362900"/>
            <a:ext cx="7500524" cy="1947600"/>
          </a:xfrm>
          <a:prstGeom prst="rect">
            <a:avLst/>
          </a:prstGeom>
          <a:effectLst>
            <a:outerShdw blurRad="50800" dist="38100" dir="2700000" algn="tl" rotWithShape="0">
              <a:prstClr val="black">
                <a:alpha val="40000"/>
              </a:prstClr>
            </a:outerShdw>
          </a:effectLst>
        </p:spPr>
      </p:pic>
      <p:sp>
        <p:nvSpPr>
          <p:cNvPr id="41" name="Caption 41"/>
          <p:cNvSpPr txBox="1"/>
          <p:nvPr/>
        </p:nvSpPr>
        <p:spPr>
          <a:xfrm>
            <a:off x="9284704" y="5615300"/>
            <a:ext cx="7952000" cy="420000"/>
          </a:xfrm>
          <a:prstGeom prst="rect">
            <a:avLst/>
          </a:prstGeom>
          <a:noFill/>
          <a:ln>
            <a:noFill/>
          </a:ln>
        </p:spPr>
        <p:txBody>
          <a:bodyPr wrap="square" lIns="0" tIns="0" rIns="0" bIns="0" anchor="ctr">
            <a:normAutofit lnSpcReduction="10000"/>
          </a:bodyPr>
          <a:lstStyle/>
          <a:p>
            <a:pPr marL="0" indent="0" algn="ctr">
              <a:spcBef>
                <a:spcPts val="0"/>
              </a:spcBef>
              <a:spcAft>
                <a:spcPts val="0"/>
              </a:spcAft>
              <a:buNone/>
            </a:pPr>
            <a:r>
              <a:rPr lang="es-ES" sz="1400" b="1" dirty="0">
                <a:solidFill>
                  <a:srgbClr val="10635A"/>
                </a:solidFill>
                <a:latin typeface="Arial"/>
                <a:cs typeface="Arial"/>
              </a:rPr>
              <a:t>2. Resultado: Entity Types y Relationships auto-generados (heredan el nombre de las tablas)</a:t>
            </a:r>
          </a:p>
        </p:txBody>
      </p:sp>
      <p:pic>
        <p:nvPicPr>
          <p:cNvPr id="42" name="Icono 42" descr="2. Resultado: entidades y relaciones auto-generadas (heredan el nombre de las tablas)"/>
          <p:cNvPicPr>
            <a:picLocks noChangeAspect="1"/>
          </p:cNvPicPr>
          <p:nvPr/>
        </p:nvPicPr>
        <p:blipFill>
          <a:blip r:embed="rId7"/>
          <a:stretch>
            <a:fillRect/>
          </a:stretch>
        </p:blipFill>
        <p:spPr>
          <a:xfrm>
            <a:off x="10863093" y="6115300"/>
            <a:ext cx="4795221" cy="2000000"/>
          </a:xfrm>
          <a:prstGeom prst="rect">
            <a:avLst/>
          </a:prstGeom>
          <a:effectLst>
            <a:outerShdw blurRad="50800" dist="38100" dir="2700000" algn="tl" rotWithShape="0">
              <a:prstClr val="black">
                <a:alpha val="40000"/>
              </a:prstClr>
            </a:outerShdw>
          </a:effectLst>
        </p:spPr>
      </p:pic>
      <p:sp>
        <p:nvSpPr>
          <p:cNvPr id="43" name="Mensaje clave 43"/>
          <p:cNvSpPr/>
          <p:nvPr/>
        </p:nvSpPr>
        <p:spPr>
          <a:xfrm>
            <a:off x="2286000" y="8558784"/>
            <a:ext cx="13716000" cy="512064"/>
          </a:xfrm>
          <a:prstGeom prst="roundRect">
            <a:avLst>
              <a:gd name="adj" fmla="val 50000"/>
            </a:avLst>
          </a:prstGeom>
          <a:solidFill>
            <a:srgbClr val="09534E"/>
          </a:solidFill>
          <a:ln>
            <a:noFill/>
          </a:ln>
          <a:effectLst>
            <a:outerShdw blurRad="50800" dist="25400" dir="5400000" algn="t" rotWithShape="0">
              <a:prstClr val="black">
                <a:alpha val="28000"/>
              </a:prstClr>
            </a:outerShdw>
          </a:effectLst>
        </p:spPr>
        <p:txBody>
          <a:bodyPr wrap="square" lIns="182880" tIns="0" rIns="182880" bIns="0" anchor="ctr">
            <a:noAutofit/>
          </a:bodyPr>
          <a:lstStyle/>
          <a:p>
            <a:pPr algn="ctr"/>
            <a:r>
              <a:rPr lang="es-ES" sz="2000" b="1" dirty="0">
                <a:solidFill>
                  <a:srgbClr val="7DE9B0"/>
                </a:solidFill>
                <a:latin typeface="Arial"/>
                <a:cs typeface="Arial"/>
              </a:rPr>
              <a:t xml:space="preserve">✓  En ambos casos: </a:t>
            </a:r>
            <a:r>
              <a:rPr lang="es-ES" sz="2000" b="1" dirty="0">
                <a:solidFill>
                  <a:srgbClr val="FFFFFF"/>
                </a:solidFill>
                <a:latin typeface="Arial"/>
                <a:cs typeface="Arial"/>
              </a:rPr>
              <a:t xml:space="preserve">un item Ontology en tu workspace, listo para modelar y refinar</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0704" y="566928"/>
            <a:ext cx="16184880" cy="1234440"/>
          </a:xfrm>
        </p:spPr>
        <p:txBody>
          <a:bodyPr/>
          <a:lstStyle/>
          <a:p>
            <a:r>
              <a:rPr sz="4000" b="1">
                <a:solidFill>
                  <a:srgbClr val="10635A"/>
                </a:solidFill>
                <a:latin typeface="Arial"/>
              </a:rPr>
              <a:t>Entity Types: de nombre técnico a concepto de negocio</a:t>
            </a:r>
          </a:p>
        </p:txBody>
      </p:sp>
      <p:sp>
        <p:nvSpPr>
          <p:cNvPr id="3" name="TextBox 2"/>
          <p:cNvSpPr txBox="1"/>
          <p:nvPr/>
        </p:nvSpPr>
        <p:spPr>
          <a:xfrm>
            <a:off x="1060704" y="1783080"/>
            <a:ext cx="16184880" cy="502920"/>
          </a:xfrm>
          <a:prstGeom prst="rect">
            <a:avLst/>
          </a:prstGeom>
          <a:noFill/>
        </p:spPr>
        <p:txBody>
          <a:bodyPr wrap="square" lIns="0" tIns="0" rIns="0" bIns="0" anchor="t">
            <a:spAutoFit/>
          </a:bodyPr>
          <a:lstStyle/>
          <a:p>
            <a:pPr algn="l"/>
            <a:r>
              <a:rPr sz="1700" b="0" i="0">
                <a:solidFill>
                  <a:srgbClr val="2B3A38"/>
                </a:solidFill>
                <a:latin typeface="Arial"/>
              </a:rPr>
              <a:t>Al generar la ontología desde un modelo semántico, cada entidad hereda el nombre de la tabla </a:t>
            </a:r>
            <a:r>
              <a:rPr sz="1700" b="1" i="0">
                <a:solidFill>
                  <a:srgbClr val="2B3A38"/>
                </a:solidFill>
                <a:latin typeface="Arial"/>
              </a:rPr>
              <a:t>(D_Propietarios_Instalaciones)</a:t>
            </a:r>
            <a:r>
              <a:rPr sz="1700" b="0" i="0">
                <a:solidFill>
                  <a:srgbClr val="2B3A38"/>
                </a:solidFill>
                <a:latin typeface="Arial"/>
              </a:rPr>
              <a:t>. Renómbrala con lenguaje de negocio.</a:t>
            </a:r>
          </a:p>
        </p:txBody>
      </p:sp>
      <p:sp>
        <p:nvSpPr>
          <p:cNvPr id="4" name="Rounded Rectangle 3"/>
          <p:cNvSpPr/>
          <p:nvPr/>
        </p:nvSpPr>
        <p:spPr>
          <a:xfrm>
            <a:off x="1060704" y="2514600"/>
            <a:ext cx="5120640" cy="5532120"/>
          </a:xfrm>
          <a:prstGeom prst="roundRect">
            <a:avLst>
              <a:gd name="adj" fmla="val 5000"/>
            </a:avLst>
          </a:prstGeom>
          <a:solidFill>
            <a:srgbClr val="E4F7E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Oval 4"/>
          <p:cNvSpPr/>
          <p:nvPr/>
        </p:nvSpPr>
        <p:spPr>
          <a:xfrm>
            <a:off x="1335024" y="2743200"/>
            <a:ext cx="502920" cy="502920"/>
          </a:xfrm>
          <a:prstGeom prst="ellipse">
            <a:avLst/>
          </a:prstGeom>
          <a:solidFill>
            <a:srgbClr val="10635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Arial"/>
              </a:rPr>
              <a:t>1</a:t>
            </a:r>
          </a:p>
        </p:txBody>
      </p:sp>
      <p:sp>
        <p:nvSpPr>
          <p:cNvPr id="6" name="TextBox 5"/>
          <p:cNvSpPr txBox="1"/>
          <p:nvPr/>
        </p:nvSpPr>
        <p:spPr>
          <a:xfrm>
            <a:off x="2020824" y="2679192"/>
            <a:ext cx="3931920" cy="685800"/>
          </a:xfrm>
          <a:prstGeom prst="rect">
            <a:avLst/>
          </a:prstGeom>
          <a:noFill/>
        </p:spPr>
        <p:txBody>
          <a:bodyPr wrap="square" lIns="0" tIns="0" rIns="0" bIns="0" anchor="ctr">
            <a:spAutoFit/>
          </a:bodyPr>
          <a:lstStyle/>
          <a:p>
            <a:pPr algn="l"/>
            <a:r>
              <a:rPr sz="1500" b="0" i="0">
                <a:solidFill>
                  <a:srgbClr val="2B3A38"/>
                </a:solidFill>
                <a:latin typeface="Arial"/>
              </a:rPr>
              <a:t>Selecciona la entidad y pulsa </a:t>
            </a:r>
            <a:r>
              <a:rPr sz="1500" b="1" i="0">
                <a:solidFill>
                  <a:srgbClr val="10635A"/>
                </a:solidFill>
                <a:latin typeface="Arial"/>
              </a:rPr>
              <a:t>“Ver detalles del tipo de entidad”</a:t>
            </a:r>
          </a:p>
        </p:txBody>
      </p:sp>
      <p:sp>
        <p:nvSpPr>
          <p:cNvPr id="7" name="Rounded Rectangle 6"/>
          <p:cNvSpPr/>
          <p:nvPr/>
        </p:nvSpPr>
        <p:spPr>
          <a:xfrm>
            <a:off x="1335024" y="3593591"/>
            <a:ext cx="4572000" cy="3513273"/>
          </a:xfrm>
          <a:prstGeom prst="roundRect">
            <a:avLst>
              <a:gd name="adj" fmla="val 4000"/>
            </a:avLst>
          </a:prstGeom>
          <a:solidFill>
            <a:srgbClr val="FFFFFF"/>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crop_7_0_0_760_602.png"/>
          <p:cNvPicPr>
            <a:picLocks noChangeAspect="1"/>
          </p:cNvPicPr>
          <p:nvPr/>
        </p:nvPicPr>
        <p:blipFill>
          <a:blip r:embed="rId3"/>
          <a:srcRect l="0" t="9966" r="26973" b="20265"/>
          <a:stretch>
            <a:fillRect/>
          </a:stretch>
        </p:blipFill>
        <p:spPr>
          <a:xfrm>
            <a:off x="1444752" y="3703320"/>
            <a:ext cx="4352544" cy="3293817"/>
          </a:xfrm>
          <a:prstGeom prst="rect">
            <a:avLst/>
          </a:prstGeom>
          <a:ln w="9525">
            <a:solidFill>
              <a:srgbClr val="C9DCD6"/>
            </a:solidFill>
          </a:ln>
        </p:spPr>
      </p:pic>
      <p:sp>
        <p:nvSpPr>
          <p:cNvPr id="9" name="Rounded Rectangle 8"/>
          <p:cNvSpPr/>
          <p:nvPr/>
        </p:nvSpPr>
        <p:spPr>
          <a:xfrm>
            <a:off x="6592824" y="2514600"/>
            <a:ext cx="5120640" cy="5532120"/>
          </a:xfrm>
          <a:prstGeom prst="roundRect">
            <a:avLst>
              <a:gd name="adj" fmla="val 5000"/>
            </a:avLst>
          </a:prstGeom>
          <a:solidFill>
            <a:srgbClr val="E4F7E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Oval 9"/>
          <p:cNvSpPr/>
          <p:nvPr/>
        </p:nvSpPr>
        <p:spPr>
          <a:xfrm>
            <a:off x="6867144" y="2743200"/>
            <a:ext cx="502920" cy="502920"/>
          </a:xfrm>
          <a:prstGeom prst="ellipse">
            <a:avLst/>
          </a:prstGeom>
          <a:solidFill>
            <a:srgbClr val="10635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Arial"/>
              </a:rPr>
              <a:t>2</a:t>
            </a:r>
          </a:p>
        </p:txBody>
      </p:sp>
      <p:sp>
        <p:nvSpPr>
          <p:cNvPr id="11" name="TextBox 10"/>
          <p:cNvSpPr txBox="1"/>
          <p:nvPr/>
        </p:nvSpPr>
        <p:spPr>
          <a:xfrm>
            <a:off x="7552944" y="2679192"/>
            <a:ext cx="3931920" cy="685800"/>
          </a:xfrm>
          <a:prstGeom prst="rect">
            <a:avLst/>
          </a:prstGeom>
          <a:noFill/>
        </p:spPr>
        <p:txBody>
          <a:bodyPr wrap="square" lIns="0" tIns="0" rIns="0" bIns="0" anchor="ctr">
            <a:spAutoFit/>
          </a:bodyPr>
          <a:lstStyle/>
          <a:p>
            <a:pPr algn="l"/>
            <a:r>
              <a:rPr sz="1500" b="0" i="0">
                <a:solidFill>
                  <a:srgbClr val="2B3A38"/>
                </a:solidFill>
                <a:latin typeface="Arial"/>
              </a:rPr>
              <a:t>En el menú ⋯ de la derecha, elige </a:t>
            </a:r>
            <a:r>
              <a:rPr sz="1500" b="1" i="0">
                <a:solidFill>
                  <a:srgbClr val="10635A"/>
                </a:solidFill>
                <a:latin typeface="Arial"/>
              </a:rPr>
              <a:t>“Cambiar nombre”</a:t>
            </a:r>
          </a:p>
        </p:txBody>
      </p:sp>
      <p:sp>
        <p:nvSpPr>
          <p:cNvPr id="12" name="Rounded Rectangle 11"/>
          <p:cNvSpPr/>
          <p:nvPr/>
        </p:nvSpPr>
        <p:spPr>
          <a:xfrm>
            <a:off x="6867144" y="3593591"/>
            <a:ext cx="4572000" cy="1869917"/>
          </a:xfrm>
          <a:prstGeom prst="roundRect">
            <a:avLst>
              <a:gd name="adj" fmla="val 4000"/>
            </a:avLst>
          </a:prstGeom>
          <a:solidFill>
            <a:srgbClr val="FFFFFF"/>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3" name="Picture 12" descr="crop_8_1370_42_1668_155.png"/>
          <p:cNvPicPr>
            <a:picLocks noChangeAspect="1"/>
          </p:cNvPicPr>
          <p:nvPr/>
        </p:nvPicPr>
        <p:blipFill>
          <a:blip r:embed="rId4"/>
          <a:stretch>
            <a:fillRect/>
          </a:stretch>
        </p:blipFill>
        <p:spPr>
          <a:xfrm>
            <a:off x="6976872" y="3703320"/>
            <a:ext cx="4352544" cy="1650461"/>
          </a:xfrm>
          <a:prstGeom prst="rect">
            <a:avLst/>
          </a:prstGeom>
          <a:ln w="9525">
            <a:solidFill>
              <a:srgbClr val="C9DCD6"/>
            </a:solidFill>
          </a:ln>
        </p:spPr>
      </p:pic>
      <p:sp>
        <p:nvSpPr>
          <p:cNvPr id="14" name="Rounded Rectangle 13"/>
          <p:cNvSpPr/>
          <p:nvPr/>
        </p:nvSpPr>
        <p:spPr>
          <a:xfrm>
            <a:off x="12124944" y="2514600"/>
            <a:ext cx="5120640" cy="5532120"/>
          </a:xfrm>
          <a:prstGeom prst="roundRect">
            <a:avLst>
              <a:gd name="adj" fmla="val 5000"/>
            </a:avLst>
          </a:prstGeom>
          <a:solidFill>
            <a:srgbClr val="E4F7E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Oval 14"/>
          <p:cNvSpPr/>
          <p:nvPr/>
        </p:nvSpPr>
        <p:spPr>
          <a:xfrm>
            <a:off x="12399264" y="2743200"/>
            <a:ext cx="502920" cy="502920"/>
          </a:xfrm>
          <a:prstGeom prst="ellipse">
            <a:avLst/>
          </a:prstGeom>
          <a:solidFill>
            <a:srgbClr val="10635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Arial"/>
              </a:rPr>
              <a:t>3</a:t>
            </a:r>
          </a:p>
        </p:txBody>
      </p:sp>
      <p:sp>
        <p:nvSpPr>
          <p:cNvPr id="16" name="TextBox 15"/>
          <p:cNvSpPr txBox="1"/>
          <p:nvPr/>
        </p:nvSpPr>
        <p:spPr>
          <a:xfrm>
            <a:off x="13085064" y="2679192"/>
            <a:ext cx="3931920" cy="685800"/>
          </a:xfrm>
          <a:prstGeom prst="rect">
            <a:avLst/>
          </a:prstGeom>
          <a:noFill/>
        </p:spPr>
        <p:txBody>
          <a:bodyPr wrap="square" lIns="0" tIns="0" rIns="0" bIns="0" anchor="ctr">
            <a:spAutoFit/>
          </a:bodyPr>
          <a:lstStyle/>
          <a:p>
            <a:pPr algn="l"/>
            <a:r>
              <a:rPr sz="1500" b="0" i="0">
                <a:solidFill>
                  <a:srgbClr val="2B3A38"/>
                </a:solidFill>
                <a:latin typeface="Arial"/>
              </a:rPr>
              <a:t>Resultado: la entidad pasa a </a:t>
            </a:r>
            <a:r>
              <a:rPr sz="1500" b="1" i="0">
                <a:solidFill>
                  <a:srgbClr val="10635A"/>
                </a:solidFill>
                <a:latin typeface="Arial"/>
              </a:rPr>
              <a:t>“Propietarios”</a:t>
            </a:r>
          </a:p>
        </p:txBody>
      </p:sp>
      <p:sp>
        <p:nvSpPr>
          <p:cNvPr id="17" name="Rounded Rectangle 16"/>
          <p:cNvSpPr/>
          <p:nvPr/>
        </p:nvSpPr>
        <p:spPr>
          <a:xfrm>
            <a:off x="12399264" y="3593591"/>
            <a:ext cx="4572000" cy="3328415"/>
          </a:xfrm>
          <a:prstGeom prst="roundRect">
            <a:avLst>
              <a:gd name="adj" fmla="val 4000"/>
            </a:avLst>
          </a:prstGeom>
          <a:solidFill>
            <a:srgbClr val="FFFFFF"/>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8" name="Picture 17" descr="crop_9_0_30_720_330.png"/>
          <p:cNvPicPr>
            <a:picLocks noChangeAspect="1"/>
          </p:cNvPicPr>
          <p:nvPr/>
        </p:nvPicPr>
        <p:blipFill>
          <a:blip r:embed="rId5"/>
          <a:srcRect l="0" t="0" r="41666" b="0"/>
          <a:stretch>
            <a:fillRect/>
          </a:stretch>
        </p:blipFill>
        <p:spPr>
          <a:xfrm>
            <a:off x="12508992" y="3703320"/>
            <a:ext cx="4352544" cy="3108960"/>
          </a:xfrm>
          <a:prstGeom prst="rect">
            <a:avLst/>
          </a:prstGeom>
          <a:ln w="9525">
            <a:solidFill>
              <a:srgbClr val="C9DCD6"/>
            </a:solidFill>
          </a:ln>
        </p:spPr>
      </p:pic>
      <p:sp>
        <p:nvSpPr>
          <p:cNvPr id="19" name="Mensaje clave 19"/>
          <p:cNvSpPr/>
          <p:nvPr/>
        </p:nvSpPr>
        <p:spPr>
          <a:xfrm>
            <a:off x="2286000" y="8357616"/>
            <a:ext cx="13716000" cy="512064"/>
          </a:xfrm>
          <a:prstGeom prst="roundRect">
            <a:avLst>
              <a:gd name="adj" fmla="val 50000"/>
            </a:avLst>
          </a:prstGeom>
          <a:solidFill>
            <a:srgbClr val="09534E"/>
          </a:solidFill>
          <a:ln>
            <a:noFill/>
          </a:ln>
          <a:effectLst>
            <a:outerShdw blurRad="50800" dist="25400" dir="5400000" algn="t" rotWithShape="0">
              <a:prstClr val="black">
                <a:alpha val="28000"/>
              </a:prstClr>
            </a:outerShdw>
          </a:effectLst>
        </p:spPr>
        <p:txBody>
          <a:bodyPr wrap="square" lIns="182880" tIns="0" rIns="182880" bIns="0" anchor="ctr">
            <a:noAutofit/>
          </a:bodyPr>
          <a:lstStyle/>
          <a:p>
            <a:pPr algn="ctr"/>
            <a:r>
              <a:rPr lang="es-ES" sz="2000" b="1" dirty="0">
                <a:solidFill>
                  <a:srgbClr val="7DE9B0"/>
                </a:solidFill>
                <a:latin typeface="Arial"/>
                <a:cs typeface="Arial"/>
              </a:rPr>
              <a:t xml:space="preserve">✓  Mismo dato, nombre de negocio: </a:t>
            </a:r>
            <a:r>
              <a:rPr lang="es-ES" sz="2000" b="1" dirty="0">
                <a:solidFill>
                  <a:srgbClr val="FFFFFF"/>
                </a:solidFill>
                <a:latin typeface="Arial"/>
                <a:cs typeface="Arial"/>
              </a:rPr>
              <a:t xml:space="preserve">así lo entienden usuarios y agentes de IA</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0704" y="566928"/>
            <a:ext cx="16184880" cy="1234440"/>
          </a:xfrm>
        </p:spPr>
        <p:txBody>
          <a:bodyPr/>
          <a:lstStyle/>
          <a:p>
            <a:r>
              <a:rPr sz="4000" b="1">
                <a:solidFill>
                  <a:srgbClr val="10635A"/>
                </a:solidFill>
                <a:latin typeface="Arial"/>
              </a:rPr>
              <a:t>Properties: enlazar cada campo a su origen en OneLake</a:t>
            </a:r>
          </a:p>
        </p:txBody>
      </p:sp>
      <p:sp>
        <p:nvSpPr>
          <p:cNvPr id="3" name="Rounded Rectangle 2"/>
          <p:cNvSpPr/>
          <p:nvPr/>
        </p:nvSpPr>
        <p:spPr>
          <a:xfrm>
            <a:off x="1060704" y="2011680"/>
            <a:ext cx="7863840" cy="1298448"/>
          </a:xfrm>
          <a:prstGeom prst="roundRect">
            <a:avLst>
              <a:gd name="adj" fmla="val 12000"/>
            </a:avLst>
          </a:prstGeom>
          <a:solidFill>
            <a:srgbClr val="E4F7E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Oval 3"/>
          <p:cNvSpPr/>
          <p:nvPr/>
        </p:nvSpPr>
        <p:spPr>
          <a:xfrm>
            <a:off x="1325880" y="2404872"/>
            <a:ext cx="502920" cy="502920"/>
          </a:xfrm>
          <a:prstGeom prst="ellipse">
            <a:avLst/>
          </a:prstGeom>
          <a:solidFill>
            <a:srgbClr val="10635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Arial"/>
              </a:rPr>
              <a:t>1</a:t>
            </a:r>
          </a:p>
        </p:txBody>
      </p:sp>
      <p:sp>
        <p:nvSpPr>
          <p:cNvPr id="5" name="TextBox 4"/>
          <p:cNvSpPr txBox="1"/>
          <p:nvPr/>
        </p:nvSpPr>
        <p:spPr>
          <a:xfrm>
            <a:off x="2103120" y="2194560"/>
            <a:ext cx="6675120" cy="411480"/>
          </a:xfrm>
          <a:prstGeom prst="rect">
            <a:avLst/>
          </a:prstGeom>
          <a:noFill/>
        </p:spPr>
        <p:txBody>
          <a:bodyPr wrap="square" lIns="0" tIns="0" rIns="0" bIns="0" anchor="t">
            <a:spAutoFit/>
          </a:bodyPr>
          <a:lstStyle/>
          <a:p>
            <a:pPr algn="l"/>
            <a:r>
              <a:rPr sz="1700" b="1" i="0">
                <a:solidFill>
                  <a:srgbClr val="10635A"/>
                </a:solidFill>
                <a:latin typeface="Arial"/>
              </a:rPr>
              <a:t>Administrar enlaces de propiedad</a:t>
            </a:r>
          </a:p>
        </p:txBody>
      </p:sp>
      <p:sp>
        <p:nvSpPr>
          <p:cNvPr id="6" name="TextBox 5"/>
          <p:cNvSpPr txBox="1"/>
          <p:nvPr/>
        </p:nvSpPr>
        <p:spPr>
          <a:xfrm>
            <a:off x="2103120" y="2615184"/>
            <a:ext cx="6675120" cy="640080"/>
          </a:xfrm>
          <a:prstGeom prst="rect">
            <a:avLst/>
          </a:prstGeom>
          <a:noFill/>
        </p:spPr>
        <p:txBody>
          <a:bodyPr wrap="square" lIns="0" tIns="0" rIns="0" bIns="0" anchor="t">
            <a:spAutoFit/>
          </a:bodyPr>
          <a:lstStyle/>
          <a:p>
            <a:pPr algn="l"/>
            <a:r>
              <a:rPr sz="1400" b="0" i="0">
                <a:solidFill>
                  <a:srgbClr val="2B3A38"/>
                </a:solidFill>
                <a:latin typeface="Arial"/>
              </a:rPr>
              <a:t>En la pestaña Configurar, abre el desplegable y elige “Agregar enlace y propiedades”.</a:t>
            </a:r>
          </a:p>
        </p:txBody>
      </p:sp>
      <p:sp>
        <p:nvSpPr>
          <p:cNvPr id="7" name="Rounded Rectangle 6"/>
          <p:cNvSpPr/>
          <p:nvPr/>
        </p:nvSpPr>
        <p:spPr>
          <a:xfrm>
            <a:off x="1060704" y="3493008"/>
            <a:ext cx="7863840" cy="1298448"/>
          </a:xfrm>
          <a:prstGeom prst="roundRect">
            <a:avLst>
              <a:gd name="adj" fmla="val 12000"/>
            </a:avLst>
          </a:prstGeom>
          <a:solidFill>
            <a:srgbClr val="E4F7E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Oval 7"/>
          <p:cNvSpPr/>
          <p:nvPr/>
        </p:nvSpPr>
        <p:spPr>
          <a:xfrm>
            <a:off x="1325880" y="3886200"/>
            <a:ext cx="502920" cy="502920"/>
          </a:xfrm>
          <a:prstGeom prst="ellipse">
            <a:avLst/>
          </a:prstGeom>
          <a:solidFill>
            <a:srgbClr val="10635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Arial"/>
              </a:rPr>
              <a:t>2</a:t>
            </a:r>
          </a:p>
        </p:txBody>
      </p:sp>
      <p:sp>
        <p:nvSpPr>
          <p:cNvPr id="9" name="TextBox 8"/>
          <p:cNvSpPr txBox="1"/>
          <p:nvPr/>
        </p:nvSpPr>
        <p:spPr>
          <a:xfrm>
            <a:off x="2103120" y="3675888"/>
            <a:ext cx="6675120" cy="411480"/>
          </a:xfrm>
          <a:prstGeom prst="rect">
            <a:avLst/>
          </a:prstGeom>
          <a:noFill/>
        </p:spPr>
        <p:txBody>
          <a:bodyPr wrap="square" lIns="0" tIns="0" rIns="0" bIns="0" anchor="t">
            <a:spAutoFit/>
          </a:bodyPr>
          <a:lstStyle/>
          <a:p>
            <a:pPr algn="l"/>
            <a:r>
              <a:rPr sz="1700" b="1" i="0">
                <a:solidFill>
                  <a:srgbClr val="10635A"/>
                </a:solidFill>
                <a:latin typeface="Arial"/>
              </a:rPr>
              <a:t>Elegir el tipo de enlace</a:t>
            </a:r>
          </a:p>
        </p:txBody>
      </p:sp>
      <p:sp>
        <p:nvSpPr>
          <p:cNvPr id="10" name="TextBox 9"/>
          <p:cNvSpPr txBox="1"/>
          <p:nvPr/>
        </p:nvSpPr>
        <p:spPr>
          <a:xfrm>
            <a:off x="2103120" y="4096512"/>
            <a:ext cx="6675120" cy="640080"/>
          </a:xfrm>
          <a:prstGeom prst="rect">
            <a:avLst/>
          </a:prstGeom>
          <a:noFill/>
        </p:spPr>
        <p:txBody>
          <a:bodyPr wrap="square" lIns="0" tIns="0" rIns="0" bIns="0" anchor="t">
            <a:spAutoFit/>
          </a:bodyPr>
          <a:lstStyle/>
          <a:p>
            <a:pPr algn="l"/>
            <a:r>
              <a:rPr sz="1400" b="0" i="0">
                <a:solidFill>
                  <a:srgbClr val="2B3A38"/>
                </a:solidFill>
                <a:latin typeface="Arial"/>
              </a:rPr>
              <a:t>Tabla de Lakehouse (recomendado) o tabla de centro de eventos / vista materializada.</a:t>
            </a:r>
          </a:p>
        </p:txBody>
      </p:sp>
      <p:sp>
        <p:nvSpPr>
          <p:cNvPr id="11" name="Rounded Rectangle 10"/>
          <p:cNvSpPr/>
          <p:nvPr/>
        </p:nvSpPr>
        <p:spPr>
          <a:xfrm>
            <a:off x="1060704" y="4974336"/>
            <a:ext cx="7863840" cy="1298448"/>
          </a:xfrm>
          <a:prstGeom prst="roundRect">
            <a:avLst>
              <a:gd name="adj" fmla="val 12000"/>
            </a:avLst>
          </a:prstGeom>
          <a:solidFill>
            <a:srgbClr val="E4F7E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Oval 11"/>
          <p:cNvSpPr/>
          <p:nvPr/>
        </p:nvSpPr>
        <p:spPr>
          <a:xfrm>
            <a:off x="1325880" y="5367528"/>
            <a:ext cx="502920" cy="502920"/>
          </a:xfrm>
          <a:prstGeom prst="ellipse">
            <a:avLst/>
          </a:prstGeom>
          <a:solidFill>
            <a:srgbClr val="10635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Arial"/>
              </a:rPr>
              <a:t>3</a:t>
            </a:r>
          </a:p>
        </p:txBody>
      </p:sp>
      <p:sp>
        <p:nvSpPr>
          <p:cNvPr id="13" name="TextBox 12"/>
          <p:cNvSpPr txBox="1"/>
          <p:nvPr/>
        </p:nvSpPr>
        <p:spPr>
          <a:xfrm>
            <a:off x="2103120" y="5157216"/>
            <a:ext cx="6675120" cy="411480"/>
          </a:xfrm>
          <a:prstGeom prst="rect">
            <a:avLst/>
          </a:prstGeom>
          <a:noFill/>
        </p:spPr>
        <p:txBody>
          <a:bodyPr wrap="square" lIns="0" tIns="0" rIns="0" bIns="0" anchor="t">
            <a:spAutoFit/>
          </a:bodyPr>
          <a:lstStyle/>
          <a:p>
            <a:pPr algn="l"/>
            <a:r>
              <a:rPr sz="1700" b="1" i="0">
                <a:solidFill>
                  <a:srgbClr val="10635A"/>
                </a:solidFill>
                <a:latin typeface="Arial"/>
              </a:rPr>
              <a:t>Seleccionar la tabla en el catálogo de OneLake</a:t>
            </a:r>
          </a:p>
        </p:txBody>
      </p:sp>
      <p:sp>
        <p:nvSpPr>
          <p:cNvPr id="14" name="TextBox 13"/>
          <p:cNvSpPr txBox="1"/>
          <p:nvPr/>
        </p:nvSpPr>
        <p:spPr>
          <a:xfrm>
            <a:off x="2103120" y="5577840"/>
            <a:ext cx="6675120" cy="640080"/>
          </a:xfrm>
          <a:prstGeom prst="rect">
            <a:avLst/>
          </a:prstGeom>
          <a:noFill/>
        </p:spPr>
        <p:txBody>
          <a:bodyPr wrap="square" lIns="0" tIns="0" rIns="0" bIns="0" anchor="t">
            <a:spAutoFit/>
          </a:bodyPr>
          <a:lstStyle/>
          <a:p>
            <a:pPr algn="l"/>
            <a:r>
              <a:rPr sz="1400" b="0" i="0">
                <a:solidFill>
                  <a:srgbClr val="2B3A38"/>
                </a:solidFill>
                <a:latin typeface="Arial"/>
              </a:rPr>
              <a:t>dlh_eolicas_galicia  ›  Tables  ›  gold  ›  D_Provincias</a:t>
            </a:r>
          </a:p>
        </p:txBody>
      </p:sp>
      <p:sp>
        <p:nvSpPr>
          <p:cNvPr id="15" name="Rounded Rectangle 14"/>
          <p:cNvSpPr/>
          <p:nvPr/>
        </p:nvSpPr>
        <p:spPr>
          <a:xfrm>
            <a:off x="1060704" y="6455664"/>
            <a:ext cx="7863840" cy="1298448"/>
          </a:xfrm>
          <a:prstGeom prst="roundRect">
            <a:avLst>
              <a:gd name="adj" fmla="val 12000"/>
            </a:avLst>
          </a:prstGeom>
          <a:solidFill>
            <a:srgbClr val="E4F7E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Oval 15"/>
          <p:cNvSpPr/>
          <p:nvPr/>
        </p:nvSpPr>
        <p:spPr>
          <a:xfrm>
            <a:off x="1325880" y="6848856"/>
            <a:ext cx="502920" cy="502920"/>
          </a:xfrm>
          <a:prstGeom prst="ellipse">
            <a:avLst/>
          </a:prstGeom>
          <a:solidFill>
            <a:srgbClr val="10635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Arial"/>
              </a:rPr>
              <a:t>4</a:t>
            </a:r>
          </a:p>
        </p:txBody>
      </p:sp>
      <p:sp>
        <p:nvSpPr>
          <p:cNvPr id="17" name="TextBox 16"/>
          <p:cNvSpPr txBox="1"/>
          <p:nvPr/>
        </p:nvSpPr>
        <p:spPr>
          <a:xfrm>
            <a:off x="2103120" y="6638544"/>
            <a:ext cx="6675120" cy="411480"/>
          </a:xfrm>
          <a:prstGeom prst="rect">
            <a:avLst/>
          </a:prstGeom>
          <a:noFill/>
        </p:spPr>
        <p:txBody>
          <a:bodyPr wrap="square" lIns="0" tIns="0" rIns="0" bIns="0" anchor="t">
            <a:spAutoFit/>
          </a:bodyPr>
          <a:lstStyle/>
          <a:p>
            <a:pPr algn="l"/>
            <a:r>
              <a:rPr sz="1700" b="1" i="0">
                <a:solidFill>
                  <a:srgbClr val="10635A"/>
                </a:solidFill>
                <a:latin typeface="Arial"/>
              </a:rPr>
              <a:t>Asignar clave y mapear columnas</a:t>
            </a:r>
          </a:p>
        </p:txBody>
      </p:sp>
      <p:sp>
        <p:nvSpPr>
          <p:cNvPr id="18" name="TextBox 17"/>
          <p:cNvSpPr txBox="1"/>
          <p:nvPr/>
        </p:nvSpPr>
        <p:spPr>
          <a:xfrm>
            <a:off x="2103120" y="7059168"/>
            <a:ext cx="6675120" cy="640080"/>
          </a:xfrm>
          <a:prstGeom prst="rect">
            <a:avLst/>
          </a:prstGeom>
          <a:noFill/>
        </p:spPr>
        <p:txBody>
          <a:bodyPr wrap="square" lIns="0" tIns="0" rIns="0" bIns="0" anchor="t">
            <a:spAutoFit/>
          </a:bodyPr>
          <a:lstStyle/>
          <a:p>
            <a:pPr algn="l"/>
            <a:r>
              <a:rPr sz="1400" b="0" i="0">
                <a:solidFill>
                  <a:srgbClr val="2B3A38"/>
                </a:solidFill>
                <a:latin typeface="Arial"/>
              </a:rPr>
              <a:t>Define la clave de la entidad (cod-prv) y asocia cada columna de origen a una propiedad.</a:t>
            </a:r>
          </a:p>
        </p:txBody>
      </p:sp>
      <p:sp>
        <p:nvSpPr>
          <p:cNvPr id="19" name="Rounded Rectangle 18"/>
          <p:cNvSpPr/>
          <p:nvPr/>
        </p:nvSpPr>
        <p:spPr>
          <a:xfrm>
            <a:off x="9326880" y="2011680"/>
            <a:ext cx="8046720" cy="5742432"/>
          </a:xfrm>
          <a:prstGeom prst="roundRect">
            <a:avLst>
              <a:gd name="adj" fmla="val 3000"/>
            </a:avLst>
          </a:prstGeom>
          <a:solidFill>
            <a:srgbClr val="FFFFFF"/>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0" name="Picture 19" descr="crop_17_0_0_640_618.png"/>
          <p:cNvPicPr>
            <a:picLocks noChangeAspect="1"/>
          </p:cNvPicPr>
          <p:nvPr/>
        </p:nvPicPr>
        <p:blipFill>
          <a:blip r:embed="rId3"/>
          <a:srcRect l="0" t="3236" r="50000" b="51456"/>
          <a:stretch>
            <a:fillRect/>
          </a:stretch>
        </p:blipFill>
        <p:spPr>
          <a:xfrm>
            <a:off x="9509760" y="2212848"/>
            <a:ext cx="2651760" cy="2320290"/>
          </a:xfrm>
          <a:prstGeom prst="rect">
            <a:avLst/>
          </a:prstGeom>
          <a:ln w="9525">
            <a:solidFill>
              <a:srgbClr val="C9DCD6"/>
            </a:solidFill>
          </a:ln>
          <a:effectLst>
            <a:outerShdw blurRad="50800" dist="38100" dir="2700000" algn="tl" rotWithShape="0">
              <a:prstClr val="black">
                <a:alpha val="40000"/>
              </a:prstClr>
            </a:outerShdw>
          </a:effectLst>
        </p:spPr>
      </p:pic>
      <p:sp>
        <p:nvSpPr>
          <p:cNvPr id="21" name="TextBox 20"/>
          <p:cNvSpPr txBox="1"/>
          <p:nvPr/>
        </p:nvSpPr>
        <p:spPr>
          <a:xfrm>
            <a:off x="9509760" y="4892040"/>
            <a:ext cx="2651760" cy="640080"/>
          </a:xfrm>
          <a:prstGeom prst="rect">
            <a:avLst/>
          </a:prstGeom>
          <a:noFill/>
        </p:spPr>
        <p:txBody>
          <a:bodyPr wrap="square" lIns="0" tIns="0" rIns="0" bIns="0" anchor="t">
            <a:spAutoFit/>
          </a:bodyPr>
          <a:lstStyle/>
          <a:p>
            <a:pPr algn="ctr"/>
            <a:r>
              <a:rPr sz="1100" b="0" i="0">
                <a:solidFill>
                  <a:srgbClr val="5F6F6C"/>
                </a:solidFill>
                <a:latin typeface="Arial"/>
              </a:rPr>
              <a:t>Catálogo de OneLake: tabla gold D_Provincias</a:t>
            </a:r>
          </a:p>
        </p:txBody>
      </p:sp>
      <p:pic>
        <p:nvPicPr>
          <p:cNvPr id="22" name="Picture 21" descr="image18.png"/>
          <p:cNvPicPr>
            <a:picLocks noChangeAspect="1"/>
          </p:cNvPicPr>
          <p:nvPr/>
        </p:nvPicPr>
        <p:blipFill>
          <a:blip r:embed="rId4"/>
          <a:srcRect l="0" t="36927" r="26791" b="0"/>
          <a:stretch>
            <a:fillRect/>
          </a:stretch>
        </p:blipFill>
        <p:spPr>
          <a:xfrm>
            <a:off x="12298680" y="2350008"/>
            <a:ext cx="4800600" cy="4361396"/>
          </a:xfrm>
          <a:prstGeom prst="rect">
            <a:avLst/>
          </a:prstGeom>
          <a:ln w="9525">
            <a:solidFill>
              <a:srgbClr val="C9DCD6"/>
            </a:solidFill>
          </a:ln>
          <a:effectLst>
            <a:outerShdw blurRad="50800" dist="38100" dir="2700000" algn="tl" rotWithShape="0">
              <a:prstClr val="black">
                <a:alpha val="40000"/>
              </a:prstClr>
            </a:outerShdw>
          </a:effectLst>
        </p:spPr>
      </p:pic>
      <p:sp>
        <p:nvSpPr>
          <p:cNvPr id="23" name="TextBox 22"/>
          <p:cNvSpPr txBox="1"/>
          <p:nvPr/>
        </p:nvSpPr>
        <p:spPr>
          <a:xfrm>
            <a:off x="9509760" y="5760720"/>
            <a:ext cx="2651760" cy="1828800"/>
          </a:xfrm>
          <a:prstGeom prst="rect">
            <a:avLst/>
          </a:prstGeom>
          <a:noFill/>
        </p:spPr>
        <p:txBody>
          <a:bodyPr wrap="square" lIns="0" tIns="0" rIns="0" bIns="0" anchor="t">
            <a:spAutoFit/>
          </a:bodyPr>
          <a:lstStyle/>
          <a:p>
            <a:pPr algn="l"/>
            <a:r>
              <a:rPr sz="1200" b="1" i="0">
                <a:solidFill>
                  <a:srgbClr val="10635A"/>
                </a:solidFill>
                <a:latin typeface="Arial"/>
              </a:rPr>
              <a:t>Resultado: </a:t>
            </a:r>
            <a:r>
              <a:rPr sz="1200" b="0" i="0">
                <a:solidFill>
                  <a:srgbClr val="2B3A38"/>
                </a:solidFill>
                <a:latin typeface="Arial"/>
              </a:rPr>
              <a:t>las propiedades cod-ca, id_provincia, nombre_ca, nombre_provincia… quedan enlazadas a D_Provincias.</a:t>
            </a:r>
          </a:p>
        </p:txBody>
      </p:sp>
      <p:sp>
        <p:nvSpPr>
          <p:cNvPr id="24" name="Mensaje clave 24"/>
          <p:cNvSpPr/>
          <p:nvPr/>
        </p:nvSpPr>
        <p:spPr>
          <a:xfrm>
            <a:off x="1828800" y="8229600"/>
            <a:ext cx="14630400" cy="512064"/>
          </a:xfrm>
          <a:prstGeom prst="roundRect">
            <a:avLst>
              <a:gd name="adj" fmla="val 50000"/>
            </a:avLst>
          </a:prstGeom>
          <a:solidFill>
            <a:srgbClr val="09534E"/>
          </a:solidFill>
          <a:ln>
            <a:noFill/>
          </a:ln>
          <a:effectLst>
            <a:outerShdw blurRad="50800" dist="25400" dir="5400000" algn="t" rotWithShape="0">
              <a:prstClr val="black">
                <a:alpha val="28000"/>
              </a:prstClr>
            </a:outerShdw>
          </a:effectLst>
        </p:spPr>
        <p:txBody>
          <a:bodyPr wrap="square" lIns="182880" tIns="0" rIns="182880" bIns="0" anchor="ctr">
            <a:noAutofit/>
          </a:bodyPr>
          <a:lstStyle/>
          <a:p>
            <a:pPr algn="ctr"/>
            <a:r>
              <a:rPr lang="es-ES" sz="2000" b="1" dirty="0">
                <a:solidFill>
                  <a:srgbClr val="7DE9B0"/>
                </a:solidFill>
                <a:latin typeface="Arial"/>
                <a:cs typeface="Arial"/>
              </a:rPr>
              <a:t xml:space="preserve">✓  El enlace es el puente: </a:t>
            </a:r>
            <a:r>
              <a:rPr lang="es-ES" sz="2000" b="1" dirty="0">
                <a:solidFill>
                  <a:srgbClr val="FFFFFF"/>
                </a:solidFill>
                <a:latin typeface="Arial"/>
                <a:cs typeface="Arial"/>
              </a:rPr>
              <a:t xml:space="preserve">la ontología no copia los datos, apunta a las tablas de OneLake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0704" y="566928"/>
            <a:ext cx="16184880" cy="1234440"/>
          </a:xfrm>
        </p:spPr>
        <p:txBody>
          <a:bodyPr/>
          <a:lstStyle/>
          <a:p>
            <a:r>
              <a:rPr sz="4000" b="1">
                <a:solidFill>
                  <a:srgbClr val="10635A"/>
                </a:solidFill>
                <a:latin typeface="Arial"/>
              </a:rPr>
              <a:t>Properties y metadatos: dar contexto</a:t>
            </a:r>
          </a:p>
        </p:txBody>
      </p:sp>
      <p:sp>
        <p:nvSpPr>
          <p:cNvPr id="3" name="Rounded Rectangle 2"/>
          <p:cNvSpPr/>
          <p:nvPr/>
        </p:nvSpPr>
        <p:spPr>
          <a:xfrm>
            <a:off x="1060704" y="2011680"/>
            <a:ext cx="5120640" cy="6035040"/>
          </a:xfrm>
          <a:prstGeom prst="roundRect">
            <a:avLst>
              <a:gd name="adj" fmla="val 5000"/>
            </a:avLst>
          </a:prstGeom>
          <a:solidFill>
            <a:srgbClr val="E4F7E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Oval 3"/>
          <p:cNvSpPr/>
          <p:nvPr/>
        </p:nvSpPr>
        <p:spPr>
          <a:xfrm>
            <a:off x="1335024" y="2240280"/>
            <a:ext cx="640080" cy="640080"/>
          </a:xfrm>
          <a:prstGeom prst="ellipse">
            <a:avLst/>
          </a:prstGeom>
          <a:solidFill>
            <a:srgbClr val="106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5" name="Picture 4" descr="info_w.png"/>
          <p:cNvPicPr>
            <a:picLocks noChangeAspect="1"/>
          </p:cNvPicPr>
          <p:nvPr/>
        </p:nvPicPr>
        <p:blipFill>
          <a:blip r:embed="rId3"/>
          <a:stretch>
            <a:fillRect/>
          </a:stretch>
        </p:blipFill>
        <p:spPr>
          <a:xfrm>
            <a:off x="1495044" y="2400300"/>
            <a:ext cx="320040" cy="320040"/>
          </a:xfrm>
          <a:prstGeom prst="rect">
            <a:avLst/>
          </a:prstGeom>
        </p:spPr>
      </p:pic>
      <p:sp>
        <p:nvSpPr>
          <p:cNvPr id="6" name="TextBox 5"/>
          <p:cNvSpPr txBox="1"/>
          <p:nvPr/>
        </p:nvSpPr>
        <p:spPr>
          <a:xfrm>
            <a:off x="2157984" y="2240280"/>
            <a:ext cx="3840480" cy="640080"/>
          </a:xfrm>
          <a:prstGeom prst="rect">
            <a:avLst/>
          </a:prstGeom>
          <a:noFill/>
        </p:spPr>
        <p:txBody>
          <a:bodyPr wrap="square" lIns="0" tIns="0" rIns="0" bIns="0" anchor="ctr">
            <a:spAutoFit/>
          </a:bodyPr>
          <a:lstStyle/>
          <a:p>
            <a:pPr algn="l"/>
            <a:r>
              <a:rPr sz="1800" b="1" i="0">
                <a:solidFill>
                  <a:srgbClr val="10635A"/>
                </a:solidFill>
                <a:latin typeface="Arial"/>
              </a:rPr>
              <a:t>Descripción por Property</a:t>
            </a:r>
          </a:p>
        </p:txBody>
      </p:sp>
      <p:sp>
        <p:nvSpPr>
          <p:cNvPr id="7" name="TextBox 6"/>
          <p:cNvSpPr txBox="1"/>
          <p:nvPr/>
        </p:nvSpPr>
        <p:spPr>
          <a:xfrm>
            <a:off x="1335024" y="3063240"/>
            <a:ext cx="4572000" cy="1417320"/>
          </a:xfrm>
          <a:prstGeom prst="rect">
            <a:avLst/>
          </a:prstGeom>
          <a:noFill/>
        </p:spPr>
        <p:txBody>
          <a:bodyPr wrap="square" lIns="0" tIns="0" rIns="0" bIns="0" anchor="t">
            <a:spAutoFit/>
          </a:bodyPr>
          <a:lstStyle/>
          <a:p>
            <a:pPr algn="l"/>
            <a:r>
              <a:rPr sz="1400" b="0" i="0">
                <a:solidFill>
                  <a:srgbClr val="2B3A38"/>
                </a:solidFill>
                <a:latin typeface="Arial"/>
              </a:rPr>
              <a:t>Tras el enlace, edita cada propiedad y añade una descripción (p. ej. nombre_ca: “Nombre de la comunidad autónoma…”).</a:t>
            </a:r>
          </a:p>
        </p:txBody>
      </p:sp>
      <p:sp>
        <p:nvSpPr>
          <p:cNvPr id="8" name="Rounded Rectangle 7"/>
          <p:cNvSpPr/>
          <p:nvPr/>
        </p:nvSpPr>
        <p:spPr>
          <a:xfrm>
            <a:off x="1335024" y="3913632"/>
            <a:ext cx="4572000" cy="2938527"/>
          </a:xfrm>
          <a:prstGeom prst="roundRect">
            <a:avLst>
              <a:gd name="adj" fmla="val 4000"/>
            </a:avLst>
          </a:prstGeom>
          <a:solidFill>
            <a:srgbClr val="FFFFFF"/>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9" name="Picture 8" descr="crop_19_230_90_1092_625.png"/>
          <p:cNvPicPr>
            <a:picLocks noChangeAspect="1"/>
          </p:cNvPicPr>
          <p:nvPr/>
        </p:nvPicPr>
        <p:blipFill>
          <a:blip r:embed="rId4"/>
          <a:srcRect l="45243" t="29532" r="4988" b="20373"/>
          <a:stretch>
            <a:fillRect/>
          </a:stretch>
        </p:blipFill>
        <p:spPr>
          <a:xfrm>
            <a:off x="1444752" y="4023360"/>
            <a:ext cx="4352544" cy="2719071"/>
          </a:xfrm>
          <a:prstGeom prst="rect">
            <a:avLst/>
          </a:prstGeom>
          <a:ln w="9525">
            <a:solidFill>
              <a:srgbClr val="C9DCD6"/>
            </a:solidFill>
          </a:ln>
        </p:spPr>
      </p:pic>
      <p:sp>
        <p:nvSpPr>
          <p:cNvPr id="10" name="Rounded Rectangle 9"/>
          <p:cNvSpPr/>
          <p:nvPr/>
        </p:nvSpPr>
        <p:spPr>
          <a:xfrm>
            <a:off x="6592824" y="2011680"/>
            <a:ext cx="5120640" cy="6035040"/>
          </a:xfrm>
          <a:prstGeom prst="roundRect">
            <a:avLst>
              <a:gd name="adj" fmla="val 5000"/>
            </a:avLst>
          </a:prstGeom>
          <a:solidFill>
            <a:srgbClr val="E4F7E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Oval 10"/>
          <p:cNvSpPr/>
          <p:nvPr/>
        </p:nvSpPr>
        <p:spPr>
          <a:xfrm>
            <a:off x="6867144" y="2240280"/>
            <a:ext cx="640080" cy="640080"/>
          </a:xfrm>
          <a:prstGeom prst="ellipse">
            <a:avLst/>
          </a:prstGeom>
          <a:solidFill>
            <a:srgbClr val="106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2" name="Picture 11" descr="tags_w.png"/>
          <p:cNvPicPr>
            <a:picLocks noChangeAspect="1"/>
          </p:cNvPicPr>
          <p:nvPr/>
        </p:nvPicPr>
        <p:blipFill>
          <a:blip r:embed="rId5"/>
          <a:stretch>
            <a:fillRect/>
          </a:stretch>
        </p:blipFill>
        <p:spPr>
          <a:xfrm>
            <a:off x="7027164" y="2400300"/>
            <a:ext cx="320040" cy="320040"/>
          </a:xfrm>
          <a:prstGeom prst="rect">
            <a:avLst/>
          </a:prstGeom>
        </p:spPr>
      </p:pic>
      <p:sp>
        <p:nvSpPr>
          <p:cNvPr id="13" name="TextBox 12"/>
          <p:cNvSpPr txBox="1"/>
          <p:nvPr/>
        </p:nvSpPr>
        <p:spPr>
          <a:xfrm>
            <a:off x="7690104" y="2240280"/>
            <a:ext cx="3840480" cy="640080"/>
          </a:xfrm>
          <a:prstGeom prst="rect">
            <a:avLst/>
          </a:prstGeom>
          <a:noFill/>
        </p:spPr>
        <p:txBody>
          <a:bodyPr wrap="square" lIns="0" tIns="0" rIns="0" bIns="0" anchor="ctr">
            <a:spAutoFit/>
          </a:bodyPr>
          <a:lstStyle/>
          <a:p>
            <a:pPr algn="l"/>
            <a:r>
              <a:rPr sz="1800" b="1" i="0">
                <a:solidFill>
                  <a:srgbClr val="10635A"/>
                </a:solidFill>
                <a:latin typeface="Arial"/>
              </a:rPr>
              <a:t>Metadatos del Entity Type</a:t>
            </a:r>
          </a:p>
        </p:txBody>
      </p:sp>
      <p:sp>
        <p:nvSpPr>
          <p:cNvPr id="14" name="TextBox 13"/>
          <p:cNvSpPr txBox="1"/>
          <p:nvPr/>
        </p:nvSpPr>
        <p:spPr>
          <a:xfrm>
            <a:off x="6867144" y="3063240"/>
            <a:ext cx="4572000" cy="1417320"/>
          </a:xfrm>
          <a:prstGeom prst="rect">
            <a:avLst/>
          </a:prstGeom>
          <a:noFill/>
        </p:spPr>
        <p:txBody>
          <a:bodyPr wrap="square" lIns="0" tIns="0" rIns="0" bIns="0" anchor="t">
            <a:spAutoFit/>
          </a:bodyPr>
          <a:lstStyle/>
          <a:p>
            <a:pPr algn="l"/>
            <a:r>
              <a:rPr sz="1400" b="0" i="0">
                <a:solidFill>
                  <a:srgbClr val="2B3A38"/>
                </a:solidFill>
                <a:latin typeface="Arial"/>
              </a:rPr>
              <a:t>Descripción, sinónimos y metadatos adicionales. Ej.: Propietarios → “Responsable”, “Empresa”; Provincias → “prov”, “provincia”.</a:t>
            </a:r>
          </a:p>
        </p:txBody>
      </p:sp>
      <p:sp>
        <p:nvSpPr>
          <p:cNvPr id="15" name="Rounded Rectangle 14"/>
          <p:cNvSpPr/>
          <p:nvPr/>
        </p:nvSpPr>
        <p:spPr>
          <a:xfrm>
            <a:off x="6867144" y="3913632"/>
            <a:ext cx="4572000" cy="2134575"/>
          </a:xfrm>
          <a:prstGeom prst="roundRect">
            <a:avLst>
              <a:gd name="adj" fmla="val 4000"/>
            </a:avLst>
          </a:prstGeom>
          <a:solidFill>
            <a:srgbClr val="FFFFFF"/>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6" name="Picture 15" descr="crop_9_0_500_660_720.png"/>
          <p:cNvPicPr>
            <a:picLocks noChangeAspect="1"/>
          </p:cNvPicPr>
          <p:nvPr/>
        </p:nvPicPr>
        <p:blipFill>
          <a:blip r:embed="rId6"/>
          <a:srcRect l="0" t="0" r="24242" b="0"/>
          <a:stretch>
            <a:fillRect/>
          </a:stretch>
        </p:blipFill>
        <p:spPr>
          <a:xfrm>
            <a:off x="6976872" y="4023360"/>
            <a:ext cx="4352544" cy="1915119"/>
          </a:xfrm>
          <a:prstGeom prst="rect">
            <a:avLst/>
          </a:prstGeom>
          <a:ln w="9525">
            <a:solidFill>
              <a:srgbClr val="C9DCD6"/>
            </a:solidFill>
          </a:ln>
        </p:spPr>
      </p:pic>
      <p:sp>
        <p:nvSpPr>
          <p:cNvPr id="17" name="Rounded Rectangle 16"/>
          <p:cNvSpPr/>
          <p:nvPr/>
        </p:nvSpPr>
        <p:spPr>
          <a:xfrm>
            <a:off x="12124944" y="2011680"/>
            <a:ext cx="5120640" cy="6035040"/>
          </a:xfrm>
          <a:prstGeom prst="roundRect">
            <a:avLst>
              <a:gd name="adj" fmla="val 5000"/>
            </a:avLst>
          </a:prstGeom>
          <a:solidFill>
            <a:srgbClr val="E4F7E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Oval 17"/>
          <p:cNvSpPr/>
          <p:nvPr/>
        </p:nvSpPr>
        <p:spPr>
          <a:xfrm>
            <a:off x="12399264" y="2240280"/>
            <a:ext cx="640080" cy="640080"/>
          </a:xfrm>
          <a:prstGeom prst="ellipse">
            <a:avLst/>
          </a:prstGeom>
          <a:solidFill>
            <a:srgbClr val="106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9" name="Picture 18" descr="chart_w.png"/>
          <p:cNvPicPr>
            <a:picLocks noChangeAspect="1"/>
          </p:cNvPicPr>
          <p:nvPr/>
        </p:nvPicPr>
        <p:blipFill>
          <a:blip r:embed="rId7"/>
          <a:stretch>
            <a:fillRect/>
          </a:stretch>
        </p:blipFill>
        <p:spPr>
          <a:xfrm>
            <a:off x="12559284" y="2400300"/>
            <a:ext cx="320040" cy="320040"/>
          </a:xfrm>
          <a:prstGeom prst="rect">
            <a:avLst/>
          </a:prstGeom>
        </p:spPr>
      </p:pic>
      <p:sp>
        <p:nvSpPr>
          <p:cNvPr id="20" name="TextBox 19"/>
          <p:cNvSpPr txBox="1"/>
          <p:nvPr/>
        </p:nvSpPr>
        <p:spPr>
          <a:xfrm>
            <a:off x="13222224" y="2240280"/>
            <a:ext cx="3840480" cy="640080"/>
          </a:xfrm>
          <a:prstGeom prst="rect">
            <a:avLst/>
          </a:prstGeom>
          <a:noFill/>
        </p:spPr>
        <p:txBody>
          <a:bodyPr wrap="square" lIns="0" tIns="0" rIns="0" bIns="0" anchor="ctr">
            <a:spAutoFit/>
          </a:bodyPr>
          <a:lstStyle/>
          <a:p>
            <a:pPr algn="l"/>
            <a:r>
              <a:rPr sz="1800" b="1" i="0">
                <a:solidFill>
                  <a:srgbClr val="10635A"/>
                </a:solidFill>
                <a:latin typeface="Arial"/>
              </a:rPr>
              <a:t>Recursos relacionados</a:t>
            </a:r>
          </a:p>
        </p:txBody>
      </p:sp>
      <p:sp>
        <p:nvSpPr>
          <p:cNvPr id="21" name="TextBox 20"/>
          <p:cNvSpPr txBox="1"/>
          <p:nvPr/>
        </p:nvSpPr>
        <p:spPr>
          <a:xfrm>
            <a:off x="12399264" y="3063240"/>
            <a:ext cx="4572000" cy="1417320"/>
          </a:xfrm>
          <a:prstGeom prst="rect">
            <a:avLst/>
          </a:prstGeom>
          <a:noFill/>
        </p:spPr>
        <p:txBody>
          <a:bodyPr wrap="square" lIns="0" tIns="0" rIns="0" bIns="0" anchor="t">
            <a:spAutoFit/>
          </a:bodyPr>
          <a:lstStyle/>
          <a:p>
            <a:pPr algn="l"/>
            <a:r>
              <a:rPr sz="1400" b="0" i="0">
                <a:solidFill>
                  <a:srgbClr val="2B3A38"/>
                </a:solidFill>
                <a:latin typeface="Arial"/>
              </a:rPr>
              <a:t>Enlaza informes de Power BI u otros recursos para acceder a contenido relevante desde la propia entidad.</a:t>
            </a:r>
          </a:p>
        </p:txBody>
      </p:sp>
      <p:sp>
        <p:nvSpPr>
          <p:cNvPr id="22" name="Rounded Rectangle 21"/>
          <p:cNvSpPr/>
          <p:nvPr/>
        </p:nvSpPr>
        <p:spPr>
          <a:xfrm>
            <a:off x="12399264" y="3913632"/>
            <a:ext cx="4572000" cy="1485650"/>
          </a:xfrm>
          <a:prstGeom prst="roundRect">
            <a:avLst>
              <a:gd name="adj" fmla="val 4000"/>
            </a:avLst>
          </a:prstGeom>
          <a:solidFill>
            <a:srgbClr val="FFFFFF"/>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3" name="Picture 22" descr="crop_21_0_665_330_761.png"/>
          <p:cNvPicPr>
            <a:picLocks noChangeAspect="1"/>
          </p:cNvPicPr>
          <p:nvPr/>
        </p:nvPicPr>
        <p:blipFill>
          <a:blip r:embed="rId8"/>
          <a:srcRect l="0" t="0" r="0" b="0"/>
          <a:stretch>
            <a:fillRect/>
          </a:stretch>
        </p:blipFill>
        <p:spPr>
          <a:xfrm>
            <a:off x="12508992" y="4023360"/>
            <a:ext cx="4352544" cy="1266194"/>
          </a:xfrm>
          <a:prstGeom prst="rect">
            <a:avLst/>
          </a:prstGeom>
          <a:ln w="9525">
            <a:solidFill>
              <a:srgbClr val="C9DCD6"/>
            </a:solidFill>
          </a:ln>
        </p:spPr>
      </p:pic>
      <p:sp>
        <p:nvSpPr>
          <p:cNvPr id="24" name="Mensaje clave 24"/>
          <p:cNvSpPr/>
          <p:nvPr/>
        </p:nvSpPr>
        <p:spPr>
          <a:xfrm>
            <a:off x="1828800" y="8357616"/>
            <a:ext cx="14630400" cy="512064"/>
          </a:xfrm>
          <a:prstGeom prst="roundRect">
            <a:avLst>
              <a:gd name="adj" fmla="val 50000"/>
            </a:avLst>
          </a:prstGeom>
          <a:solidFill>
            <a:srgbClr val="09534E"/>
          </a:solidFill>
          <a:ln>
            <a:noFill/>
          </a:ln>
          <a:effectLst>
            <a:outerShdw blurRad="50800" dist="25400" dir="5400000" algn="t" rotWithShape="0">
              <a:prstClr val="black">
                <a:alpha val="28000"/>
              </a:prstClr>
            </a:outerShdw>
          </a:effectLst>
        </p:spPr>
        <p:txBody>
          <a:bodyPr wrap="square" lIns="182880" tIns="0" rIns="182880" bIns="0" anchor="ctr">
            <a:noAutofit/>
          </a:bodyPr>
          <a:lstStyle/>
          <a:p>
            <a:pPr algn="ctr"/>
            <a:r>
              <a:rPr lang="es-ES" sz="2000" b="1" dirty="0">
                <a:solidFill>
                  <a:srgbClr val="7DE9B0"/>
                </a:solidFill>
                <a:latin typeface="Arial"/>
                <a:cs typeface="Arial"/>
              </a:rPr>
              <a:t xml:space="preserve">✓  Cuanto más rico el metadato, </a:t>
            </a:r>
            <a:r>
              <a:rPr lang="es-ES" sz="2000" b="1" dirty="0">
                <a:solidFill>
                  <a:srgbClr val="FFFFFF"/>
                </a:solidFill>
                <a:latin typeface="Arial"/>
                <a:cs typeface="Arial"/>
              </a:rPr>
              <a:t xml:space="preserve">mejor interpretan la ontología las personas y los agentes de IA</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0704" y="566928"/>
            <a:ext cx="16184880" cy="1234440"/>
          </a:xfrm>
        </p:spPr>
        <p:txBody>
          <a:bodyPr/>
          <a:lstStyle/>
          <a:p>
            <a:r>
              <a:rPr sz="4000" b="1">
                <a:solidFill>
                  <a:srgbClr val="10635A"/>
                </a:solidFill>
                <a:latin typeface="Arial"/>
              </a:rPr>
              <a:t>Relationships: conectar los Entity Types</a:t>
            </a:r>
          </a:p>
        </p:txBody>
      </p:sp>
      <p:sp>
        <p:nvSpPr>
          <p:cNvPr id="3" name="TextBox 2"/>
          <p:cNvSpPr txBox="1"/>
          <p:nvPr/>
        </p:nvSpPr>
        <p:spPr>
          <a:xfrm>
            <a:off x="1060704" y="1783080"/>
            <a:ext cx="16184880" cy="457200"/>
          </a:xfrm>
          <a:prstGeom prst="rect">
            <a:avLst/>
          </a:prstGeom>
          <a:noFill/>
        </p:spPr>
        <p:txBody>
          <a:bodyPr wrap="square" lIns="0" tIns="0" rIns="0" bIns="0" anchor="t">
            <a:spAutoFit/>
          </a:bodyPr>
          <a:lstStyle/>
          <a:p>
            <a:pPr algn="l"/>
            <a:r>
              <a:rPr sz="1700" b="0" i="0">
                <a:solidFill>
                  <a:srgbClr val="2B3A38"/>
                </a:solidFill>
                <a:latin typeface="Arial"/>
              </a:rPr>
              <a:t>Se crean con </a:t>
            </a:r>
            <a:r>
              <a:rPr sz="1700" b="1" i="0">
                <a:solidFill>
                  <a:srgbClr val="10635A"/>
                </a:solidFill>
                <a:latin typeface="Arial"/>
              </a:rPr>
              <a:t>+ Agregar relación</a:t>
            </a:r>
            <a:r>
              <a:rPr sz="1700" b="0" i="0">
                <a:solidFill>
                  <a:srgbClr val="2B3A38"/>
                </a:solidFill>
                <a:latin typeface="Arial"/>
              </a:rPr>
              <a:t> en la barra del canvas o desde </a:t>
            </a:r>
            <a:r>
              <a:rPr sz="1700" b="1" i="0">
                <a:solidFill>
                  <a:srgbClr val="10635A"/>
                </a:solidFill>
                <a:latin typeface="Arial"/>
              </a:rPr>
              <a:t>Administrar relaciones</a:t>
            </a:r>
            <a:r>
              <a:rPr sz="1700" b="0" i="0">
                <a:solidFill>
                  <a:srgbClr val="2B3A38"/>
                </a:solidFill>
                <a:latin typeface="Arial"/>
              </a:rPr>
              <a:t> en la ficha de la entidad.</a:t>
            </a:r>
          </a:p>
        </p:txBody>
      </p:sp>
      <p:sp>
        <p:nvSpPr>
          <p:cNvPr id="4" name="Rounded Rectangle 3"/>
          <p:cNvSpPr/>
          <p:nvPr/>
        </p:nvSpPr>
        <p:spPr>
          <a:xfrm>
            <a:off x="1060704" y="2423160"/>
            <a:ext cx="4846320" cy="2103120"/>
          </a:xfrm>
          <a:prstGeom prst="roundRect">
            <a:avLst>
              <a:gd name="adj" fmla="val 8000"/>
            </a:avLst>
          </a:prstGeom>
          <a:solidFill>
            <a:srgbClr val="E4F7E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Oval 4"/>
          <p:cNvSpPr/>
          <p:nvPr/>
        </p:nvSpPr>
        <p:spPr>
          <a:xfrm>
            <a:off x="1289304" y="2606040"/>
            <a:ext cx="548640" cy="548640"/>
          </a:xfrm>
          <a:prstGeom prst="ellipse">
            <a:avLst/>
          </a:prstGeom>
          <a:solidFill>
            <a:srgbClr val="106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6" name="Picture 5" descr="cube_w.png"/>
          <p:cNvPicPr>
            <a:picLocks noChangeAspect="1"/>
          </p:cNvPicPr>
          <p:nvPr/>
        </p:nvPicPr>
        <p:blipFill>
          <a:blip r:embed="rId3"/>
          <a:stretch>
            <a:fillRect/>
          </a:stretch>
        </p:blipFill>
        <p:spPr>
          <a:xfrm>
            <a:off x="1426463" y="2743200"/>
            <a:ext cx="274320" cy="274320"/>
          </a:xfrm>
          <a:prstGeom prst="rect">
            <a:avLst/>
          </a:prstGeom>
        </p:spPr>
      </p:pic>
      <p:sp>
        <p:nvSpPr>
          <p:cNvPr id="7" name="TextBox 6"/>
          <p:cNvSpPr txBox="1"/>
          <p:nvPr/>
        </p:nvSpPr>
        <p:spPr>
          <a:xfrm>
            <a:off x="1975104" y="2606040"/>
            <a:ext cx="3749039" cy="548640"/>
          </a:xfrm>
          <a:prstGeom prst="rect">
            <a:avLst/>
          </a:prstGeom>
          <a:noFill/>
        </p:spPr>
        <p:txBody>
          <a:bodyPr wrap="square" lIns="0" tIns="0" rIns="0" bIns="0" anchor="ctr">
            <a:spAutoFit/>
          </a:bodyPr>
          <a:lstStyle/>
          <a:p>
            <a:pPr algn="l"/>
            <a:r>
              <a:rPr sz="1700" b="1" i="0">
                <a:solidFill>
                  <a:srgbClr val="10635A"/>
                </a:solidFill>
                <a:latin typeface="Arial"/>
              </a:rPr>
              <a:t>Entity Type de origen</a:t>
            </a:r>
          </a:p>
        </p:txBody>
      </p:sp>
      <p:sp>
        <p:nvSpPr>
          <p:cNvPr id="8" name="TextBox 7"/>
          <p:cNvSpPr txBox="1"/>
          <p:nvPr/>
        </p:nvSpPr>
        <p:spPr>
          <a:xfrm>
            <a:off x="1335024" y="3291840"/>
            <a:ext cx="4389120" cy="1371600"/>
          </a:xfrm>
          <a:prstGeom prst="rect">
            <a:avLst/>
          </a:prstGeom>
          <a:noFill/>
        </p:spPr>
        <p:txBody>
          <a:bodyPr wrap="square" lIns="0" tIns="0" rIns="0" bIns="0" anchor="t">
            <a:spAutoFit/>
          </a:bodyPr>
          <a:lstStyle/>
          <a:p>
            <a:pPr algn="l">
              <a:spcAft>
                <a:spcPts val="300"/>
              </a:spcAft>
            </a:pPr>
            <a:r>
              <a:rPr sz="1300" b="1" i="0">
                <a:solidFill>
                  <a:srgbClr val="2B3A38"/>
                </a:solidFill>
                <a:latin typeface="Arial"/>
              </a:rPr>
              <a:t>Instalaciones</a:t>
            </a:r>
          </a:p>
          <a:p>
            <a:pPr algn="l">
              <a:spcAft>
                <a:spcPts val="300"/>
              </a:spcAft>
            </a:pPr>
            <a:r>
              <a:rPr sz="1300" b="0" i="0">
                <a:solidFill>
                  <a:srgbClr val="2B3A38"/>
                </a:solidFill>
                <a:latin typeface="Arial"/>
              </a:rPr>
              <a:t>Clave: Id_Instalacion</a:t>
            </a:r>
          </a:p>
          <a:p>
            <a:pPr algn="l">
              <a:spcAft>
                <a:spcPts val="300"/>
              </a:spcAft>
            </a:pPr>
            <a:r>
              <a:rPr sz="1300" b="0" i="0">
                <a:solidFill>
                  <a:srgbClr val="2B3A38"/>
                </a:solidFill>
                <a:latin typeface="Arial"/>
              </a:rPr>
              <a:t>Tabla: D_Instalaciones</a:t>
            </a:r>
          </a:p>
        </p:txBody>
      </p:sp>
      <p:cxnSp>
        <p:nvCxnSpPr>
          <p:cNvPr id="9" name="Connector 8"/>
          <p:cNvCxnSpPr/>
          <p:nvPr/>
        </p:nvCxnSpPr>
        <p:spPr>
          <a:xfrm>
            <a:off x="6016752" y="3474720"/>
            <a:ext cx="603504" cy="0"/>
          </a:xfrm>
          <a:prstGeom prst="line">
            <a:avLst/>
          </a:prstGeom>
          <a:ln w="31750">
            <a:solidFill>
              <a:srgbClr val="1063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6729984" y="2423160"/>
            <a:ext cx="4846320" cy="2103120"/>
          </a:xfrm>
          <a:prstGeom prst="roundRect">
            <a:avLst>
              <a:gd name="adj" fmla="val 8000"/>
            </a:avLst>
          </a:prstGeom>
          <a:solidFill>
            <a:srgbClr val="E8B84A"/>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Oval 10"/>
          <p:cNvSpPr/>
          <p:nvPr/>
        </p:nvSpPr>
        <p:spPr>
          <a:xfrm>
            <a:off x="6958584" y="2606040"/>
            <a:ext cx="548640" cy="548640"/>
          </a:xfrm>
          <a:prstGeom prst="ellipse">
            <a:avLst/>
          </a:prstGeom>
          <a:solidFill>
            <a:srgbClr val="106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2" name="Picture 11" descr="share_w.png"/>
          <p:cNvPicPr>
            <a:picLocks noChangeAspect="1"/>
          </p:cNvPicPr>
          <p:nvPr/>
        </p:nvPicPr>
        <p:blipFill>
          <a:blip r:embed="rId4"/>
          <a:stretch>
            <a:fillRect/>
          </a:stretch>
        </p:blipFill>
        <p:spPr>
          <a:xfrm>
            <a:off x="7095744" y="2743200"/>
            <a:ext cx="274320" cy="274320"/>
          </a:xfrm>
          <a:prstGeom prst="rect">
            <a:avLst/>
          </a:prstGeom>
        </p:spPr>
      </p:pic>
      <p:sp>
        <p:nvSpPr>
          <p:cNvPr id="13" name="TextBox 12"/>
          <p:cNvSpPr txBox="1"/>
          <p:nvPr/>
        </p:nvSpPr>
        <p:spPr>
          <a:xfrm>
            <a:off x="7644383" y="2606040"/>
            <a:ext cx="3749039" cy="548640"/>
          </a:xfrm>
          <a:prstGeom prst="rect">
            <a:avLst/>
          </a:prstGeom>
          <a:noFill/>
        </p:spPr>
        <p:txBody>
          <a:bodyPr wrap="square" lIns="0" tIns="0" rIns="0" bIns="0" anchor="ctr">
            <a:spAutoFit/>
          </a:bodyPr>
          <a:lstStyle/>
          <a:p>
            <a:pPr algn="l"/>
            <a:r>
              <a:rPr sz="1700" b="1" i="0">
                <a:solidFill>
                  <a:srgbClr val="10635A"/>
                </a:solidFill>
                <a:latin typeface="Arial"/>
              </a:rPr>
              <a:t>Relationship</a:t>
            </a:r>
          </a:p>
        </p:txBody>
      </p:sp>
      <p:sp>
        <p:nvSpPr>
          <p:cNvPr id="14" name="TextBox 13"/>
          <p:cNvSpPr txBox="1"/>
          <p:nvPr/>
        </p:nvSpPr>
        <p:spPr>
          <a:xfrm>
            <a:off x="7004304" y="3291840"/>
            <a:ext cx="4389120" cy="1371600"/>
          </a:xfrm>
          <a:prstGeom prst="rect">
            <a:avLst/>
          </a:prstGeom>
          <a:noFill/>
        </p:spPr>
        <p:txBody>
          <a:bodyPr wrap="square" lIns="0" tIns="0" rIns="0" bIns="0" anchor="t">
            <a:spAutoFit/>
          </a:bodyPr>
          <a:lstStyle/>
          <a:p>
            <a:pPr algn="l">
              <a:spcAft>
                <a:spcPts val="300"/>
              </a:spcAft>
            </a:pPr>
            <a:r>
              <a:rPr sz="1300" b="1" i="0">
                <a:solidFill>
                  <a:srgbClr val="2B3A38"/>
                </a:solidFill>
                <a:latin typeface="Arial"/>
              </a:rPr>
              <a:t>D_Instalaciones_has_D_Propietarios…</a:t>
            </a:r>
          </a:p>
          <a:p>
            <a:pPr algn="l">
              <a:spcAft>
                <a:spcPts val="300"/>
              </a:spcAft>
            </a:pPr>
            <a:r>
              <a:rPr sz="1300" b="0" i="0">
                <a:solidFill>
                  <a:srgbClr val="2B3A38"/>
                </a:solidFill>
                <a:latin typeface="Arial"/>
              </a:rPr>
              <a:t>Tabla de asignación: D_Propietarios_Instalaciones</a:t>
            </a:r>
          </a:p>
          <a:p>
            <a:pPr algn="l">
              <a:spcAft>
                <a:spcPts val="300"/>
              </a:spcAft>
            </a:pPr>
            <a:r>
              <a:rPr sz="1300" b="0" i="0">
                <a:solidFill>
                  <a:srgbClr val="2B3A38"/>
                </a:solidFill>
                <a:latin typeface="Arial"/>
              </a:rPr>
              <a:t>Columnas coincidentes con cada clave</a:t>
            </a:r>
          </a:p>
        </p:txBody>
      </p:sp>
      <p:cxnSp>
        <p:nvCxnSpPr>
          <p:cNvPr id="15" name="Connector 14"/>
          <p:cNvCxnSpPr/>
          <p:nvPr/>
        </p:nvCxnSpPr>
        <p:spPr>
          <a:xfrm>
            <a:off x="11686032" y="3474720"/>
            <a:ext cx="603504" cy="0"/>
          </a:xfrm>
          <a:prstGeom prst="line">
            <a:avLst/>
          </a:prstGeom>
          <a:ln w="31750">
            <a:solidFill>
              <a:srgbClr val="1063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12399264" y="2423160"/>
            <a:ext cx="4846320" cy="2103120"/>
          </a:xfrm>
          <a:prstGeom prst="roundRect">
            <a:avLst>
              <a:gd name="adj" fmla="val 8000"/>
            </a:avLst>
          </a:prstGeom>
          <a:solidFill>
            <a:srgbClr val="E4F7E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Oval 16"/>
          <p:cNvSpPr/>
          <p:nvPr/>
        </p:nvSpPr>
        <p:spPr>
          <a:xfrm>
            <a:off x="12627864" y="2606040"/>
            <a:ext cx="548640" cy="548640"/>
          </a:xfrm>
          <a:prstGeom prst="ellipse">
            <a:avLst/>
          </a:prstGeom>
          <a:solidFill>
            <a:srgbClr val="106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8" name="Picture 17" descr="cube_w.png"/>
          <p:cNvPicPr>
            <a:picLocks noChangeAspect="1"/>
          </p:cNvPicPr>
          <p:nvPr/>
        </p:nvPicPr>
        <p:blipFill>
          <a:blip r:embed="rId3"/>
          <a:stretch>
            <a:fillRect/>
          </a:stretch>
        </p:blipFill>
        <p:spPr>
          <a:xfrm>
            <a:off x="12765024" y="2743200"/>
            <a:ext cx="274320" cy="274320"/>
          </a:xfrm>
          <a:prstGeom prst="rect">
            <a:avLst/>
          </a:prstGeom>
        </p:spPr>
      </p:pic>
      <p:sp>
        <p:nvSpPr>
          <p:cNvPr id="19" name="TextBox 18"/>
          <p:cNvSpPr txBox="1"/>
          <p:nvPr/>
        </p:nvSpPr>
        <p:spPr>
          <a:xfrm>
            <a:off x="13313664" y="2606040"/>
            <a:ext cx="3749039" cy="548640"/>
          </a:xfrm>
          <a:prstGeom prst="rect">
            <a:avLst/>
          </a:prstGeom>
          <a:noFill/>
        </p:spPr>
        <p:txBody>
          <a:bodyPr wrap="square" lIns="0" tIns="0" rIns="0" bIns="0" anchor="ctr">
            <a:spAutoFit/>
          </a:bodyPr>
          <a:lstStyle/>
          <a:p>
            <a:pPr algn="l"/>
            <a:r>
              <a:rPr sz="1700" b="1" i="0">
                <a:solidFill>
                  <a:srgbClr val="10635A"/>
                </a:solidFill>
                <a:latin typeface="Arial"/>
              </a:rPr>
              <a:t>Entity Type de destino</a:t>
            </a:r>
          </a:p>
        </p:txBody>
      </p:sp>
      <p:sp>
        <p:nvSpPr>
          <p:cNvPr id="20" name="TextBox 19"/>
          <p:cNvSpPr txBox="1"/>
          <p:nvPr/>
        </p:nvSpPr>
        <p:spPr>
          <a:xfrm>
            <a:off x="12673584" y="3291840"/>
            <a:ext cx="4389120" cy="1371600"/>
          </a:xfrm>
          <a:prstGeom prst="rect">
            <a:avLst/>
          </a:prstGeom>
          <a:noFill/>
        </p:spPr>
        <p:txBody>
          <a:bodyPr wrap="square" lIns="0" tIns="0" rIns="0" bIns="0" anchor="t">
            <a:spAutoFit/>
          </a:bodyPr>
          <a:lstStyle/>
          <a:p>
            <a:pPr algn="l">
              <a:spcAft>
                <a:spcPts val="300"/>
              </a:spcAft>
            </a:pPr>
            <a:r>
              <a:rPr sz="1300" b="1" i="0">
                <a:solidFill>
                  <a:srgbClr val="2B3A38"/>
                </a:solidFill>
                <a:latin typeface="Arial"/>
              </a:rPr>
              <a:t>Propietarios</a:t>
            </a:r>
          </a:p>
          <a:p>
            <a:pPr algn="l">
              <a:spcAft>
                <a:spcPts val="300"/>
              </a:spcAft>
            </a:pPr>
            <a:r>
              <a:rPr sz="1300" b="0" i="0">
                <a:solidFill>
                  <a:srgbClr val="2B3A38"/>
                </a:solidFill>
                <a:latin typeface="Arial"/>
              </a:rPr>
              <a:t>Clave: Id_Propietario</a:t>
            </a:r>
          </a:p>
          <a:p>
            <a:pPr algn="l">
              <a:spcAft>
                <a:spcPts val="300"/>
              </a:spcAft>
            </a:pPr>
            <a:r>
              <a:rPr sz="1300" b="0" i="0">
                <a:solidFill>
                  <a:srgbClr val="2B3A38"/>
                </a:solidFill>
                <a:latin typeface="Arial"/>
              </a:rPr>
              <a:t>Tabla: D_Propietarios_Instalaciones</a:t>
            </a:r>
          </a:p>
        </p:txBody>
      </p:sp>
      <p:sp>
        <p:nvSpPr>
          <p:cNvPr id="21" name="Rounded Rectangle 20"/>
          <p:cNvSpPr/>
          <p:nvPr/>
        </p:nvSpPr>
        <p:spPr>
          <a:xfrm>
            <a:off x="1060704" y="4937760"/>
            <a:ext cx="16184880" cy="3017520"/>
          </a:xfrm>
          <a:prstGeom prst="roundRect">
            <a:avLst>
              <a:gd name="adj" fmla="val 5000"/>
            </a:avLst>
          </a:prstGeom>
          <a:solidFill>
            <a:srgbClr val="E4F7E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1335024" y="5120640"/>
            <a:ext cx="5029200" cy="411480"/>
          </a:xfrm>
          <a:prstGeom prst="rect">
            <a:avLst/>
          </a:prstGeom>
          <a:noFill/>
        </p:spPr>
        <p:txBody>
          <a:bodyPr wrap="square" lIns="0" tIns="0" rIns="0" bIns="0" anchor="ctr">
            <a:spAutoFit/>
          </a:bodyPr>
          <a:lstStyle/>
          <a:p>
            <a:pPr algn="l"/>
            <a:r>
              <a:rPr sz="1400" b="1" i="0">
                <a:solidFill>
                  <a:srgbClr val="1E8A7C"/>
                </a:solidFill>
                <a:latin typeface="Arial"/>
              </a:rPr>
              <a:t>Relationship</a:t>
            </a:r>
          </a:p>
        </p:txBody>
      </p:sp>
      <p:sp>
        <p:nvSpPr>
          <p:cNvPr id="23" name="TextBox 22"/>
          <p:cNvSpPr txBox="1"/>
          <p:nvPr/>
        </p:nvSpPr>
        <p:spPr>
          <a:xfrm>
            <a:off x="6364224" y="5120640"/>
            <a:ext cx="3931920" cy="411480"/>
          </a:xfrm>
          <a:prstGeom prst="rect">
            <a:avLst/>
          </a:prstGeom>
          <a:noFill/>
        </p:spPr>
        <p:txBody>
          <a:bodyPr wrap="square" lIns="0" tIns="0" rIns="0" bIns="0" anchor="ctr">
            <a:spAutoFit/>
          </a:bodyPr>
          <a:lstStyle/>
          <a:p>
            <a:pPr algn="l"/>
            <a:r>
              <a:rPr sz="1400" b="1" i="0">
                <a:solidFill>
                  <a:srgbClr val="1E8A7C"/>
                </a:solidFill>
                <a:latin typeface="Arial"/>
              </a:rPr>
              <a:t>Origen → Destino</a:t>
            </a:r>
          </a:p>
        </p:txBody>
      </p:sp>
      <p:sp>
        <p:nvSpPr>
          <p:cNvPr id="24" name="TextBox 23"/>
          <p:cNvSpPr txBox="1"/>
          <p:nvPr/>
        </p:nvSpPr>
        <p:spPr>
          <a:xfrm>
            <a:off x="10296144" y="5120640"/>
            <a:ext cx="3474720" cy="411480"/>
          </a:xfrm>
          <a:prstGeom prst="rect">
            <a:avLst/>
          </a:prstGeom>
          <a:noFill/>
        </p:spPr>
        <p:txBody>
          <a:bodyPr wrap="square" lIns="0" tIns="0" rIns="0" bIns="0" anchor="ctr">
            <a:spAutoFit/>
          </a:bodyPr>
          <a:lstStyle/>
          <a:p>
            <a:pPr algn="l"/>
            <a:r>
              <a:rPr sz="1400" b="1" i="0">
                <a:solidFill>
                  <a:srgbClr val="1E8A7C"/>
                </a:solidFill>
                <a:latin typeface="Arial"/>
              </a:rPr>
              <a:t>Tabla de asignación</a:t>
            </a:r>
          </a:p>
        </p:txBody>
      </p:sp>
      <p:sp>
        <p:nvSpPr>
          <p:cNvPr id="25" name="TextBox 24"/>
          <p:cNvSpPr txBox="1"/>
          <p:nvPr/>
        </p:nvSpPr>
        <p:spPr>
          <a:xfrm>
            <a:off x="13770863" y="5120640"/>
            <a:ext cx="3200400" cy="411480"/>
          </a:xfrm>
          <a:prstGeom prst="rect">
            <a:avLst/>
          </a:prstGeom>
          <a:noFill/>
        </p:spPr>
        <p:txBody>
          <a:bodyPr wrap="square" lIns="0" tIns="0" rIns="0" bIns="0" anchor="ctr">
            <a:spAutoFit/>
          </a:bodyPr>
          <a:lstStyle/>
          <a:p>
            <a:pPr algn="l"/>
            <a:r>
              <a:rPr sz="1400" b="1" i="0">
                <a:solidFill>
                  <a:srgbClr val="1E8A7C"/>
                </a:solidFill>
                <a:latin typeface="Arial"/>
              </a:rPr>
              <a:t>Claves</a:t>
            </a:r>
          </a:p>
        </p:txBody>
      </p:sp>
      <p:sp>
        <p:nvSpPr>
          <p:cNvPr id="26" name="Rounded Rectangle 25"/>
          <p:cNvSpPr/>
          <p:nvPr/>
        </p:nvSpPr>
        <p:spPr>
          <a:xfrm>
            <a:off x="1243584" y="5596128"/>
            <a:ext cx="15819120" cy="512064"/>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1335024" y="5596128"/>
            <a:ext cx="4892040" cy="512064"/>
          </a:xfrm>
          <a:prstGeom prst="rect">
            <a:avLst/>
          </a:prstGeom>
          <a:noFill/>
        </p:spPr>
        <p:txBody>
          <a:bodyPr wrap="square" lIns="0" tIns="0" rIns="0" bIns="0" anchor="ctr">
            <a:spAutoFit/>
          </a:bodyPr>
          <a:lstStyle/>
          <a:p>
            <a:pPr algn="l"/>
            <a:r>
              <a:rPr sz="1250" b="1" i="0">
                <a:solidFill>
                  <a:srgbClr val="10635A"/>
                </a:solidFill>
                <a:latin typeface="Arial"/>
              </a:rPr>
              <a:t>D_Instalaciones_has_D_Propietarios_Instalaciones</a:t>
            </a:r>
          </a:p>
        </p:txBody>
      </p:sp>
      <p:sp>
        <p:nvSpPr>
          <p:cNvPr id="28" name="TextBox 27"/>
          <p:cNvSpPr txBox="1"/>
          <p:nvPr/>
        </p:nvSpPr>
        <p:spPr>
          <a:xfrm>
            <a:off x="6364224" y="5596128"/>
            <a:ext cx="3794759" cy="512064"/>
          </a:xfrm>
          <a:prstGeom prst="rect">
            <a:avLst/>
          </a:prstGeom>
          <a:noFill/>
        </p:spPr>
        <p:txBody>
          <a:bodyPr wrap="square" lIns="0" tIns="0" rIns="0" bIns="0" anchor="ctr">
            <a:spAutoFit/>
          </a:bodyPr>
          <a:lstStyle/>
          <a:p>
            <a:pPr algn="l"/>
            <a:r>
              <a:rPr sz="1250" b="0" i="0">
                <a:solidFill>
                  <a:srgbClr val="2B3A38"/>
                </a:solidFill>
                <a:latin typeface="Arial"/>
              </a:rPr>
              <a:t>Instalaciones → Propietarios</a:t>
            </a:r>
          </a:p>
        </p:txBody>
      </p:sp>
      <p:sp>
        <p:nvSpPr>
          <p:cNvPr id="29" name="TextBox 28"/>
          <p:cNvSpPr txBox="1"/>
          <p:nvPr/>
        </p:nvSpPr>
        <p:spPr>
          <a:xfrm>
            <a:off x="10296144" y="5596128"/>
            <a:ext cx="3337560" cy="512064"/>
          </a:xfrm>
          <a:prstGeom prst="rect">
            <a:avLst/>
          </a:prstGeom>
          <a:noFill/>
        </p:spPr>
        <p:txBody>
          <a:bodyPr wrap="square" lIns="0" tIns="0" rIns="0" bIns="0" anchor="ctr">
            <a:spAutoFit/>
          </a:bodyPr>
          <a:lstStyle/>
          <a:p>
            <a:pPr algn="l"/>
            <a:r>
              <a:rPr sz="1250" b="0" i="0">
                <a:solidFill>
                  <a:srgbClr val="2B3A38"/>
                </a:solidFill>
                <a:latin typeface="Arial"/>
              </a:rPr>
              <a:t>D_Propietarios_Instalaciones</a:t>
            </a:r>
          </a:p>
        </p:txBody>
      </p:sp>
      <p:sp>
        <p:nvSpPr>
          <p:cNvPr id="30" name="TextBox 29"/>
          <p:cNvSpPr txBox="1"/>
          <p:nvPr/>
        </p:nvSpPr>
        <p:spPr>
          <a:xfrm>
            <a:off x="13770863" y="5596128"/>
            <a:ext cx="3063240" cy="512064"/>
          </a:xfrm>
          <a:prstGeom prst="rect">
            <a:avLst/>
          </a:prstGeom>
          <a:noFill/>
        </p:spPr>
        <p:txBody>
          <a:bodyPr wrap="square" lIns="0" tIns="0" rIns="0" bIns="0" anchor="ctr">
            <a:spAutoFit/>
          </a:bodyPr>
          <a:lstStyle/>
          <a:p>
            <a:pPr algn="l"/>
            <a:r>
              <a:rPr sz="1250" b="0" i="0">
                <a:solidFill>
                  <a:srgbClr val="2B3A38"/>
                </a:solidFill>
                <a:latin typeface="Arial"/>
              </a:rPr>
              <a:t>Id_Instalacion → Id_Propietario</a:t>
            </a:r>
          </a:p>
        </p:txBody>
      </p:sp>
      <p:sp>
        <p:nvSpPr>
          <p:cNvPr id="31" name="Rounded Rectangle 30"/>
          <p:cNvSpPr/>
          <p:nvPr/>
        </p:nvSpPr>
        <p:spPr>
          <a:xfrm>
            <a:off x="1243584" y="6163056"/>
            <a:ext cx="15819120" cy="512064"/>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1335024" y="6163056"/>
            <a:ext cx="4892040" cy="512064"/>
          </a:xfrm>
          <a:prstGeom prst="rect">
            <a:avLst/>
          </a:prstGeom>
          <a:noFill/>
        </p:spPr>
        <p:txBody>
          <a:bodyPr wrap="square" lIns="0" tIns="0" rIns="0" bIns="0" anchor="ctr">
            <a:spAutoFit/>
          </a:bodyPr>
          <a:lstStyle/>
          <a:p>
            <a:pPr algn="l"/>
            <a:r>
              <a:rPr sz="1250" b="1" i="0">
                <a:solidFill>
                  <a:srgbClr val="10635A"/>
                </a:solidFill>
                <a:latin typeface="Arial"/>
              </a:rPr>
              <a:t>D_Instalaciones_has_D_Provincia</a:t>
            </a:r>
          </a:p>
        </p:txBody>
      </p:sp>
      <p:sp>
        <p:nvSpPr>
          <p:cNvPr id="33" name="TextBox 32"/>
          <p:cNvSpPr txBox="1"/>
          <p:nvPr/>
        </p:nvSpPr>
        <p:spPr>
          <a:xfrm>
            <a:off x="6364224" y="6163056"/>
            <a:ext cx="3794759" cy="512064"/>
          </a:xfrm>
          <a:prstGeom prst="rect">
            <a:avLst/>
          </a:prstGeom>
          <a:noFill/>
        </p:spPr>
        <p:txBody>
          <a:bodyPr wrap="square" lIns="0" tIns="0" rIns="0" bIns="0" anchor="ctr">
            <a:spAutoFit/>
          </a:bodyPr>
          <a:lstStyle/>
          <a:p>
            <a:pPr algn="l"/>
            <a:r>
              <a:rPr sz="1250" b="0" i="0">
                <a:solidFill>
                  <a:srgbClr val="2B3A38"/>
                </a:solidFill>
                <a:latin typeface="Arial"/>
              </a:rPr>
              <a:t>Instalaciones → Provincias</a:t>
            </a:r>
          </a:p>
        </p:txBody>
      </p:sp>
      <p:sp>
        <p:nvSpPr>
          <p:cNvPr id="34" name="TextBox 33"/>
          <p:cNvSpPr txBox="1"/>
          <p:nvPr/>
        </p:nvSpPr>
        <p:spPr>
          <a:xfrm>
            <a:off x="10296144" y="6163056"/>
            <a:ext cx="3337560" cy="512064"/>
          </a:xfrm>
          <a:prstGeom prst="rect">
            <a:avLst/>
          </a:prstGeom>
          <a:noFill/>
        </p:spPr>
        <p:txBody>
          <a:bodyPr wrap="square" lIns="0" tIns="0" rIns="0" bIns="0" anchor="ctr">
            <a:spAutoFit/>
          </a:bodyPr>
          <a:lstStyle/>
          <a:p>
            <a:pPr algn="l"/>
            <a:r>
              <a:rPr sz="1250" b="0" i="0">
                <a:solidFill>
                  <a:srgbClr val="2B3A38"/>
                </a:solidFill>
                <a:latin typeface="Arial"/>
              </a:rPr>
              <a:t>D_Provincias</a:t>
            </a:r>
          </a:p>
        </p:txBody>
      </p:sp>
      <p:sp>
        <p:nvSpPr>
          <p:cNvPr id="35" name="TextBox 34"/>
          <p:cNvSpPr txBox="1"/>
          <p:nvPr/>
        </p:nvSpPr>
        <p:spPr>
          <a:xfrm>
            <a:off x="13770863" y="6163056"/>
            <a:ext cx="3063240" cy="512064"/>
          </a:xfrm>
          <a:prstGeom prst="rect">
            <a:avLst/>
          </a:prstGeom>
          <a:noFill/>
        </p:spPr>
        <p:txBody>
          <a:bodyPr wrap="square" lIns="0" tIns="0" rIns="0" bIns="0" anchor="ctr">
            <a:spAutoFit/>
          </a:bodyPr>
          <a:lstStyle/>
          <a:p>
            <a:pPr algn="l"/>
            <a:r>
              <a:rPr sz="1250" b="0" i="0">
                <a:solidFill>
                  <a:srgbClr val="2B3A38"/>
                </a:solidFill>
                <a:latin typeface="Arial"/>
              </a:rPr>
              <a:t>Id_Instalacion → cod-prv</a:t>
            </a:r>
          </a:p>
        </p:txBody>
      </p:sp>
      <p:sp>
        <p:nvSpPr>
          <p:cNvPr id="36" name="Rounded Rectangle 35"/>
          <p:cNvSpPr/>
          <p:nvPr/>
        </p:nvSpPr>
        <p:spPr>
          <a:xfrm>
            <a:off x="1243584" y="6729984"/>
            <a:ext cx="15819120" cy="512064"/>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p:cNvSpPr txBox="1"/>
          <p:nvPr/>
        </p:nvSpPr>
        <p:spPr>
          <a:xfrm>
            <a:off x="1335024" y="6729984"/>
            <a:ext cx="4892040" cy="512064"/>
          </a:xfrm>
          <a:prstGeom prst="rect">
            <a:avLst/>
          </a:prstGeom>
          <a:noFill/>
        </p:spPr>
        <p:txBody>
          <a:bodyPr wrap="square" lIns="0" tIns="0" rIns="0" bIns="0" anchor="ctr">
            <a:spAutoFit/>
          </a:bodyPr>
          <a:lstStyle/>
          <a:p>
            <a:pPr algn="l"/>
            <a:r>
              <a:rPr sz="1250" b="1" i="0">
                <a:solidFill>
                  <a:srgbClr val="10635A"/>
                </a:solidFill>
                <a:latin typeface="Arial"/>
              </a:rPr>
              <a:t>Instalacion_Makes_Generacion</a:t>
            </a:r>
          </a:p>
        </p:txBody>
      </p:sp>
      <p:sp>
        <p:nvSpPr>
          <p:cNvPr id="38" name="TextBox 37"/>
          <p:cNvSpPr txBox="1"/>
          <p:nvPr/>
        </p:nvSpPr>
        <p:spPr>
          <a:xfrm>
            <a:off x="6364224" y="6729984"/>
            <a:ext cx="3794759" cy="512064"/>
          </a:xfrm>
          <a:prstGeom prst="rect">
            <a:avLst/>
          </a:prstGeom>
          <a:noFill/>
        </p:spPr>
        <p:txBody>
          <a:bodyPr wrap="square" lIns="0" tIns="0" rIns="0" bIns="0" anchor="ctr">
            <a:spAutoFit/>
          </a:bodyPr>
          <a:lstStyle/>
          <a:p>
            <a:pPr algn="l"/>
            <a:r>
              <a:rPr sz="1250" b="0" i="0">
                <a:solidFill>
                  <a:srgbClr val="2B3A38"/>
                </a:solidFill>
                <a:latin typeface="Arial"/>
              </a:rPr>
              <a:t>Instalaciones → Generacion</a:t>
            </a:r>
          </a:p>
        </p:txBody>
      </p:sp>
      <p:sp>
        <p:nvSpPr>
          <p:cNvPr id="39" name="TextBox 38"/>
          <p:cNvSpPr txBox="1"/>
          <p:nvPr/>
        </p:nvSpPr>
        <p:spPr>
          <a:xfrm>
            <a:off x="10296144" y="6729984"/>
            <a:ext cx="3337560" cy="512064"/>
          </a:xfrm>
          <a:prstGeom prst="rect">
            <a:avLst/>
          </a:prstGeom>
          <a:noFill/>
        </p:spPr>
        <p:txBody>
          <a:bodyPr wrap="square" lIns="0" tIns="0" rIns="0" bIns="0" anchor="ctr">
            <a:spAutoFit/>
          </a:bodyPr>
          <a:lstStyle/>
          <a:p>
            <a:pPr algn="l"/>
            <a:r>
              <a:rPr sz="1250" b="0" i="0">
                <a:solidFill>
                  <a:srgbClr val="2B3A38"/>
                </a:solidFill>
                <a:latin typeface="Arial"/>
              </a:rPr>
              <a:t>F_Generacion_Eolicas</a:t>
            </a:r>
          </a:p>
        </p:txBody>
      </p:sp>
      <p:sp>
        <p:nvSpPr>
          <p:cNvPr id="40" name="TextBox 39"/>
          <p:cNvSpPr txBox="1"/>
          <p:nvPr/>
        </p:nvSpPr>
        <p:spPr>
          <a:xfrm>
            <a:off x="13770863" y="6729984"/>
            <a:ext cx="3063240" cy="512064"/>
          </a:xfrm>
          <a:prstGeom prst="rect">
            <a:avLst/>
          </a:prstGeom>
          <a:noFill/>
        </p:spPr>
        <p:txBody>
          <a:bodyPr wrap="square" lIns="0" tIns="0" rIns="0" bIns="0" anchor="ctr">
            <a:spAutoFit/>
          </a:bodyPr>
          <a:lstStyle/>
          <a:p>
            <a:pPr algn="l"/>
            <a:r>
              <a:rPr sz="1250" b="0" i="0">
                <a:solidFill>
                  <a:srgbClr val="2B3A38"/>
                </a:solidFill>
                <a:latin typeface="Arial"/>
              </a:rPr>
              <a:t>Id_Instalacion → Id_Generacion</a:t>
            </a:r>
          </a:p>
        </p:txBody>
      </p:sp>
      <p:sp>
        <p:nvSpPr>
          <p:cNvPr id="90" name="Fila4 90"/>
          <p:cNvSpPr/>
          <p:nvPr/>
        </p:nvSpPr>
        <p:spPr>
          <a:xfrm>
            <a:off x="1243584" y="7296912"/>
            <a:ext cx="15819120" cy="512064"/>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1" name="Fila4 91"/>
          <p:cNvSpPr txBox="1"/>
          <p:nvPr/>
        </p:nvSpPr>
        <p:spPr>
          <a:xfrm>
            <a:off x="1335024" y="7296912"/>
            <a:ext cx="4892040" cy="512064"/>
          </a:xfrm>
          <a:prstGeom prst="rect">
            <a:avLst/>
          </a:prstGeom>
          <a:noFill/>
        </p:spPr>
        <p:txBody>
          <a:bodyPr wrap="square" lIns="0" tIns="0" rIns="0" bIns="0" anchor="ctr">
            <a:spAutoFit/>
          </a:bodyPr>
          <a:lstStyle/>
          <a:p>
            <a:pPr algn="l"/>
            <a:r>
              <a:rPr sz="1250" b="1" i="0">
                <a:solidFill>
                  <a:srgbClr val="10635A"/>
                </a:solidFill>
                <a:latin typeface="Arial"/>
              </a:rPr>
              <a:t>Instalacion_Makes_Ventas</a:t>
            </a:r>
          </a:p>
        </p:txBody>
      </p:sp>
      <p:sp>
        <p:nvSpPr>
          <p:cNvPr id="92" name="Fila4 92"/>
          <p:cNvSpPr txBox="1"/>
          <p:nvPr/>
        </p:nvSpPr>
        <p:spPr>
          <a:xfrm>
            <a:off x="6364224" y="7296912"/>
            <a:ext cx="3794759" cy="512064"/>
          </a:xfrm>
          <a:prstGeom prst="rect">
            <a:avLst/>
          </a:prstGeom>
          <a:noFill/>
        </p:spPr>
        <p:txBody>
          <a:bodyPr wrap="square" lIns="0" tIns="0" rIns="0" bIns="0" anchor="ctr">
            <a:spAutoFit/>
          </a:bodyPr>
          <a:lstStyle/>
          <a:p>
            <a:pPr algn="l"/>
            <a:r>
              <a:rPr sz="1250" b="0" i="0">
                <a:solidFill>
                  <a:srgbClr val="2B3A38"/>
                </a:solidFill>
                <a:latin typeface="Arial"/>
              </a:rPr>
              <a:t>Instalaciones → Ventas</a:t>
            </a:r>
          </a:p>
        </p:txBody>
      </p:sp>
      <p:sp>
        <p:nvSpPr>
          <p:cNvPr id="93" name="Fila4 93"/>
          <p:cNvSpPr txBox="1"/>
          <p:nvPr/>
        </p:nvSpPr>
        <p:spPr>
          <a:xfrm>
            <a:off x="10296144" y="7296912"/>
            <a:ext cx="3337560" cy="512064"/>
          </a:xfrm>
          <a:prstGeom prst="rect">
            <a:avLst/>
          </a:prstGeom>
          <a:noFill/>
        </p:spPr>
        <p:txBody>
          <a:bodyPr wrap="square" lIns="0" tIns="0" rIns="0" bIns="0" anchor="ctr">
            <a:spAutoFit/>
          </a:bodyPr>
          <a:lstStyle/>
          <a:p>
            <a:pPr algn="l"/>
            <a:r>
              <a:rPr sz="1250" b="0" i="0">
                <a:solidFill>
                  <a:srgbClr val="2B3A38"/>
                </a:solidFill>
                <a:latin typeface="Arial"/>
              </a:rPr>
              <a:t>F_Ventas_Eolicas</a:t>
            </a:r>
          </a:p>
        </p:txBody>
      </p:sp>
      <p:sp>
        <p:nvSpPr>
          <p:cNvPr id="94" name="Fila4 94"/>
          <p:cNvSpPr txBox="1"/>
          <p:nvPr/>
        </p:nvSpPr>
        <p:spPr>
          <a:xfrm>
            <a:off x="13770863" y="7296912"/>
            <a:ext cx="3063240" cy="512064"/>
          </a:xfrm>
          <a:prstGeom prst="rect">
            <a:avLst/>
          </a:prstGeom>
          <a:noFill/>
        </p:spPr>
        <p:txBody>
          <a:bodyPr wrap="square" lIns="0" tIns="0" rIns="0" bIns="0" anchor="ctr">
            <a:spAutoFit/>
          </a:bodyPr>
          <a:lstStyle/>
          <a:p>
            <a:pPr algn="l"/>
            <a:r>
              <a:rPr sz="1250" b="0" i="0">
                <a:solidFill>
                  <a:srgbClr val="2B3A38"/>
                </a:solidFill>
                <a:latin typeface="Arial"/>
              </a:rPr>
              <a:t>Id_Instalacion → Id_Venta</a:t>
            </a:r>
          </a:p>
        </p:txBody>
      </p:sp>
      <p:sp>
        <p:nvSpPr>
          <p:cNvPr id="41" name="Mensaje clave 41"/>
          <p:cNvSpPr/>
          <p:nvPr/>
        </p:nvSpPr>
        <p:spPr>
          <a:xfrm>
            <a:off x="1828800" y="8321040"/>
            <a:ext cx="14630400" cy="512064"/>
          </a:xfrm>
          <a:prstGeom prst="roundRect">
            <a:avLst>
              <a:gd name="adj" fmla="val 50000"/>
            </a:avLst>
          </a:prstGeom>
          <a:solidFill>
            <a:srgbClr val="09534E"/>
          </a:solidFill>
          <a:ln>
            <a:noFill/>
          </a:ln>
          <a:effectLst>
            <a:outerShdw blurRad="50800" dist="25400" dir="5400000" algn="t" rotWithShape="0">
              <a:prstClr val="black">
                <a:alpha val="28000"/>
              </a:prstClr>
            </a:outerShdw>
          </a:effectLst>
        </p:spPr>
        <p:txBody>
          <a:bodyPr wrap="square" lIns="182880" tIns="0" rIns="182880" bIns="0" anchor="ctr">
            <a:noAutofit/>
          </a:bodyPr>
          <a:lstStyle/>
          <a:p>
            <a:pPr algn="ctr"/>
            <a:r>
              <a:rPr lang="es-ES" sz="2000" b="1" dirty="0">
                <a:solidFill>
                  <a:srgbClr val="7DE9B0"/>
                </a:solidFill>
                <a:latin typeface="Arial"/>
                <a:cs typeface="Arial"/>
              </a:rPr>
              <a:t xml:space="preserve">✓  Cada relación se documenta con su descripción </a:t>
            </a:r>
            <a:r>
              <a:rPr lang="es-ES" sz="2000" b="1" dirty="0">
                <a:solidFill>
                  <a:srgbClr val="FFFFFF"/>
                </a:solidFill>
                <a:latin typeface="Arial"/>
                <a:cs typeface="Arial"/>
              </a:rPr>
              <a:t xml:space="preserve">y puede invertirse con “Cambiar dirección”</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0704" y="566928"/>
            <a:ext cx="16184880" cy="1234440"/>
          </a:xfrm>
        </p:spPr>
        <p:txBody>
          <a:bodyPr/>
          <a:lstStyle/>
          <a:p>
            <a:r>
              <a:rPr sz="4000" b="1">
                <a:solidFill>
                  <a:srgbClr val="10635A"/>
                </a:solidFill>
                <a:latin typeface="Arial"/>
              </a:rPr>
              <a:t>El Graph: la ontología como red de conceptos</a:t>
            </a:r>
          </a:p>
        </p:txBody>
      </p:sp>
      <p:sp>
        <p:nvSpPr>
          <p:cNvPr id="3" name="Rounded Rectangle 2"/>
          <p:cNvSpPr/>
          <p:nvPr/>
        </p:nvSpPr>
        <p:spPr>
          <a:xfrm>
            <a:off x="1060704" y="1801368"/>
            <a:ext cx="9692640" cy="6473952"/>
          </a:xfrm>
          <a:prstGeom prst="roundRect">
            <a:avLst>
              <a:gd name="adj" fmla="val 3000"/>
            </a:avLst>
          </a:prstGeom>
          <a:solidFill>
            <a:srgbClr val="FFFFFF"/>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 name="Picture 3" descr="image47.png"/>
          <p:cNvPicPr>
            <a:picLocks noChangeAspect="1"/>
          </p:cNvPicPr>
          <p:nvPr/>
        </p:nvPicPr>
        <p:blipFill>
          <a:blip r:embed="rId3"/>
          <a:stretch>
            <a:fillRect/>
          </a:stretch>
        </p:blipFill>
        <p:spPr>
          <a:xfrm>
            <a:off x="1323026" y="2011680"/>
            <a:ext cx="9149707" cy="5989320"/>
          </a:xfrm>
          <a:prstGeom prst="rect">
            <a:avLst/>
          </a:prstGeom>
          <a:ln w="9525">
            <a:solidFill>
              <a:srgbClr val="C9DCD6"/>
            </a:solidFill>
          </a:ln>
          <a:effectLst>
            <a:outerShdw blurRad="50800" dist="38100" dir="2700000" algn="tl" rotWithShape="0">
              <a:prstClr val="black">
                <a:alpha val="40000"/>
              </a:prstClr>
            </a:outerShdw>
          </a:effectLst>
        </p:spPr>
      </p:pic>
      <p:sp>
        <p:nvSpPr>
          <p:cNvPr id="5" name="Rounded Rectangle 4"/>
          <p:cNvSpPr/>
          <p:nvPr/>
        </p:nvSpPr>
        <p:spPr>
          <a:xfrm>
            <a:off x="11109960" y="1920240"/>
            <a:ext cx="6126480" cy="1417320"/>
          </a:xfrm>
          <a:prstGeom prst="roundRect">
            <a:avLst>
              <a:gd name="adj" fmla="val 10000"/>
            </a:avLst>
          </a:prstGeom>
          <a:solidFill>
            <a:srgbClr val="E4F7E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Oval 5"/>
          <p:cNvSpPr/>
          <p:nvPr/>
        </p:nvSpPr>
        <p:spPr>
          <a:xfrm>
            <a:off x="11338560" y="2304288"/>
            <a:ext cx="640080" cy="640080"/>
          </a:xfrm>
          <a:prstGeom prst="ellipse">
            <a:avLst/>
          </a:prstGeom>
          <a:solidFill>
            <a:srgbClr val="106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7" name="Picture 6" descr="cube_w.png"/>
          <p:cNvPicPr>
            <a:picLocks noChangeAspect="1"/>
          </p:cNvPicPr>
          <p:nvPr/>
        </p:nvPicPr>
        <p:blipFill>
          <a:blip r:embed="rId4"/>
          <a:stretch>
            <a:fillRect/>
          </a:stretch>
        </p:blipFill>
        <p:spPr>
          <a:xfrm>
            <a:off x="11498580" y="2464308"/>
            <a:ext cx="320040" cy="320040"/>
          </a:xfrm>
          <a:prstGeom prst="rect">
            <a:avLst/>
          </a:prstGeom>
        </p:spPr>
      </p:pic>
      <p:sp>
        <p:nvSpPr>
          <p:cNvPr id="8" name="TextBox 7"/>
          <p:cNvSpPr txBox="1"/>
          <p:nvPr/>
        </p:nvSpPr>
        <p:spPr>
          <a:xfrm>
            <a:off x="12161520" y="2057400"/>
            <a:ext cx="4937760" cy="411480"/>
          </a:xfrm>
          <a:prstGeom prst="rect">
            <a:avLst/>
          </a:prstGeom>
          <a:noFill/>
        </p:spPr>
        <p:txBody>
          <a:bodyPr wrap="square" lIns="0" tIns="0" rIns="0" bIns="0" anchor="t">
            <a:spAutoFit/>
          </a:bodyPr>
          <a:lstStyle/>
          <a:p>
            <a:pPr algn="l"/>
            <a:r>
              <a:rPr sz="1600" b="1" i="0">
                <a:solidFill>
                  <a:srgbClr val="10635A"/>
                </a:solidFill>
                <a:latin typeface="Arial"/>
              </a:rPr>
              <a:t>Nodos = Entity Types</a:t>
            </a:r>
          </a:p>
        </p:txBody>
      </p:sp>
      <p:sp>
        <p:nvSpPr>
          <p:cNvPr id="9" name="TextBox 8"/>
          <p:cNvSpPr txBox="1"/>
          <p:nvPr/>
        </p:nvSpPr>
        <p:spPr>
          <a:xfrm>
            <a:off x="12161520" y="2468880"/>
            <a:ext cx="4937760" cy="822960"/>
          </a:xfrm>
          <a:prstGeom prst="rect">
            <a:avLst/>
          </a:prstGeom>
          <a:noFill/>
        </p:spPr>
        <p:txBody>
          <a:bodyPr wrap="square" lIns="0" tIns="0" rIns="0" bIns="0" anchor="t">
            <a:spAutoFit/>
          </a:bodyPr>
          <a:lstStyle/>
          <a:p>
            <a:pPr algn="l"/>
            <a:r>
              <a:rPr sz="1250" b="0" i="0">
                <a:solidFill>
                  <a:srgbClr val="2B3A38"/>
                </a:solidFill>
                <a:latin typeface="Arial"/>
              </a:rPr>
              <a:t>Provincias, Instalaciones, Ingresos_y_Generacion, Contratistas y Propietarios.</a:t>
            </a:r>
          </a:p>
        </p:txBody>
      </p:sp>
      <p:sp>
        <p:nvSpPr>
          <p:cNvPr id="10" name="Rounded Rectangle 9"/>
          <p:cNvSpPr/>
          <p:nvPr/>
        </p:nvSpPr>
        <p:spPr>
          <a:xfrm>
            <a:off x="11109960" y="3493008"/>
            <a:ext cx="6126480" cy="1417320"/>
          </a:xfrm>
          <a:prstGeom prst="roundRect">
            <a:avLst>
              <a:gd name="adj" fmla="val 10000"/>
            </a:avLst>
          </a:prstGeom>
          <a:solidFill>
            <a:srgbClr val="E4F7E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Oval 10"/>
          <p:cNvSpPr/>
          <p:nvPr/>
        </p:nvSpPr>
        <p:spPr>
          <a:xfrm>
            <a:off x="11338560" y="3877056"/>
            <a:ext cx="640080" cy="640080"/>
          </a:xfrm>
          <a:prstGeom prst="ellipse">
            <a:avLst/>
          </a:prstGeom>
          <a:solidFill>
            <a:srgbClr val="106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2" name="Picture 11" descr="share_w.png"/>
          <p:cNvPicPr>
            <a:picLocks noChangeAspect="1"/>
          </p:cNvPicPr>
          <p:nvPr/>
        </p:nvPicPr>
        <p:blipFill>
          <a:blip r:embed="rId5"/>
          <a:stretch>
            <a:fillRect/>
          </a:stretch>
        </p:blipFill>
        <p:spPr>
          <a:xfrm>
            <a:off x="11498580" y="4037076"/>
            <a:ext cx="320040" cy="320040"/>
          </a:xfrm>
          <a:prstGeom prst="rect">
            <a:avLst/>
          </a:prstGeom>
        </p:spPr>
      </p:pic>
      <p:sp>
        <p:nvSpPr>
          <p:cNvPr id="13" name="TextBox 12"/>
          <p:cNvSpPr txBox="1"/>
          <p:nvPr/>
        </p:nvSpPr>
        <p:spPr>
          <a:xfrm>
            <a:off x="12161520" y="3630168"/>
            <a:ext cx="4937760" cy="411480"/>
          </a:xfrm>
          <a:prstGeom prst="rect">
            <a:avLst/>
          </a:prstGeom>
          <a:noFill/>
        </p:spPr>
        <p:txBody>
          <a:bodyPr wrap="square" lIns="0" tIns="0" rIns="0" bIns="0" anchor="t">
            <a:spAutoFit/>
          </a:bodyPr>
          <a:lstStyle/>
          <a:p>
            <a:pPr algn="l"/>
            <a:r>
              <a:rPr sz="1600" b="1" i="0">
                <a:solidFill>
                  <a:srgbClr val="10635A"/>
                </a:solidFill>
                <a:latin typeface="Arial"/>
              </a:rPr>
              <a:t>Aristas = Relationships</a:t>
            </a:r>
          </a:p>
        </p:txBody>
      </p:sp>
      <p:sp>
        <p:nvSpPr>
          <p:cNvPr id="14" name="TextBox 13"/>
          <p:cNvSpPr txBox="1"/>
          <p:nvPr/>
        </p:nvSpPr>
        <p:spPr>
          <a:xfrm>
            <a:off x="12161520" y="4041648"/>
            <a:ext cx="4937760" cy="822960"/>
          </a:xfrm>
          <a:prstGeom prst="rect">
            <a:avLst/>
          </a:prstGeom>
          <a:noFill/>
        </p:spPr>
        <p:txBody>
          <a:bodyPr wrap="square" lIns="0" tIns="0" rIns="0" bIns="0" anchor="t">
            <a:spAutoFit/>
          </a:bodyPr>
          <a:lstStyle/>
          <a:p>
            <a:pPr algn="l"/>
            <a:r>
              <a:rPr sz="1250" b="0" i="0">
                <a:solidFill>
                  <a:srgbClr val="2B3A38"/>
                </a:solidFill>
                <a:latin typeface="Arial"/>
              </a:rPr>
              <a:t>Instalaciones es el nodo central que conecta propietarios, provincias e ingresos.</a:t>
            </a:r>
          </a:p>
        </p:txBody>
      </p:sp>
      <p:sp>
        <p:nvSpPr>
          <p:cNvPr id="15" name="Rounded Rectangle 14"/>
          <p:cNvSpPr/>
          <p:nvPr/>
        </p:nvSpPr>
        <p:spPr>
          <a:xfrm>
            <a:off x="11109960" y="5065776"/>
            <a:ext cx="6126480" cy="1417320"/>
          </a:xfrm>
          <a:prstGeom prst="roundRect">
            <a:avLst>
              <a:gd name="adj" fmla="val 10000"/>
            </a:avLst>
          </a:prstGeom>
          <a:solidFill>
            <a:srgbClr val="E4F7E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Oval 15"/>
          <p:cNvSpPr/>
          <p:nvPr/>
        </p:nvSpPr>
        <p:spPr>
          <a:xfrm>
            <a:off x="11338560" y="5449824"/>
            <a:ext cx="640080" cy="640080"/>
          </a:xfrm>
          <a:prstGeom prst="ellipse">
            <a:avLst/>
          </a:prstGeom>
          <a:solidFill>
            <a:srgbClr val="106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7" name="Picture 16" descr="project_w.png"/>
          <p:cNvPicPr>
            <a:picLocks noChangeAspect="1"/>
          </p:cNvPicPr>
          <p:nvPr/>
        </p:nvPicPr>
        <p:blipFill>
          <a:blip r:embed="rId6"/>
          <a:stretch>
            <a:fillRect/>
          </a:stretch>
        </p:blipFill>
        <p:spPr>
          <a:xfrm>
            <a:off x="11498580" y="5609844"/>
            <a:ext cx="320040" cy="320040"/>
          </a:xfrm>
          <a:prstGeom prst="rect">
            <a:avLst/>
          </a:prstGeom>
        </p:spPr>
      </p:pic>
      <p:sp>
        <p:nvSpPr>
          <p:cNvPr id="18" name="TextBox 17"/>
          <p:cNvSpPr txBox="1"/>
          <p:nvPr/>
        </p:nvSpPr>
        <p:spPr>
          <a:xfrm>
            <a:off x="12161520" y="5202936"/>
            <a:ext cx="4937760" cy="411480"/>
          </a:xfrm>
          <a:prstGeom prst="rect">
            <a:avLst/>
          </a:prstGeom>
          <a:noFill/>
        </p:spPr>
        <p:txBody>
          <a:bodyPr wrap="square" lIns="0" tIns="0" rIns="0" bIns="0" anchor="t">
            <a:spAutoFit/>
          </a:bodyPr>
          <a:lstStyle/>
          <a:p>
            <a:pPr algn="l"/>
            <a:r>
              <a:rPr sz="1600" b="1" i="0">
                <a:solidFill>
                  <a:srgbClr val="10635A"/>
                </a:solidFill>
                <a:latin typeface="Arial"/>
              </a:rPr>
              <a:t>Graph model en el workspace</a:t>
            </a:r>
          </a:p>
        </p:txBody>
      </p:sp>
      <p:sp>
        <p:nvSpPr>
          <p:cNvPr id="19" name="TextBox 18"/>
          <p:cNvSpPr txBox="1"/>
          <p:nvPr/>
        </p:nvSpPr>
        <p:spPr>
          <a:xfrm>
            <a:off x="12161520" y="5614416"/>
            <a:ext cx="4937760" cy="822960"/>
          </a:xfrm>
          <a:prstGeom prst="rect">
            <a:avLst/>
          </a:prstGeom>
          <a:noFill/>
        </p:spPr>
        <p:txBody>
          <a:bodyPr wrap="square" lIns="0" tIns="0" rIns="0" bIns="0" anchor="t">
            <a:spAutoFit/>
          </a:bodyPr>
          <a:lstStyle/>
          <a:p>
            <a:pPr algn="l"/>
            <a:r>
              <a:rPr sz="1250" b="0" i="0">
                <a:solidFill>
                  <a:srgbClr val="2B3A38"/>
                </a:solidFill>
                <a:latin typeface="Arial"/>
              </a:rPr>
              <a:t>La ontología crea su propio Graph junto al Lakehouse y el SQL Analytics Endpoint.</a:t>
            </a:r>
          </a:p>
        </p:txBody>
      </p:sp>
      <p:sp>
        <p:nvSpPr>
          <p:cNvPr id="20" name="Rounded Rectangle 19"/>
          <p:cNvSpPr/>
          <p:nvPr/>
        </p:nvSpPr>
        <p:spPr>
          <a:xfrm>
            <a:off x="11109960" y="6638544"/>
            <a:ext cx="6126480" cy="1417320"/>
          </a:xfrm>
          <a:prstGeom prst="roundRect">
            <a:avLst>
              <a:gd name="adj" fmla="val 10000"/>
            </a:avLst>
          </a:prstGeom>
          <a:solidFill>
            <a:srgbClr val="E4F7E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Oval 20"/>
          <p:cNvSpPr/>
          <p:nvPr/>
        </p:nvSpPr>
        <p:spPr>
          <a:xfrm>
            <a:off x="11338560" y="7022592"/>
            <a:ext cx="640080" cy="640080"/>
          </a:xfrm>
          <a:prstGeom prst="ellipse">
            <a:avLst/>
          </a:prstGeom>
          <a:solidFill>
            <a:srgbClr val="106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2" name="Picture 21" descr="search_w.png"/>
          <p:cNvPicPr>
            <a:picLocks noChangeAspect="1"/>
          </p:cNvPicPr>
          <p:nvPr/>
        </p:nvPicPr>
        <p:blipFill>
          <a:blip r:embed="rId7"/>
          <a:stretch>
            <a:fillRect/>
          </a:stretch>
        </p:blipFill>
        <p:spPr>
          <a:xfrm>
            <a:off x="11498580" y="7182612"/>
            <a:ext cx="320040" cy="320040"/>
          </a:xfrm>
          <a:prstGeom prst="rect">
            <a:avLst/>
          </a:prstGeom>
        </p:spPr>
      </p:pic>
      <p:sp>
        <p:nvSpPr>
          <p:cNvPr id="23" name="TextBox 22"/>
          <p:cNvSpPr txBox="1"/>
          <p:nvPr/>
        </p:nvSpPr>
        <p:spPr>
          <a:xfrm>
            <a:off x="12161520" y="6775704"/>
            <a:ext cx="4937760" cy="411480"/>
          </a:xfrm>
          <a:prstGeom prst="rect">
            <a:avLst/>
          </a:prstGeom>
          <a:noFill/>
        </p:spPr>
        <p:txBody>
          <a:bodyPr wrap="square" lIns="0" tIns="0" rIns="0" bIns="0" anchor="t">
            <a:spAutoFit/>
          </a:bodyPr>
          <a:lstStyle/>
          <a:p>
            <a:pPr algn="l"/>
            <a:r>
              <a:rPr sz="1600" b="1" i="0">
                <a:solidFill>
                  <a:srgbClr val="10635A"/>
                </a:solidFill>
                <a:latin typeface="Arial"/>
              </a:rPr>
              <a:t>Validar con Instancias</a:t>
            </a:r>
          </a:p>
        </p:txBody>
      </p:sp>
      <p:sp>
        <p:nvSpPr>
          <p:cNvPr id="24" name="TextBox 23"/>
          <p:cNvSpPr txBox="1"/>
          <p:nvPr/>
        </p:nvSpPr>
        <p:spPr>
          <a:xfrm>
            <a:off x="12161520" y="7187183"/>
            <a:ext cx="4937760" cy="822960"/>
          </a:xfrm>
          <a:prstGeom prst="rect">
            <a:avLst/>
          </a:prstGeom>
          <a:noFill/>
        </p:spPr>
        <p:txBody>
          <a:bodyPr wrap="square" lIns="0" tIns="0" rIns="0" bIns="0" anchor="t">
            <a:spAutoFit/>
          </a:bodyPr>
          <a:lstStyle/>
          <a:p>
            <a:pPr algn="l"/>
            <a:r>
              <a:rPr sz="1250" b="0" i="0">
                <a:solidFill>
                  <a:srgbClr val="2B3A38"/>
                </a:solidFill>
                <a:latin typeface="Arial"/>
              </a:rPr>
              <a:t>La pestaña Instancias muestra los registros reales (p. ej. Provincias: 4).</a:t>
            </a:r>
          </a:p>
        </p:txBody>
      </p:sp>
      <p:sp>
        <p:nvSpPr>
          <p:cNvPr id="25" name="Mensaje clave 25"/>
          <p:cNvSpPr/>
          <p:nvPr/>
        </p:nvSpPr>
        <p:spPr>
          <a:xfrm>
            <a:off x="1645920" y="8412480"/>
            <a:ext cx="14996159" cy="512064"/>
          </a:xfrm>
          <a:prstGeom prst="roundRect">
            <a:avLst>
              <a:gd name="adj" fmla="val 50000"/>
            </a:avLst>
          </a:prstGeom>
          <a:solidFill>
            <a:srgbClr val="09534E"/>
          </a:solidFill>
          <a:ln>
            <a:noFill/>
          </a:ln>
          <a:effectLst>
            <a:outerShdw blurRad="50800" dist="25400" dir="5400000" algn="t" rotWithShape="0">
              <a:prstClr val="black">
                <a:alpha val="28000"/>
              </a:prstClr>
            </a:outerShdw>
          </a:effectLst>
        </p:spPr>
        <p:txBody>
          <a:bodyPr wrap="square" lIns="182880" tIns="0" rIns="182880" bIns="0" anchor="ctr">
            <a:noAutofit/>
          </a:bodyPr>
          <a:lstStyle/>
          <a:p>
            <a:pPr algn="ctr"/>
            <a:r>
              <a:rPr lang="es-ES" sz="2000" b="1" dirty="0">
                <a:solidFill>
                  <a:srgbClr val="7DE9B0"/>
                </a:solidFill>
                <a:latin typeface="Arial"/>
                <a:cs typeface="Arial"/>
              </a:rPr>
              <a:t xml:space="preserve">✓  Las relaciones dejan de vivir en un JOIN: </a:t>
            </a:r>
            <a:r>
              <a:rPr lang="es-ES" sz="2000" b="1" dirty="0">
                <a:solidFill>
                  <a:srgbClr val="FFFFFF"/>
                </a:solidFill>
                <a:latin typeface="Arial"/>
                <a:cs typeface="Arial"/>
              </a:rPr>
              <a:t xml:space="preserve">son parte del modelo y cualquier agente puede recorrerlas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BE0062-40D3-29D8-FD81-5D966A6FD48F}"/>
            </a:ext>
          </a:extLst>
        </p:cNvPr>
        <p:cNvGrpSpPr/>
        <p:nvPr/>
      </p:nvGrpSpPr>
      <p:grpSpPr>
        <a:xfrm>
          <a:off x="0" y="0"/>
          <a:ext cx="0" cy="0"/>
          <a:chOff x="0" y="0"/>
          <a:chExt cx="0" cy="0"/>
        </a:xfrm>
      </p:grpSpPr>
      <p:sp>
        <p:nvSpPr>
          <p:cNvPr id="4" name="Título 3">
            <a:extLst>
              <a:ext uri="{FF2B5EF4-FFF2-40B4-BE49-F238E27FC236}">
                <a16:creationId xmlns:a16="http://schemas.microsoft.com/office/drawing/2014/main" id="{60B30394-823D-1083-FB6B-C4C56DCE1B92}"/>
              </a:ext>
            </a:extLst>
          </p:cNvPr>
          <p:cNvSpPr>
            <a:spLocks noGrp="1"/>
          </p:cNvSpPr>
          <p:nvPr>
            <p:ph type="title"/>
          </p:nvPr>
        </p:nvSpPr>
        <p:spPr/>
        <p:txBody>
          <a:bodyPr/>
          <a:lstStyle/>
          <a:p>
            <a:pPr marL="0" indent="0">
              <a:buNone/>
            </a:pPr>
            <a:r>
              <a:rPr lang="es-ES" sz="4400" b="1" dirty="0">
                <a:solidFill>
                  <a:srgbClr val="7DE9B0"/>
                </a:solidFill>
                <a:latin typeface="Arial"/>
                <a:cs typeface="Arial"/>
              </a:rPr>
              <a:t>Parte </a:t>
            </a:r>
            <a:r>
              <a:rPr lang="es-ES" b="1" dirty="0">
                <a:solidFill>
                  <a:srgbClr val="7DE9B0"/>
                </a:solidFill>
                <a:latin typeface="Arial"/>
                <a:cs typeface="Arial"/>
              </a:rPr>
              <a:t>Práctica</a:t>
            </a:r>
            <a:endParaRPr lang="es-ES" sz="4400" b="1" dirty="0">
              <a:solidFill>
                <a:srgbClr val="7DE9B0"/>
              </a:solidFill>
              <a:latin typeface="Arial"/>
              <a:cs typeface="Arial"/>
            </a:endParaRPr>
          </a:p>
        </p:txBody>
      </p:sp>
      <p:sp>
        <p:nvSpPr>
          <p:cNvPr id="5" name="Marcador de texto 4">
            <a:extLst>
              <a:ext uri="{FF2B5EF4-FFF2-40B4-BE49-F238E27FC236}">
                <a16:creationId xmlns:a16="http://schemas.microsoft.com/office/drawing/2014/main" id="{0B9DFEE9-B784-BF0F-BA12-C1423F27846D}"/>
              </a:ext>
            </a:extLst>
          </p:cNvPr>
          <p:cNvSpPr>
            <a:spLocks noGrp="1"/>
          </p:cNvSpPr>
          <p:nvPr>
            <p:ph type="body" sz="quarter" idx="10"/>
          </p:nvPr>
        </p:nvSpPr>
        <p:spPr>
          <a:xfrm>
            <a:off x="1257300" y="2933701"/>
            <a:ext cx="15506700" cy="2895600"/>
          </a:xfrm>
        </p:spPr>
        <p:txBody>
          <a:bodyPr/>
          <a:lstStyle/>
          <a:p>
            <a:pPr marL="0" indent="0">
              <a:buNone/>
            </a:pPr>
            <a:r>
              <a:rPr lang="es-ES" sz="5400" b="1" dirty="0">
                <a:solidFill>
                  <a:srgbClr val="FFFFFF"/>
                </a:solidFill>
                <a:latin typeface="Arial"/>
                <a:cs typeface="Arial"/>
              </a:rPr>
              <a:t>Demo en </a:t>
            </a:r>
            <a:r>
              <a:rPr lang="es-ES" sz="5400" b="1" dirty="0" err="1">
                <a:solidFill>
                  <a:srgbClr val="FFFFFF"/>
                </a:solidFill>
                <a:latin typeface="Arial"/>
                <a:cs typeface="Arial"/>
              </a:rPr>
              <a:t>Fabric</a:t>
            </a:r>
            <a:r>
              <a:rPr lang="es-ES" sz="5400" b="1" dirty="0">
                <a:solidFill>
                  <a:srgbClr val="FFFFFF"/>
                </a:solidFill>
                <a:latin typeface="Arial"/>
                <a:cs typeface="Arial"/>
              </a:rPr>
              <a:t>: Ontología de Parques Eólicos en Galicia</a:t>
            </a:r>
          </a:p>
        </p:txBody>
      </p:sp>
      <p:pic>
        <p:nvPicPr>
          <p:cNvPr id="9" name="Imagen 8">
            <a:extLst>
              <a:ext uri="{FF2B5EF4-FFF2-40B4-BE49-F238E27FC236}">
                <a16:creationId xmlns:a16="http://schemas.microsoft.com/office/drawing/2014/main" id="{B8BA6C26-9F20-81A9-E4E3-D5339B585B2C}"/>
              </a:ext>
            </a:extLst>
          </p:cNvPr>
          <p:cNvPicPr>
            <a:picLocks noChangeAspect="1"/>
          </p:cNvPicPr>
          <p:nvPr/>
        </p:nvPicPr>
        <p:blipFill>
          <a:blip r:embed="rId2"/>
          <a:stretch>
            <a:fillRect/>
          </a:stretch>
        </p:blipFill>
        <p:spPr>
          <a:xfrm>
            <a:off x="796250" y="605462"/>
            <a:ext cx="3623350" cy="988187"/>
          </a:xfrm>
          <a:prstGeom prst="rect">
            <a:avLst/>
          </a:prstGeom>
        </p:spPr>
      </p:pic>
      <p:pic>
        <p:nvPicPr>
          <p:cNvPr id="15" name="Imagen 14">
            <a:extLst>
              <a:ext uri="{FF2B5EF4-FFF2-40B4-BE49-F238E27FC236}">
                <a16:creationId xmlns:a16="http://schemas.microsoft.com/office/drawing/2014/main" id="{16539EC8-818D-7F8F-B6DC-BC69D9D3D52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8288000" cy="9101137"/>
          </a:xfrm>
          <a:prstGeom prst="rect">
            <a:avLst/>
          </a:prstGeom>
        </p:spPr>
      </p:pic>
      <p:sp>
        <p:nvSpPr>
          <p:cNvPr id="16" name="Título 3">
            <a:extLst>
              <a:ext uri="{FF2B5EF4-FFF2-40B4-BE49-F238E27FC236}">
                <a16:creationId xmlns:a16="http://schemas.microsoft.com/office/drawing/2014/main" id="{3950068A-14FE-853F-3C9F-8E048FE8EFF3}"/>
              </a:ext>
            </a:extLst>
          </p:cNvPr>
          <p:cNvSpPr txBox="1">
            <a:spLocks/>
          </p:cNvSpPr>
          <p:nvPr/>
        </p:nvSpPr>
        <p:spPr>
          <a:xfrm>
            <a:off x="990600" y="342900"/>
            <a:ext cx="15773400" cy="158432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Arial"/>
                <a:ea typeface="Arial"/>
                <a:cs typeface="Arial"/>
              </a:defRPr>
            </a:lvl1pPr>
          </a:lstStyle>
          <a:p>
            <a:r>
              <a:rPr lang="es-ES" b="1" dirty="0">
                <a:solidFill>
                  <a:srgbClr val="7DE9B0"/>
                </a:solidFill>
                <a:latin typeface="Arial"/>
                <a:cs typeface="Arial"/>
              </a:rPr>
              <a:t>Parte Práctica</a:t>
            </a:r>
          </a:p>
        </p:txBody>
      </p:sp>
      <p:sp>
        <p:nvSpPr>
          <p:cNvPr id="17" name="Marcador de texto 4">
            <a:extLst>
              <a:ext uri="{FF2B5EF4-FFF2-40B4-BE49-F238E27FC236}">
                <a16:creationId xmlns:a16="http://schemas.microsoft.com/office/drawing/2014/main" id="{619A662C-2797-1E7A-C341-799C684AE1D7}"/>
              </a:ext>
            </a:extLst>
          </p:cNvPr>
          <p:cNvSpPr txBox="1">
            <a:spLocks/>
          </p:cNvSpPr>
          <p:nvPr/>
        </p:nvSpPr>
        <p:spPr>
          <a:xfrm>
            <a:off x="990600" y="1744663"/>
            <a:ext cx="15506700" cy="28956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a:ea typeface="Arial"/>
                <a:cs typeface="Arial"/>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a:ea typeface="Arial"/>
                <a:cs typeface="Arial"/>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a:ea typeface="Arial"/>
                <a:cs typeface="Arial"/>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Arial"/>
                <a:cs typeface="Arial"/>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Arial"/>
                <a:cs typeface="Arial"/>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Arial"/>
                <a:cs typeface="Arial"/>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Arial"/>
                <a:cs typeface="Arial"/>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Arial"/>
                <a:cs typeface="Arial"/>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a:ea typeface="Arial"/>
                <a:cs typeface="Arial"/>
              </a:defRPr>
            </a:lvl9pPr>
          </a:lstStyle>
          <a:p>
            <a:pPr marL="0" indent="0">
              <a:buFont typeface="Arial" panose="020B0604020202020204" pitchFamily="34" charset="0"/>
              <a:buNone/>
            </a:pPr>
            <a:r>
              <a:rPr lang="es-ES" sz="5400" b="1" dirty="0">
                <a:solidFill>
                  <a:srgbClr val="FFFFFF"/>
                </a:solidFill>
                <a:latin typeface="Arial"/>
                <a:cs typeface="Arial"/>
              </a:rPr>
              <a:t>Demo en </a:t>
            </a:r>
            <a:r>
              <a:rPr lang="es-ES" sz="5400" b="1" dirty="0" err="1">
                <a:solidFill>
                  <a:srgbClr val="FFFFFF"/>
                </a:solidFill>
                <a:latin typeface="Arial"/>
                <a:cs typeface="Arial"/>
              </a:rPr>
              <a:t>Fabric</a:t>
            </a:r>
            <a:r>
              <a:rPr lang="es-ES" sz="5400" b="1" dirty="0">
                <a:solidFill>
                  <a:srgbClr val="FFFFFF"/>
                </a:solidFill>
                <a:latin typeface="Arial"/>
                <a:cs typeface="Arial"/>
              </a:rPr>
              <a:t>: Ontología de Parques Eólicos en Galicia</a:t>
            </a:r>
          </a:p>
        </p:txBody>
      </p:sp>
    </p:spTree>
    <p:extLst>
      <p:ext uri="{BB962C8B-B14F-4D97-AF65-F5344CB8AC3E}">
        <p14:creationId xmlns:p14="http://schemas.microsoft.com/office/powerpoint/2010/main" val="16976017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3">
            <a:extLst>
              <a:ext uri="{FF2B5EF4-FFF2-40B4-BE49-F238E27FC236}">
                <a16:creationId xmlns:a16="http://schemas.microsoft.com/office/drawing/2014/main" id="{1F86852F-1CC4-CD9B-EB92-8C0F1FA3EBCB}"/>
              </a:ext>
            </a:extLst>
          </p:cNvPr>
          <p:cNvSpPr>
            <a:spLocks noGrp="1"/>
          </p:cNvSpPr>
          <p:nvPr>
            <p:ph type="title"/>
          </p:nvPr>
        </p:nvSpPr>
        <p:spPr>
          <a:xfrm>
            <a:off x="1257300" y="952502"/>
            <a:ext cx="15773400" cy="1584323"/>
          </a:xfrm>
        </p:spPr>
        <p:txBody>
          <a:bodyPr/>
          <a:lstStyle/>
          <a:p>
            <a:pPr marL="0" indent="0">
              <a:buNone/>
            </a:pPr>
            <a:r>
              <a:rPr lang="es-ES" sz="4400" b="1" dirty="0">
                <a:solidFill>
                  <a:srgbClr val="7DE9B0"/>
                </a:solidFill>
                <a:latin typeface="Arial"/>
                <a:cs typeface="Arial"/>
              </a:rPr>
              <a:t>Demo: Análisis Parques Eólicos en Galicia</a:t>
            </a:r>
          </a:p>
        </p:txBody>
      </p:sp>
      <p:sp>
        <p:nvSpPr>
          <p:cNvPr id="5" name="CuadroTexto 4">
            <a:extLst>
              <a:ext uri="{FF2B5EF4-FFF2-40B4-BE49-F238E27FC236}">
                <a16:creationId xmlns:a16="http://schemas.microsoft.com/office/drawing/2014/main" id="{59F5C5B8-143A-C593-E749-67A721C29BDF}"/>
              </a:ext>
            </a:extLst>
          </p:cNvPr>
          <p:cNvSpPr txBox="1"/>
          <p:nvPr/>
        </p:nvSpPr>
        <p:spPr>
          <a:xfrm>
            <a:off x="11904997" y="5486617"/>
            <a:ext cx="3926806" cy="426256"/>
          </a:xfrm>
          <a:prstGeom prst="rect">
            <a:avLst/>
          </a:prstGeom>
          <a:noFill/>
        </p:spPr>
        <p:txBody>
          <a:bodyPr wrap="square">
            <a:spAutoFit/>
          </a:bodyPr>
          <a:lstStyle/>
          <a:p>
            <a:endParaRPr lang="es-ES" sz="1600" b="1" dirty="0">
              <a:solidFill>
                <a:schemeClr val="accent1"/>
              </a:solidFill>
            </a:endParaRPr>
          </a:p>
        </p:txBody>
      </p:sp>
      <p:pic>
        <p:nvPicPr>
          <p:cNvPr id="10" name="Imagen 9">
            <a:extLst>
              <a:ext uri="{FF2B5EF4-FFF2-40B4-BE49-F238E27FC236}">
                <a16:creationId xmlns:a16="http://schemas.microsoft.com/office/drawing/2014/main" id="{2E8CEBA0-D1D9-6B69-CDAF-64548B07E46E}"/>
              </a:ext>
            </a:extLst>
          </p:cNvPr>
          <p:cNvPicPr>
            <a:picLocks noChangeAspect="1"/>
          </p:cNvPicPr>
          <p:nvPr/>
        </p:nvPicPr>
        <p:blipFill>
          <a:blip r:embed="rId2"/>
          <a:stretch>
            <a:fillRect/>
          </a:stretch>
        </p:blipFill>
        <p:spPr>
          <a:xfrm>
            <a:off x="7848600" y="3162300"/>
            <a:ext cx="10144771" cy="4572001"/>
          </a:xfrm>
          <a:prstGeom prst="rect">
            <a:avLst/>
          </a:prstGeom>
          <a:effectLst>
            <a:outerShdw blurRad="50800" dist="38100" dir="2700000" algn="tl" rotWithShape="0">
              <a:prstClr val="black">
                <a:alpha val="40000"/>
              </a:prstClr>
            </a:outerShdw>
          </a:effectLst>
        </p:spPr>
      </p:pic>
      <p:pic>
        <p:nvPicPr>
          <p:cNvPr id="12" name="Gráfico 11" descr="Lupa con relleno sólido">
            <a:extLst>
              <a:ext uri="{FF2B5EF4-FFF2-40B4-BE49-F238E27FC236}">
                <a16:creationId xmlns:a16="http://schemas.microsoft.com/office/drawing/2014/main" id="{68E914C3-90F5-9FE2-31BA-AD3FE179DF6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H="1">
            <a:off x="7381116" y="6123328"/>
            <a:ext cx="2002744" cy="2002744"/>
          </a:xfrm>
          <a:prstGeom prst="rect">
            <a:avLst/>
          </a:prstGeom>
        </p:spPr>
      </p:pic>
      <p:pic>
        <p:nvPicPr>
          <p:cNvPr id="14" name="Imagen 13" descr="Icono&#10;&#10;El contenido generado por IA puede ser incorrecto.">
            <a:extLst>
              <a:ext uri="{FF2B5EF4-FFF2-40B4-BE49-F238E27FC236}">
                <a16:creationId xmlns:a16="http://schemas.microsoft.com/office/drawing/2014/main" id="{C8DC8728-E76F-348E-EEC6-C286B4906A83}"/>
              </a:ext>
            </a:extLst>
          </p:cNvPr>
          <p:cNvPicPr>
            <a:picLocks noChangeAspect="1"/>
          </p:cNvPicPr>
          <p:nvPr/>
        </p:nvPicPr>
        <p:blipFill>
          <a:blip r:embed="rId4"/>
          <a:stretch>
            <a:fillRect/>
          </a:stretch>
        </p:blipFill>
        <p:spPr>
          <a:xfrm>
            <a:off x="8229600" y="6533620"/>
            <a:ext cx="438680" cy="438680"/>
          </a:xfrm>
          <a:prstGeom prst="rect">
            <a:avLst/>
          </a:prstGeom>
        </p:spPr>
      </p:pic>
      <p:pic>
        <p:nvPicPr>
          <p:cNvPr id="16" name="Imagen 15" descr="Icono&#10;&#10;El contenido generado por IA puede ser incorrecto.">
            <a:extLst>
              <a:ext uri="{FF2B5EF4-FFF2-40B4-BE49-F238E27FC236}">
                <a16:creationId xmlns:a16="http://schemas.microsoft.com/office/drawing/2014/main" id="{42A78846-4BB2-3D40-3F83-081A7CDA25AA}"/>
              </a:ext>
            </a:extLst>
          </p:cNvPr>
          <p:cNvPicPr>
            <a:picLocks noChangeAspect="1"/>
          </p:cNvPicPr>
          <p:nvPr/>
        </p:nvPicPr>
        <p:blipFill>
          <a:blip r:embed="rId5"/>
          <a:stretch>
            <a:fillRect/>
          </a:stretch>
        </p:blipFill>
        <p:spPr>
          <a:xfrm>
            <a:off x="8448940" y="6786767"/>
            <a:ext cx="438680" cy="438680"/>
          </a:xfrm>
          <a:prstGeom prst="rect">
            <a:avLst/>
          </a:prstGeom>
        </p:spPr>
      </p:pic>
      <p:grpSp>
        <p:nvGrpSpPr>
          <p:cNvPr id="21" name="Grupo 20">
            <a:extLst>
              <a:ext uri="{FF2B5EF4-FFF2-40B4-BE49-F238E27FC236}">
                <a16:creationId xmlns:a16="http://schemas.microsoft.com/office/drawing/2014/main" id="{466866EC-462F-D399-B117-82D254D991BA}"/>
              </a:ext>
            </a:extLst>
          </p:cNvPr>
          <p:cNvGrpSpPr/>
          <p:nvPr/>
        </p:nvGrpSpPr>
        <p:grpSpPr>
          <a:xfrm>
            <a:off x="1600670" y="3079940"/>
            <a:ext cx="4876800" cy="5805203"/>
            <a:chOff x="1600670" y="3079940"/>
            <a:chExt cx="4876800" cy="5805203"/>
          </a:xfrm>
        </p:grpSpPr>
        <p:pic>
          <p:nvPicPr>
            <p:cNvPr id="18" name="Imagen 17">
              <a:extLst>
                <a:ext uri="{FF2B5EF4-FFF2-40B4-BE49-F238E27FC236}">
                  <a16:creationId xmlns:a16="http://schemas.microsoft.com/office/drawing/2014/main" id="{7B130CBB-114A-7CDD-EA23-5C164B4B8297}"/>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752600" y="3763563"/>
              <a:ext cx="4572940" cy="4572940"/>
            </a:xfrm>
            <a:prstGeom prst="rect">
              <a:avLst/>
            </a:prstGeom>
            <a:effectLst>
              <a:outerShdw blurRad="50800" dist="38100" dir="2700000" algn="tl" rotWithShape="0">
                <a:prstClr val="black">
                  <a:alpha val="40000"/>
                </a:prstClr>
              </a:outerShdw>
            </a:effectLst>
          </p:spPr>
        </p:pic>
        <p:sp>
          <p:nvSpPr>
            <p:cNvPr id="20" name="Text Placeholder 3">
              <a:extLst>
                <a:ext uri="{FF2B5EF4-FFF2-40B4-BE49-F238E27FC236}">
                  <a16:creationId xmlns:a16="http://schemas.microsoft.com/office/drawing/2014/main" id="{C9D6E5B0-DAD2-B02F-8C2C-79AC3576EE25}"/>
                </a:ext>
              </a:extLst>
            </p:cNvPr>
            <p:cNvSpPr txBox="1">
              <a:spLocks/>
            </p:cNvSpPr>
            <p:nvPr/>
          </p:nvSpPr>
          <p:spPr>
            <a:xfrm>
              <a:off x="1600670" y="3079940"/>
              <a:ext cx="4876800" cy="597665"/>
            </a:xfrm>
            <a:prstGeom prst="rect">
              <a:avLst/>
            </a:prstGeom>
            <a:noFill/>
            <a:ln>
              <a:noFill/>
            </a:ln>
          </p:spPr>
          <p:txBody>
            <a:bodyPr spcFirstLastPara="1" wrap="square" lIns="0" tIns="0" rIns="182875" bIns="0" anchor="t" anchorCtr="0">
              <a:noAutofit/>
            </a:bodyPr>
            <a:lstStyle>
              <a:defPPr marR="0" lvl="0" algn="l" rtl="0">
                <a:lnSpc>
                  <a:spcPct val="100000"/>
                </a:lnSpc>
                <a:spcBef>
                  <a:spcPts val="0"/>
                </a:spcBef>
                <a:spcAft>
                  <a:spcPts val="0"/>
                </a:spcAft>
              </a:defPPr>
              <a:lvl1pPr marL="139700" marR="0" lvl="0" indent="0" algn="l" rtl="0">
                <a:lnSpc>
                  <a:spcPct val="115000"/>
                </a:lnSpc>
                <a:spcBef>
                  <a:spcPts val="0"/>
                </a:spcBef>
                <a:spcAft>
                  <a:spcPts val="0"/>
                </a:spcAft>
                <a:buClr>
                  <a:srgbClr val="EF7828"/>
                </a:buClr>
                <a:buSzPts val="1400"/>
                <a:buFont typeface="Arial" panose="020B0604020202020204" pitchFamily="34" charset="0"/>
                <a:buNone/>
                <a:defRPr sz="1400" b="0" i="0" u="none" strike="noStrike" cap="none">
                  <a:solidFill>
                    <a:srgbClr val="09534E"/>
                  </a:solidFill>
                  <a:latin typeface="Arial"/>
                  <a:ea typeface="Arial"/>
                  <a:cs typeface="Arial"/>
                  <a:sym typeface="Arial"/>
                </a:defRPr>
              </a:lvl1pPr>
              <a:lvl2pPr marL="914400" marR="0" lvl="1" indent="-317500" algn="l" rtl="0">
                <a:lnSpc>
                  <a:spcPct val="115000"/>
                </a:lnSpc>
                <a:spcBef>
                  <a:spcPts val="1000"/>
                </a:spcBef>
                <a:spcAft>
                  <a:spcPts val="0"/>
                </a:spcAft>
                <a:buClr>
                  <a:schemeClr val="dk2"/>
                </a:buClr>
                <a:buSzPts val="1400"/>
                <a:buFont typeface="Arial"/>
                <a:buChar char="○"/>
                <a:defRPr sz="1400" b="0" i="0" u="none" strike="noStrike" cap="none">
                  <a:solidFill>
                    <a:srgbClr val="000000"/>
                  </a:solidFill>
                  <a:latin typeface="Arial"/>
                  <a:ea typeface="Arial"/>
                  <a:cs typeface="Arial"/>
                  <a:sym typeface="Arial"/>
                </a:defRPr>
              </a:lvl2pPr>
              <a:lvl3pPr marL="1371600" marR="0" lvl="2" indent="-317500" algn="l" rtl="0">
                <a:lnSpc>
                  <a:spcPct val="115000"/>
                </a:lnSpc>
                <a:spcBef>
                  <a:spcPts val="1000"/>
                </a:spcBef>
                <a:spcAft>
                  <a:spcPts val="0"/>
                </a:spcAft>
                <a:buClr>
                  <a:schemeClr val="dk2"/>
                </a:buClr>
                <a:buSzPts val="1400"/>
                <a:buFont typeface="Arial"/>
                <a:buChar char="■"/>
                <a:defRPr sz="1400" b="0" i="0" u="none" strike="noStrike" cap="none">
                  <a:solidFill>
                    <a:srgbClr val="000000"/>
                  </a:solidFill>
                  <a:latin typeface="Arial"/>
                  <a:ea typeface="Arial"/>
                  <a:cs typeface="Arial"/>
                  <a:sym typeface="Arial"/>
                </a:defRPr>
              </a:lvl3pPr>
              <a:lvl4pPr marL="1828800" marR="0" lvl="3" indent="-317500" algn="l" rtl="0">
                <a:lnSpc>
                  <a:spcPct val="115000"/>
                </a:lnSpc>
                <a:spcBef>
                  <a:spcPts val="1000"/>
                </a:spcBef>
                <a:spcAft>
                  <a:spcPts val="0"/>
                </a:spcAft>
                <a:buClr>
                  <a:schemeClr val="dk2"/>
                </a:buClr>
                <a:buSzPts val="1400"/>
                <a:buFont typeface="Arial"/>
                <a:buChar char="●"/>
                <a:defRPr sz="1400" b="0" i="0" u="none" strike="noStrike" cap="none">
                  <a:solidFill>
                    <a:srgbClr val="000000"/>
                  </a:solidFill>
                  <a:latin typeface="Arial"/>
                  <a:ea typeface="Arial"/>
                  <a:cs typeface="Arial"/>
                  <a:sym typeface="Arial"/>
                </a:defRPr>
              </a:lvl4pPr>
              <a:lvl5pPr marL="2286000" marR="0" lvl="4" indent="-317500" algn="l" rtl="0">
                <a:lnSpc>
                  <a:spcPct val="115000"/>
                </a:lnSpc>
                <a:spcBef>
                  <a:spcPts val="1000"/>
                </a:spcBef>
                <a:spcAft>
                  <a:spcPts val="0"/>
                </a:spcAft>
                <a:buClr>
                  <a:schemeClr val="dk2"/>
                </a:buClr>
                <a:buSzPts val="1400"/>
                <a:buFont typeface="Arial"/>
                <a:buChar char="○"/>
                <a:defRPr sz="1400" b="0" i="0" u="none" strike="noStrike" cap="none">
                  <a:solidFill>
                    <a:srgbClr val="000000"/>
                  </a:solidFill>
                  <a:latin typeface="Arial"/>
                  <a:ea typeface="Arial"/>
                  <a:cs typeface="Arial"/>
                  <a:sym typeface="Arial"/>
                </a:defRPr>
              </a:lvl5pPr>
              <a:lvl6pPr marL="2743200" marR="0" lvl="5" indent="-317500" algn="l" rtl="0">
                <a:lnSpc>
                  <a:spcPct val="115000"/>
                </a:lnSpc>
                <a:spcBef>
                  <a:spcPts val="1000"/>
                </a:spcBef>
                <a:spcAft>
                  <a:spcPts val="0"/>
                </a:spcAft>
                <a:buClr>
                  <a:schemeClr val="dk2"/>
                </a:buClr>
                <a:buSzPts val="1400"/>
                <a:buFont typeface="Arial"/>
                <a:buChar char="■"/>
                <a:defRPr sz="1400" b="0" i="0" u="none" strike="noStrike" cap="none">
                  <a:solidFill>
                    <a:srgbClr val="000000"/>
                  </a:solidFill>
                  <a:latin typeface="Arial"/>
                  <a:ea typeface="Arial"/>
                  <a:cs typeface="Arial"/>
                  <a:sym typeface="Arial"/>
                </a:defRPr>
              </a:lvl6pPr>
              <a:lvl7pPr marL="3200400" marR="0" lvl="6" indent="-317500" algn="l" rtl="0">
                <a:lnSpc>
                  <a:spcPct val="115000"/>
                </a:lnSpc>
                <a:spcBef>
                  <a:spcPts val="1000"/>
                </a:spcBef>
                <a:spcAft>
                  <a:spcPts val="0"/>
                </a:spcAft>
                <a:buClr>
                  <a:schemeClr val="dk2"/>
                </a:buClr>
                <a:buSzPts val="1400"/>
                <a:buFont typeface="Arial"/>
                <a:buChar char="●"/>
                <a:defRPr sz="1400" b="0" i="0" u="none" strike="noStrike" cap="none">
                  <a:solidFill>
                    <a:srgbClr val="000000"/>
                  </a:solidFill>
                  <a:latin typeface="Arial"/>
                  <a:ea typeface="Arial"/>
                  <a:cs typeface="Arial"/>
                  <a:sym typeface="Arial"/>
                </a:defRPr>
              </a:lvl7pPr>
              <a:lvl8pPr marL="3657600" marR="0" lvl="7" indent="-317500" algn="l" rtl="0">
                <a:lnSpc>
                  <a:spcPct val="115000"/>
                </a:lnSpc>
                <a:spcBef>
                  <a:spcPts val="1000"/>
                </a:spcBef>
                <a:spcAft>
                  <a:spcPts val="0"/>
                </a:spcAft>
                <a:buClr>
                  <a:schemeClr val="dk2"/>
                </a:buClr>
                <a:buSzPts val="1400"/>
                <a:buFont typeface="Arial"/>
                <a:buChar char="○"/>
                <a:defRPr sz="1400" b="0" i="0" u="none" strike="noStrike" cap="none">
                  <a:solidFill>
                    <a:srgbClr val="000000"/>
                  </a:solidFill>
                  <a:latin typeface="Arial"/>
                  <a:ea typeface="Arial"/>
                  <a:cs typeface="Arial"/>
                  <a:sym typeface="Arial"/>
                </a:defRPr>
              </a:lvl8pPr>
              <a:lvl9pPr marL="4114800" marR="0" lvl="8" indent="-317500" algn="l" rtl="0">
                <a:lnSpc>
                  <a:spcPct val="115000"/>
                </a:lnSpc>
                <a:spcBef>
                  <a:spcPts val="1000"/>
                </a:spcBef>
                <a:spcAft>
                  <a:spcPts val="1000"/>
                </a:spcAft>
                <a:buClr>
                  <a:schemeClr val="dk2"/>
                </a:buClr>
                <a:buSzPts val="1400"/>
                <a:buFont typeface="Arial"/>
                <a:buChar char="■"/>
                <a:defRPr sz="1400" b="0" i="0" u="none" strike="noStrike" cap="none">
                  <a:solidFill>
                    <a:srgbClr val="000000"/>
                  </a:solidFill>
                  <a:latin typeface="Arial"/>
                  <a:ea typeface="Arial"/>
                  <a:cs typeface="Arial"/>
                  <a:sym typeface="Arial"/>
                </a:defRPr>
              </a:lvl9pPr>
            </a:lstStyle>
            <a:p>
              <a:pPr algn="ctr"/>
              <a:r>
                <a:rPr lang="es-ES" sz="1800" b="1" dirty="0">
                  <a:solidFill>
                    <a:schemeClr val="accent1"/>
                  </a:solidFill>
                  <a:latin typeface="Arial"/>
                  <a:ea typeface="Arial"/>
                  <a:cs typeface="Arial"/>
                </a:rPr>
                <a:t>Repo de GitHub de la charla</a:t>
              </a:r>
            </a:p>
          </p:txBody>
        </p:sp>
        <p:sp>
          <p:nvSpPr>
            <p:cNvPr id="40" name="URL repo"/>
            <p:cNvSpPr txBox="1"/>
            <p:nvPr/>
          </p:nvSpPr>
          <p:spPr>
            <a:xfrm>
              <a:off x="1600670" y="8473663"/>
              <a:ext cx="4876800" cy="411480"/>
            </a:xfrm>
            <a:prstGeom prst="rect">
              <a:avLst/>
            </a:prstGeom>
            <a:noFill/>
          </p:spPr>
          <p:txBody>
            <a:bodyPr wrap="square" lIns="0" tIns="0" rIns="0" bIns="0" anchor="t">
              <a:noAutofit/>
            </a:bodyPr>
            <a:lstStyle/>
            <a:p>
              <a:pPr algn="ctr"/>
              <a:r>
                <a:rPr lang="es-ES" sz="1800" b="1" dirty="0">
                  <a:solidFill>
                    <a:schemeClr val="accent1"/>
                  </a:solidFill>
                  <a:latin typeface="Arial"/>
                  <a:ea typeface="Arial"/>
                  <a:cs typeface="Arial"/>
                </a:rPr>
                <a:t>github.com/AbenFdez/WIF2026</a:t>
              </a:r>
            </a:p>
          </p:txBody>
        </p:sp>
      </p:grpSp>
    </p:spTree>
    <p:extLst>
      <p:ext uri="{BB962C8B-B14F-4D97-AF65-F5344CB8AC3E}">
        <p14:creationId xmlns:p14="http://schemas.microsoft.com/office/powerpoint/2010/main" val="6292585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90600" y="723900"/>
            <a:ext cx="15773400" cy="1584323"/>
          </a:xfrm>
        </p:spPr>
        <p:txBody>
          <a:bodyPr/>
          <a:lstStyle/>
          <a:p>
            <a:pPr marL="0" indent="0">
              <a:buNone/>
            </a:pPr>
            <a:r>
              <a:rPr lang="es-ES" sz="4400" b="1" dirty="0">
                <a:latin typeface="Arial"/>
                <a:cs typeface="Arial"/>
              </a:rPr>
              <a:t>Fuentes de datos consultadas</a:t>
            </a:r>
          </a:p>
        </p:txBody>
      </p:sp>
      <p:sp>
        <p:nvSpPr>
          <p:cNvPr id="11" name="Etiqueta 11"/>
          <p:cNvSpPr/>
          <p:nvPr/>
        </p:nvSpPr>
        <p:spPr>
          <a:xfrm>
            <a:off x="1060704" y="2560000"/>
            <a:ext cx="3300000" cy="520000"/>
          </a:xfrm>
          <a:prstGeom prst="roundRect">
            <a:avLst>
              <a:gd name="adj" fmla="val 50000"/>
            </a:avLst>
          </a:prstGeom>
          <a:solidFill>
            <a:srgbClr val="10635A"/>
          </a:solidFill>
          <a:ln>
            <a:noFill/>
          </a:ln>
        </p:spPr>
        <p:txBody>
          <a:bodyPr wrap="square" lIns="0" tIns="0" rIns="0" bIns="0" anchor="t">
            <a:normAutofit/>
          </a:bodyPr>
          <a:lstStyle/>
          <a:p>
            <a:endParaRPr lang="es-ES"/>
          </a:p>
        </p:txBody>
      </p:sp>
      <p:sp>
        <p:nvSpPr>
          <p:cNvPr id="12" name="Etiqueta texto 12"/>
          <p:cNvSpPr txBox="1"/>
          <p:nvPr/>
        </p:nvSpPr>
        <p:spPr>
          <a:xfrm>
            <a:off x="1060704" y="2560000"/>
            <a:ext cx="3300000" cy="520000"/>
          </a:xfrm>
          <a:prstGeom prst="rect">
            <a:avLst/>
          </a:prstGeom>
          <a:noFill/>
          <a:ln>
            <a:noFill/>
          </a:ln>
        </p:spPr>
        <p:txBody>
          <a:bodyPr wrap="square" lIns="0" tIns="0" rIns="0" bIns="0" anchor="ctr">
            <a:normAutofit/>
          </a:bodyPr>
          <a:lstStyle/>
          <a:p>
            <a:pPr marL="0" indent="0" algn="ctr">
              <a:spcBef>
                <a:spcPts val="0"/>
              </a:spcBef>
              <a:spcAft>
                <a:spcPts val="0"/>
              </a:spcAft>
              <a:buNone/>
            </a:pPr>
            <a:r>
              <a:rPr lang="es-ES" sz="1600" b="1" dirty="0">
                <a:solidFill>
                  <a:srgbClr val="FFFFFF"/>
                </a:solidFill>
                <a:latin typeface="Arial"/>
                <a:cs typeface="Arial"/>
              </a:rPr>
              <a:t>DATOS REALES</a:t>
            </a:r>
          </a:p>
        </p:txBody>
      </p:sp>
      <p:sp>
        <p:nvSpPr>
          <p:cNvPr id="13" name="Fuentes 13"/>
          <p:cNvSpPr txBox="1"/>
          <p:nvPr/>
        </p:nvSpPr>
        <p:spPr>
          <a:xfrm>
            <a:off x="1060704" y="3373900"/>
            <a:ext cx="10300000" cy="4970000"/>
          </a:xfrm>
          <a:prstGeom prst="rect">
            <a:avLst/>
          </a:prstGeom>
          <a:noFill/>
          <a:ln>
            <a:noFill/>
          </a:ln>
        </p:spPr>
        <p:txBody>
          <a:bodyPr wrap="square" lIns="0" tIns="0" rIns="0" bIns="0" anchor="t">
            <a:normAutofit/>
          </a:bodyPr>
          <a:lstStyle/>
          <a:p>
            <a:pPr marL="0" indent="0" algn="l">
              <a:spcBef>
                <a:spcPts val="0"/>
              </a:spcBef>
              <a:spcAft>
                <a:spcPts val="150"/>
              </a:spcAft>
              <a:buNone/>
            </a:pPr>
            <a:r>
              <a:rPr lang="es-ES" sz="1800" b="1" dirty="0">
                <a:solidFill>
                  <a:srgbClr val="10635A"/>
                </a:solidFill>
                <a:latin typeface="Arial"/>
                <a:cs typeface="Arial"/>
              </a:rPr>
              <a:t>Web oficial del INE para descarga de datos geográficos:</a:t>
            </a:r>
          </a:p>
          <a:p>
            <a:pPr marL="0" indent="0" algn="l">
              <a:spcBef>
                <a:spcPts val="0"/>
              </a:spcBef>
              <a:spcAft>
                <a:spcPts val="1500"/>
              </a:spcAft>
              <a:buNone/>
            </a:pPr>
            <a:r>
              <a:rPr lang="es-ES" sz="1500" dirty="0">
                <a:solidFill>
                  <a:srgbClr val="09534E"/>
                </a:solidFill>
                <a:latin typeface="Arial"/>
                <a:cs typeface="Arial"/>
              </a:rPr>
              <a:t>INEbase / Clasificaciones / Relación de municipios, provincias, comunidades y ciudades autónomas con sus códigos / Relación de comunidades y ciudades autónomas con sus códigos</a:t>
            </a:r>
          </a:p>
          <a:p>
            <a:pPr marL="0" indent="0" algn="l">
              <a:spcBef>
                <a:spcPts val="0"/>
              </a:spcBef>
              <a:spcAft>
                <a:spcPts val="150"/>
              </a:spcAft>
              <a:buNone/>
            </a:pPr>
            <a:r>
              <a:rPr lang="es-ES" sz="1800" b="1" dirty="0">
                <a:solidFill>
                  <a:srgbClr val="10635A"/>
                </a:solidFill>
                <a:latin typeface="Arial"/>
                <a:cs typeface="Arial"/>
              </a:rPr>
              <a:t>Web oficial del MITECO para consulta del registro de instalaciones de producción de energía eléctrica en España:</a:t>
            </a:r>
          </a:p>
          <a:p>
            <a:pPr marL="0" indent="0" algn="l">
              <a:spcBef>
                <a:spcPts val="0"/>
              </a:spcBef>
              <a:spcAft>
                <a:spcPts val="1500"/>
              </a:spcAft>
              <a:buNone/>
            </a:pPr>
            <a:r>
              <a:rPr lang="es-ES" sz="1500" dirty="0">
                <a:solidFill>
                  <a:srgbClr val="09534E"/>
                </a:solidFill>
                <a:latin typeface="Arial"/>
                <a:cs typeface="Arial"/>
              </a:rPr>
              <a:t>https://energia.serviciosmin.gob.es/Pretor/Vista/Informes/InformesInstalaciones.aspx</a:t>
            </a:r>
          </a:p>
          <a:p>
            <a:pPr marL="0" indent="0" algn="l">
              <a:spcBef>
                <a:spcPts val="0"/>
              </a:spcBef>
              <a:spcAft>
                <a:spcPts val="150"/>
              </a:spcAft>
              <a:buNone/>
            </a:pPr>
            <a:r>
              <a:rPr lang="es-ES" sz="1800" b="1" dirty="0">
                <a:solidFill>
                  <a:srgbClr val="10635A"/>
                </a:solidFill>
                <a:latin typeface="Arial"/>
                <a:cs typeface="Arial"/>
              </a:rPr>
              <a:t>Web oficial del INEGA (Xunta de Galicia) para consulta de instalaciones y propietarios en Galicia:</a:t>
            </a:r>
          </a:p>
          <a:p>
            <a:pPr marL="0" indent="0" algn="l">
              <a:spcBef>
                <a:spcPts val="0"/>
              </a:spcBef>
              <a:spcAft>
                <a:spcPts val="1500"/>
              </a:spcAft>
              <a:buNone/>
            </a:pPr>
            <a:r>
              <a:rPr lang="es-ES" sz="1500" dirty="0">
                <a:solidFill>
                  <a:srgbClr val="09534E"/>
                </a:solidFill>
                <a:latin typeface="Arial"/>
                <a:cs typeface="Arial"/>
              </a:rPr>
              <a:t>https://www.inega.gal/sites/default/files/2026-06/centrales_eolicas-202606.pdf</a:t>
            </a:r>
          </a:p>
          <a:p>
            <a:pPr marL="0" indent="0" algn="l">
              <a:spcBef>
                <a:spcPts val="0"/>
              </a:spcBef>
              <a:spcAft>
                <a:spcPts val="150"/>
              </a:spcAft>
              <a:buNone/>
            </a:pPr>
            <a:r>
              <a:rPr lang="es-ES" sz="1800" b="1" dirty="0">
                <a:solidFill>
                  <a:srgbClr val="10635A"/>
                </a:solidFill>
                <a:latin typeface="Arial"/>
                <a:cs typeface="Arial"/>
              </a:rPr>
              <a:t>Web oficial del DOG (Xunta de Galicia) para consulta de información sobre generadores y fabricantes:</a:t>
            </a:r>
          </a:p>
          <a:p>
            <a:pPr marL="0" indent="0" algn="l">
              <a:spcBef>
                <a:spcPts val="0"/>
              </a:spcBef>
              <a:spcAft>
                <a:spcPts val="1500"/>
              </a:spcAft>
              <a:buNone/>
            </a:pPr>
            <a:r>
              <a:rPr lang="es-ES" sz="1500" dirty="0">
                <a:solidFill>
                  <a:srgbClr val="09534E"/>
                </a:solidFill>
                <a:latin typeface="Arial"/>
                <a:cs typeface="Arial"/>
              </a:rPr>
              <a:t>https://www.xunta.gal/dog/Publicados/1998/19980812/Anuncio3A42_gl.html</a:t>
            </a:r>
          </a:p>
          <a:p>
            <a:pPr marL="0" indent="0" algn="l">
              <a:spcBef>
                <a:spcPts val="0"/>
              </a:spcBef>
              <a:spcAft>
                <a:spcPts val="150"/>
              </a:spcAft>
              <a:buNone/>
            </a:pPr>
            <a:r>
              <a:rPr lang="es-ES" sz="1800" b="1" dirty="0">
                <a:solidFill>
                  <a:srgbClr val="10635A"/>
                </a:solidFill>
                <a:latin typeface="Arial"/>
                <a:cs typeface="Arial"/>
              </a:rPr>
              <a:t>Base de datos de The Wind Power para consulta de información sobre generadores y fabricantes:</a:t>
            </a:r>
          </a:p>
          <a:p>
            <a:pPr marL="0" indent="0" algn="l">
              <a:spcBef>
                <a:spcPts val="0"/>
              </a:spcBef>
              <a:spcAft>
                <a:spcPts val="1500"/>
              </a:spcAft>
              <a:buNone/>
            </a:pPr>
            <a:r>
              <a:rPr lang="es-ES" sz="1500" dirty="0">
                <a:solidFill>
                  <a:srgbClr val="09534E"/>
                </a:solidFill>
                <a:latin typeface="Arial"/>
                <a:cs typeface="Arial"/>
              </a:rPr>
              <a:t>https://www.thewindpower.net/windfarm_en_1958_cuadramon.php</a:t>
            </a:r>
          </a:p>
        </p:txBody>
      </p:sp>
      <p:sp>
        <p:nvSpPr>
          <p:cNvPr id="14" name="Tarjeta 14"/>
          <p:cNvSpPr/>
          <p:nvPr/>
        </p:nvSpPr>
        <p:spPr>
          <a:xfrm>
            <a:off x="11760704" y="2560000"/>
            <a:ext cx="5476000" cy="5783900"/>
          </a:xfrm>
          <a:prstGeom prst="roundRect">
            <a:avLst>
              <a:gd name="adj" fmla="val 6000"/>
            </a:avLst>
          </a:prstGeom>
          <a:solidFill>
            <a:srgbClr val="E4F7EE"/>
          </a:solidFill>
          <a:ln>
            <a:noFill/>
          </a:ln>
        </p:spPr>
        <p:txBody>
          <a:bodyPr wrap="square" lIns="0" tIns="0" rIns="0" bIns="0" anchor="t">
            <a:normAutofit/>
          </a:bodyPr>
          <a:lstStyle/>
          <a:p>
            <a:endParaRPr lang="es-ES"/>
          </a:p>
        </p:txBody>
      </p:sp>
      <p:sp>
        <p:nvSpPr>
          <p:cNvPr id="15" name="Circulo 15"/>
          <p:cNvSpPr/>
          <p:nvPr/>
        </p:nvSpPr>
        <p:spPr>
          <a:xfrm>
            <a:off x="12000704" y="2800000"/>
            <a:ext cx="760000" cy="760000"/>
          </a:xfrm>
          <a:prstGeom prst="ellipse">
            <a:avLst/>
          </a:prstGeom>
          <a:solidFill>
            <a:srgbClr val="E8B84B"/>
          </a:solidFill>
          <a:ln>
            <a:noFill/>
          </a:ln>
        </p:spPr>
        <p:txBody>
          <a:bodyPr wrap="square" lIns="0" tIns="0" rIns="0" bIns="0" anchor="t">
            <a:normAutofit/>
          </a:bodyPr>
          <a:lstStyle/>
          <a:p>
            <a:endParaRPr lang="es-ES"/>
          </a:p>
        </p:txBody>
      </p:sp>
      <p:pic>
        <p:nvPicPr>
          <p:cNvPr id="16" name="Icono 16" descr="IA"/>
          <p:cNvPicPr>
            <a:picLocks noChangeAspect="1"/>
          </p:cNvPicPr>
          <p:nvPr/>
        </p:nvPicPr>
        <p:blipFill>
          <a:blip r:embed="rId2"/>
          <a:stretch>
            <a:fillRect/>
          </a:stretch>
        </p:blipFill>
        <p:spPr>
          <a:xfrm>
            <a:off x="12190704" y="2990000"/>
            <a:ext cx="380000" cy="380000"/>
          </a:xfrm>
          <a:prstGeom prst="rect">
            <a:avLst/>
          </a:prstGeom>
        </p:spPr>
      </p:pic>
      <p:sp>
        <p:nvSpPr>
          <p:cNvPr id="17" name="Titulo tarjeta 17"/>
          <p:cNvSpPr txBox="1"/>
          <p:nvPr/>
        </p:nvSpPr>
        <p:spPr>
          <a:xfrm>
            <a:off x="12900704" y="2800000"/>
            <a:ext cx="4176000" cy="760000"/>
          </a:xfrm>
          <a:prstGeom prst="rect">
            <a:avLst/>
          </a:prstGeom>
          <a:noFill/>
          <a:ln>
            <a:noFill/>
          </a:ln>
        </p:spPr>
        <p:txBody>
          <a:bodyPr wrap="square" lIns="0" tIns="0" rIns="0" bIns="0" anchor="ctr">
            <a:normAutofit/>
          </a:bodyPr>
          <a:lstStyle/>
          <a:p>
            <a:pPr marL="0" indent="0" algn="l">
              <a:spcBef>
                <a:spcPts val="0"/>
              </a:spcBef>
              <a:spcAft>
                <a:spcPts val="0"/>
              </a:spcAft>
              <a:buNone/>
            </a:pPr>
            <a:r>
              <a:rPr lang="es-ES" sz="1800" b="1" dirty="0">
                <a:solidFill>
                  <a:srgbClr val="10635A"/>
                </a:solidFill>
                <a:latin typeface="Arial"/>
                <a:cs typeface="Arial"/>
              </a:rPr>
              <a:t>DATOS SINTÉTICOS</a:t>
            </a:r>
          </a:p>
          <a:p>
            <a:pPr marL="0" indent="0" algn="l">
              <a:spcBef>
                <a:spcPts val="0"/>
              </a:spcBef>
              <a:spcAft>
                <a:spcPts val="0"/>
              </a:spcAft>
              <a:buNone/>
            </a:pPr>
            <a:r>
              <a:rPr lang="es-ES" sz="1500" b="1" dirty="0">
                <a:solidFill>
                  <a:srgbClr val="1E8A7C"/>
                </a:solidFill>
                <a:latin typeface="Arial"/>
                <a:cs typeface="Arial"/>
              </a:rPr>
              <a:t>generados con IA</a:t>
            </a:r>
          </a:p>
        </p:txBody>
      </p:sp>
      <p:sp>
        <p:nvSpPr>
          <p:cNvPr id="18" name="Texto 18"/>
          <p:cNvSpPr txBox="1"/>
          <p:nvPr/>
        </p:nvSpPr>
        <p:spPr>
          <a:xfrm>
            <a:off x="12000704" y="3810000"/>
            <a:ext cx="4996000" cy="2300000"/>
          </a:xfrm>
          <a:prstGeom prst="rect">
            <a:avLst/>
          </a:prstGeom>
          <a:noFill/>
          <a:ln>
            <a:noFill/>
          </a:ln>
        </p:spPr>
        <p:txBody>
          <a:bodyPr wrap="square" lIns="0" tIns="0" rIns="0" bIns="0" anchor="t">
            <a:normAutofit/>
          </a:bodyPr>
          <a:lstStyle/>
          <a:p>
            <a:pPr marL="0" indent="0" algn="l">
              <a:spcBef>
                <a:spcPts val="0"/>
              </a:spcBef>
              <a:spcAft>
                <a:spcPts val="800"/>
              </a:spcAft>
              <a:buNone/>
            </a:pPr>
            <a:r>
              <a:rPr lang="es-ES" sz="1800" b="1" dirty="0">
                <a:solidFill>
                  <a:srgbClr val="09534E"/>
                </a:solidFill>
                <a:latin typeface="Arial"/>
                <a:cs typeface="Arial"/>
              </a:rPr>
              <a:t>Generación eléctrica y ventas</a:t>
            </a:r>
            <a:r>
              <a:rPr lang="es-ES" sz="1800" dirty="0">
                <a:solidFill>
                  <a:srgbClr val="09534E"/>
                </a:solidFill>
                <a:latin typeface="Arial"/>
                <a:cs typeface="Arial"/>
              </a:rPr>
              <a:t> de los parques eólicos: datos simulados con IA generativa, con fines exclusivamente demostrativos.</a:t>
            </a:r>
          </a:p>
          <a:p>
            <a:pPr marL="0" indent="0" algn="l">
              <a:spcBef>
                <a:spcPts val="0"/>
              </a:spcBef>
              <a:spcAft>
                <a:spcPts val="0"/>
              </a:spcAft>
              <a:buNone/>
            </a:pPr>
            <a:r>
              <a:rPr lang="es-ES" sz="1800" dirty="0">
                <a:solidFill>
                  <a:srgbClr val="09534E"/>
                </a:solidFill>
                <a:latin typeface="Arial"/>
                <a:cs typeface="Arial"/>
              </a:rPr>
              <a:t>No proceden de ninguna fuente oficial ni reflejan la producción o facturación reales de las instalaciones.</a:t>
            </a:r>
          </a:p>
        </p:txBody>
      </p:sp>
      <p:sp>
        <p:nvSpPr>
          <p:cNvPr id="19" name="Nota 19"/>
          <p:cNvSpPr/>
          <p:nvPr/>
        </p:nvSpPr>
        <p:spPr>
          <a:xfrm>
            <a:off x="12000704" y="6591300"/>
            <a:ext cx="4996000" cy="1250000"/>
          </a:xfrm>
          <a:prstGeom prst="roundRect">
            <a:avLst>
              <a:gd name="adj" fmla="val 10000"/>
            </a:avLst>
          </a:prstGeom>
          <a:solidFill>
            <a:srgbClr val="FFFFFF"/>
          </a:solidFill>
          <a:ln>
            <a:noFill/>
          </a:ln>
        </p:spPr>
        <p:txBody>
          <a:bodyPr wrap="square" lIns="0" tIns="0" rIns="0" bIns="0" anchor="t">
            <a:normAutofit/>
          </a:bodyPr>
          <a:lstStyle/>
          <a:p>
            <a:endParaRPr lang="es-ES"/>
          </a:p>
        </p:txBody>
      </p:sp>
      <p:sp>
        <p:nvSpPr>
          <p:cNvPr id="20" name="Nota texto 20"/>
          <p:cNvSpPr txBox="1"/>
          <p:nvPr/>
        </p:nvSpPr>
        <p:spPr>
          <a:xfrm>
            <a:off x="12150704" y="6591300"/>
            <a:ext cx="4696000" cy="1250000"/>
          </a:xfrm>
          <a:prstGeom prst="rect">
            <a:avLst/>
          </a:prstGeom>
          <a:noFill/>
          <a:ln>
            <a:noFill/>
          </a:ln>
        </p:spPr>
        <p:txBody>
          <a:bodyPr wrap="square" lIns="0" tIns="0" rIns="0" bIns="0" anchor="ctr">
            <a:normAutofit/>
          </a:bodyPr>
          <a:lstStyle/>
          <a:p>
            <a:pPr marL="0" indent="0" algn="l">
              <a:spcBef>
                <a:spcPts val="0"/>
              </a:spcBef>
              <a:spcAft>
                <a:spcPts val="0"/>
              </a:spcAft>
              <a:buNone/>
            </a:pPr>
            <a:r>
              <a:rPr lang="es-ES" sz="1500" b="1" dirty="0">
                <a:solidFill>
                  <a:srgbClr val="09534E"/>
                </a:solidFill>
                <a:latin typeface="Arial"/>
                <a:cs typeface="Arial"/>
              </a:rPr>
              <a:t>Datos reales (ubicación, titulares, fabricantes) + datos sintéticos (generación y ventas) = la demo.</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341B48-9CA3-B7F0-B098-4DF4B9374F67}"/>
            </a:ext>
          </a:extLst>
        </p:cNvPr>
        <p:cNvGrpSpPr/>
        <p:nvPr/>
      </p:nvGrpSpPr>
      <p:grpSpPr>
        <a:xfrm>
          <a:off x="0" y="0"/>
          <a:ext cx="0" cy="0"/>
          <a:chOff x="0" y="0"/>
          <a:chExt cx="0" cy="0"/>
        </a:xfrm>
      </p:grpSpPr>
      <p:sp>
        <p:nvSpPr>
          <p:cNvPr id="16" name="Mensaje clave 16"/>
          <p:cNvSpPr/>
          <p:nvPr/>
        </p:nvSpPr>
        <p:spPr>
          <a:xfrm>
            <a:off x="2743200" y="8321040"/>
            <a:ext cx="12801600" cy="512064"/>
          </a:xfrm>
          <a:prstGeom prst="roundRect">
            <a:avLst>
              <a:gd name="adj" fmla="val 50000"/>
            </a:avLst>
          </a:prstGeom>
          <a:solidFill>
            <a:srgbClr val="09534E"/>
          </a:solidFill>
          <a:ln>
            <a:noFill/>
          </a:ln>
          <a:effectLst>
            <a:outerShdw blurRad="50800" dist="25400" dir="5400000" algn="t" rotWithShape="0">
              <a:prstClr val="black">
                <a:alpha val="28000"/>
              </a:prstClr>
            </a:outerShdw>
          </a:effectLst>
        </p:spPr>
        <p:txBody>
          <a:bodyPr wrap="square" lIns="182880" tIns="0" rIns="182880" bIns="0" anchor="ctr">
            <a:noAutofit/>
          </a:bodyPr>
          <a:lstStyle/>
          <a:p>
            <a:pPr algn="ctr"/>
            <a:r>
              <a:rPr lang="es-ES" sz="2000" b="1" dirty="0">
                <a:solidFill>
                  <a:srgbClr val="7DE9B0"/>
                </a:solidFill>
                <a:latin typeface="Arial"/>
                <a:cs typeface="Arial"/>
              </a:rPr>
              <a:t xml:space="preserve">✓  Primero los conceptos y cómo se conectan; </a:t>
            </a:r>
            <a:r>
              <a:rPr lang="es-ES" sz="2000" b="1" dirty="0">
                <a:solidFill>
                  <a:srgbClr val="FFFFFF"/>
                </a:solidFill>
                <a:latin typeface="Arial"/>
                <a:cs typeface="Arial"/>
              </a:rPr>
              <a:t xml:space="preserve">después, las tablas que los alimentan</a:t>
            </a:r>
          </a:p>
        </p:txBody>
      </p:sp>
      <p:sp>
        <p:nvSpPr>
          <p:cNvPr id="5" name="Título 1">
            <a:extLst>
              <a:ext uri="{FF2B5EF4-FFF2-40B4-BE49-F238E27FC236}">
                <a16:creationId xmlns:a16="http://schemas.microsoft.com/office/drawing/2014/main" id="{A43F9521-EB50-6D89-4AB0-00A9DECA9F45}"/>
              </a:ext>
            </a:extLst>
          </p:cNvPr>
          <p:cNvSpPr>
            <a:spLocks noGrp="1"/>
          </p:cNvSpPr>
          <p:nvPr>
            <p:ph type="title"/>
          </p:nvPr>
        </p:nvSpPr>
        <p:spPr>
          <a:xfrm>
            <a:off x="678180" y="495300"/>
            <a:ext cx="15773400" cy="1584323"/>
          </a:xfrm>
        </p:spPr>
        <p:txBody>
          <a:bodyPr/>
          <a:lstStyle/>
          <a:p>
            <a:pPr marL="0" indent="0">
              <a:buNone/>
            </a:pPr>
            <a:r>
              <a:rPr lang="es-ES" sz="4400" b="1" dirty="0">
                <a:latin typeface="Arial"/>
                <a:cs typeface="Arial"/>
              </a:rPr>
              <a:t>El grafo del dominio eólico · modelo conceptual</a:t>
            </a:r>
          </a:p>
        </p:txBody>
      </p:sp>
      <p:sp>
        <p:nvSpPr>
          <p:cNvPr id="6" name="s">
            <a:extLst>
              <a:ext uri="{FF2B5EF4-FFF2-40B4-BE49-F238E27FC236}">
                <a16:creationId xmlns:a16="http://schemas.microsoft.com/office/drawing/2014/main" id="{9B524701-15B5-8930-CCC1-A8A18F3384C8}"/>
              </a:ext>
            </a:extLst>
          </p:cNvPr>
          <p:cNvSpPr/>
          <p:nvPr/>
        </p:nvSpPr>
        <p:spPr>
          <a:xfrm>
            <a:off x="609600" y="2971844"/>
            <a:ext cx="3383280" cy="1133856"/>
          </a:xfrm>
          <a:prstGeom prst="roundRect">
            <a:avLst>
              <a:gd name="adj" fmla="val 50000"/>
            </a:avLst>
          </a:prstGeom>
          <a:solidFill>
            <a:srgbClr val="10635A"/>
          </a:solidFill>
          <a:ln>
            <a:noFill/>
          </a:ln>
        </p:spPr>
        <p:txBody>
          <a:bodyPr wrap="square" lIns="91440" tIns="36576" rIns="91440" bIns="36576" anchor="ctr">
            <a:normAutofit/>
          </a:bodyPr>
          <a:lstStyle/>
          <a:p>
            <a:pPr algn="ctr"/>
            <a:r>
              <a:rPr lang="es-ES" sz="2300" b="1" dirty="0">
                <a:solidFill>
                  <a:srgbClr val="FFFFFF"/>
                </a:solidFill>
                <a:latin typeface="Arial"/>
                <a:cs typeface="Arial"/>
              </a:rPr>
              <a:t>Geografía</a:t>
            </a:r>
          </a:p>
        </p:txBody>
      </p:sp>
      <p:sp>
        <p:nvSpPr>
          <p:cNvPr id="7" name="s">
            <a:extLst>
              <a:ext uri="{FF2B5EF4-FFF2-40B4-BE49-F238E27FC236}">
                <a16:creationId xmlns:a16="http://schemas.microsoft.com/office/drawing/2014/main" id="{841CCF3D-D096-647A-DA8C-45A5ECC6F3DD}"/>
              </a:ext>
            </a:extLst>
          </p:cNvPr>
          <p:cNvSpPr/>
          <p:nvPr/>
        </p:nvSpPr>
        <p:spPr>
          <a:xfrm>
            <a:off x="6873240" y="2971844"/>
            <a:ext cx="3383280" cy="1133856"/>
          </a:xfrm>
          <a:prstGeom prst="roundRect">
            <a:avLst>
              <a:gd name="adj" fmla="val 50000"/>
            </a:avLst>
          </a:prstGeom>
          <a:solidFill>
            <a:srgbClr val="E8B84B"/>
          </a:solidFill>
          <a:ln>
            <a:noFill/>
          </a:ln>
        </p:spPr>
        <p:txBody>
          <a:bodyPr wrap="square" lIns="91440" tIns="36576" rIns="91440" bIns="36576" anchor="ctr">
            <a:normAutofit/>
          </a:bodyPr>
          <a:lstStyle/>
          <a:p>
            <a:pPr algn="ctr"/>
            <a:r>
              <a:rPr lang="es-ES" sz="2300" b="1" dirty="0">
                <a:solidFill>
                  <a:srgbClr val="09534E"/>
                </a:solidFill>
                <a:latin typeface="Arial"/>
                <a:cs typeface="Arial"/>
              </a:rPr>
              <a:t>Instalaciones</a:t>
            </a:r>
          </a:p>
        </p:txBody>
      </p:sp>
      <p:sp>
        <p:nvSpPr>
          <p:cNvPr id="8" name="s">
            <a:extLst>
              <a:ext uri="{FF2B5EF4-FFF2-40B4-BE49-F238E27FC236}">
                <a16:creationId xmlns:a16="http://schemas.microsoft.com/office/drawing/2014/main" id="{26B86345-F0C0-202E-8C81-AC447AA0B811}"/>
              </a:ext>
            </a:extLst>
          </p:cNvPr>
          <p:cNvSpPr/>
          <p:nvPr/>
        </p:nvSpPr>
        <p:spPr>
          <a:xfrm>
            <a:off x="13136880" y="2971844"/>
            <a:ext cx="3383280" cy="1133856"/>
          </a:xfrm>
          <a:prstGeom prst="roundRect">
            <a:avLst>
              <a:gd name="adj" fmla="val 50000"/>
            </a:avLst>
          </a:prstGeom>
          <a:solidFill>
            <a:srgbClr val="10635A"/>
          </a:solidFill>
          <a:ln>
            <a:noFill/>
          </a:ln>
        </p:spPr>
        <p:txBody>
          <a:bodyPr wrap="square" lIns="91440" tIns="36576" rIns="91440" bIns="36576" anchor="ctr">
            <a:normAutofit/>
          </a:bodyPr>
          <a:lstStyle/>
          <a:p>
            <a:pPr algn="ctr"/>
            <a:r>
              <a:rPr lang="es-ES" sz="2300" b="1" dirty="0">
                <a:solidFill>
                  <a:srgbClr val="FFFFFF"/>
                </a:solidFill>
                <a:latin typeface="Arial"/>
                <a:cs typeface="Arial"/>
              </a:rPr>
              <a:t>Propietarios</a:t>
            </a:r>
          </a:p>
        </p:txBody>
      </p:sp>
      <p:sp>
        <p:nvSpPr>
          <p:cNvPr id="9" name="s">
            <a:extLst>
              <a:ext uri="{FF2B5EF4-FFF2-40B4-BE49-F238E27FC236}">
                <a16:creationId xmlns:a16="http://schemas.microsoft.com/office/drawing/2014/main" id="{5926DAA3-EBDA-150A-083B-DDE693C6DE48}"/>
              </a:ext>
            </a:extLst>
          </p:cNvPr>
          <p:cNvSpPr/>
          <p:nvPr/>
        </p:nvSpPr>
        <p:spPr>
          <a:xfrm>
            <a:off x="3673240" y="6371844"/>
            <a:ext cx="3383280" cy="1133856"/>
          </a:xfrm>
          <a:prstGeom prst="roundRect">
            <a:avLst>
              <a:gd name="adj" fmla="val 50000"/>
            </a:avLst>
          </a:prstGeom>
          <a:solidFill>
            <a:srgbClr val="10635A"/>
          </a:solidFill>
          <a:ln>
            <a:noFill/>
          </a:ln>
        </p:spPr>
        <p:txBody>
          <a:bodyPr wrap="square" lIns="91440" tIns="36576" rIns="91440" bIns="36576" anchor="ctr">
            <a:normAutofit/>
          </a:bodyPr>
          <a:lstStyle/>
          <a:p>
            <a:pPr algn="ctr"/>
            <a:r>
              <a:rPr lang="es-ES" sz="2300" b="1" dirty="0">
                <a:solidFill>
                  <a:srgbClr val="FFFFFF"/>
                </a:solidFill>
                <a:latin typeface="Arial"/>
                <a:cs typeface="Arial"/>
              </a:rPr>
              <a:t>Generación energía</a:t>
            </a:r>
          </a:p>
        </p:txBody>
      </p:sp>
      <p:sp>
        <p:nvSpPr>
          <p:cNvPr id="10" name="s">
            <a:extLst>
              <a:ext uri="{FF2B5EF4-FFF2-40B4-BE49-F238E27FC236}">
                <a16:creationId xmlns:a16="http://schemas.microsoft.com/office/drawing/2014/main" id="{AA6EF0AC-7272-4FBC-91DA-4CF183C97F57}"/>
              </a:ext>
            </a:extLst>
          </p:cNvPr>
          <p:cNvSpPr/>
          <p:nvPr/>
        </p:nvSpPr>
        <p:spPr>
          <a:xfrm>
            <a:off x="10073240" y="6371844"/>
            <a:ext cx="3383280" cy="1133856"/>
          </a:xfrm>
          <a:prstGeom prst="roundRect">
            <a:avLst>
              <a:gd name="adj" fmla="val 50000"/>
            </a:avLst>
          </a:prstGeom>
          <a:solidFill>
            <a:srgbClr val="10635A"/>
          </a:solidFill>
          <a:ln>
            <a:noFill/>
          </a:ln>
        </p:spPr>
        <p:txBody>
          <a:bodyPr wrap="square" lIns="91440" tIns="36576" rIns="91440" bIns="36576" anchor="ctr">
            <a:normAutofit/>
          </a:bodyPr>
          <a:lstStyle/>
          <a:p>
            <a:pPr algn="ctr"/>
            <a:r>
              <a:rPr lang="es-ES" sz="2300" b="1" dirty="0">
                <a:solidFill>
                  <a:srgbClr val="FFFFFF"/>
                </a:solidFill>
                <a:latin typeface="Arial"/>
                <a:cs typeface="Arial"/>
              </a:rPr>
              <a:t>Venta de energía</a:t>
            </a:r>
          </a:p>
        </p:txBody>
      </p:sp>
      <p:cxnSp>
        <p:nvCxnSpPr>
          <p:cNvPr id="11" name="c">
            <a:extLst>
              <a:ext uri="{FF2B5EF4-FFF2-40B4-BE49-F238E27FC236}">
                <a16:creationId xmlns:a16="http://schemas.microsoft.com/office/drawing/2014/main" id="{431352FC-B947-6BA8-AB01-148A5F3CE3FB}"/>
              </a:ext>
            </a:extLst>
          </p:cNvPr>
          <p:cNvCxnSpPr/>
          <p:nvPr/>
        </p:nvCxnSpPr>
        <p:spPr>
          <a:xfrm flipH="1">
            <a:off x="3992880" y="3538772"/>
            <a:ext cx="2880360" cy="2"/>
          </a:xfrm>
          <a:prstGeom prst="straightConnector1">
            <a:avLst/>
          </a:prstGeom>
          <a:ln w="50800">
            <a:solidFill>
              <a:srgbClr val="1E8A7C"/>
            </a:solidFill>
            <a:tailEnd type="triangle"/>
          </a:ln>
        </p:spPr>
      </p:cxnSp>
      <p:sp>
        <p:nvSpPr>
          <p:cNvPr id="12" name="s">
            <a:extLst>
              <a:ext uri="{FF2B5EF4-FFF2-40B4-BE49-F238E27FC236}">
                <a16:creationId xmlns:a16="http://schemas.microsoft.com/office/drawing/2014/main" id="{87C908CC-FB7E-47A4-302D-23AFEDF61A84}"/>
              </a:ext>
            </a:extLst>
          </p:cNvPr>
          <p:cNvSpPr/>
          <p:nvPr/>
        </p:nvSpPr>
        <p:spPr>
          <a:xfrm>
            <a:off x="4061460" y="2638772"/>
            <a:ext cx="2743200" cy="560000"/>
          </a:xfrm>
          <a:prstGeom prst="rect">
            <a:avLst/>
          </a:prstGeom>
          <a:solidFill>
            <a:srgbClr val="EDEDED"/>
          </a:solidFill>
          <a:ln>
            <a:noFill/>
          </a:ln>
        </p:spPr>
        <p:txBody>
          <a:bodyPr wrap="square" lIns="91440" tIns="36576" rIns="91440" bIns="36576" anchor="ctr">
            <a:normAutofit/>
          </a:bodyPr>
          <a:lstStyle/>
          <a:p>
            <a:pPr algn="ctr"/>
            <a:r>
              <a:rPr lang="es-ES" sz="1700" dirty="0">
                <a:solidFill>
                  <a:srgbClr val="1E8A7C"/>
                </a:solidFill>
                <a:latin typeface="Arial"/>
                <a:cs typeface="Arial"/>
              </a:rPr>
              <a:t>ubicada en</a:t>
            </a:r>
          </a:p>
        </p:txBody>
      </p:sp>
      <p:cxnSp>
        <p:nvCxnSpPr>
          <p:cNvPr id="13" name="c">
            <a:extLst>
              <a:ext uri="{FF2B5EF4-FFF2-40B4-BE49-F238E27FC236}">
                <a16:creationId xmlns:a16="http://schemas.microsoft.com/office/drawing/2014/main" id="{6993FE49-0235-E2D0-1820-464471903860}"/>
              </a:ext>
            </a:extLst>
          </p:cNvPr>
          <p:cNvCxnSpPr/>
          <p:nvPr/>
        </p:nvCxnSpPr>
        <p:spPr>
          <a:xfrm>
            <a:off x="10256520" y="3538772"/>
            <a:ext cx="2880360" cy="2"/>
          </a:xfrm>
          <a:prstGeom prst="straightConnector1">
            <a:avLst/>
          </a:prstGeom>
          <a:ln w="50800">
            <a:solidFill>
              <a:srgbClr val="1E8A7C"/>
            </a:solidFill>
            <a:tailEnd type="triangle"/>
          </a:ln>
        </p:spPr>
      </p:cxnSp>
      <p:sp>
        <p:nvSpPr>
          <p:cNvPr id="14" name="s">
            <a:extLst>
              <a:ext uri="{FF2B5EF4-FFF2-40B4-BE49-F238E27FC236}">
                <a16:creationId xmlns:a16="http://schemas.microsoft.com/office/drawing/2014/main" id="{4C92B792-4179-E6B3-20AB-A86AE5C694BF}"/>
              </a:ext>
            </a:extLst>
          </p:cNvPr>
          <p:cNvSpPr/>
          <p:nvPr/>
        </p:nvSpPr>
        <p:spPr>
          <a:xfrm>
            <a:off x="10325100" y="2638772"/>
            <a:ext cx="2743200" cy="560000"/>
          </a:xfrm>
          <a:prstGeom prst="rect">
            <a:avLst/>
          </a:prstGeom>
          <a:solidFill>
            <a:srgbClr val="EDEDED"/>
          </a:solidFill>
          <a:ln>
            <a:noFill/>
          </a:ln>
        </p:spPr>
        <p:txBody>
          <a:bodyPr wrap="square" lIns="91440" tIns="36576" rIns="91440" bIns="36576" anchor="ctr">
            <a:normAutofit/>
          </a:bodyPr>
          <a:lstStyle/>
          <a:p>
            <a:pPr algn="ctr"/>
            <a:r>
              <a:rPr lang="es-ES" sz="1700" dirty="0">
                <a:solidFill>
                  <a:srgbClr val="1E8A7C"/>
                </a:solidFill>
                <a:latin typeface="Arial"/>
                <a:cs typeface="Arial"/>
              </a:rPr>
              <a:t>propiedad de</a:t>
            </a:r>
          </a:p>
        </p:txBody>
      </p:sp>
      <p:cxnSp>
        <p:nvCxnSpPr>
          <p:cNvPr id="15" name="c">
            <a:extLst>
              <a:ext uri="{FF2B5EF4-FFF2-40B4-BE49-F238E27FC236}">
                <a16:creationId xmlns:a16="http://schemas.microsoft.com/office/drawing/2014/main" id="{8395978D-DB41-2616-1FB1-8D6869CC7E75}"/>
              </a:ext>
            </a:extLst>
          </p:cNvPr>
          <p:cNvCxnSpPr/>
          <p:nvPr/>
        </p:nvCxnSpPr>
        <p:spPr>
          <a:xfrm flipH="1">
            <a:off x="6041536" y="4105700"/>
            <a:ext cx="1846688" cy="2266144"/>
          </a:xfrm>
          <a:prstGeom prst="straightConnector1">
            <a:avLst/>
          </a:prstGeom>
          <a:ln w="50800">
            <a:solidFill>
              <a:srgbClr val="1E8A7C"/>
            </a:solidFill>
            <a:tailEnd type="triangle"/>
          </a:ln>
        </p:spPr>
      </p:cxnSp>
      <p:sp>
        <p:nvSpPr>
          <p:cNvPr id="17" name="s">
            <a:extLst>
              <a:ext uri="{FF2B5EF4-FFF2-40B4-BE49-F238E27FC236}">
                <a16:creationId xmlns:a16="http://schemas.microsoft.com/office/drawing/2014/main" id="{9C0DE75E-D702-57C2-E27B-F79B6D91E201}"/>
              </a:ext>
            </a:extLst>
          </p:cNvPr>
          <p:cNvSpPr/>
          <p:nvPr/>
        </p:nvSpPr>
        <p:spPr>
          <a:xfrm>
            <a:off x="6688224" y="4405700"/>
            <a:ext cx="1500000" cy="500000"/>
          </a:xfrm>
          <a:prstGeom prst="rect">
            <a:avLst/>
          </a:prstGeom>
          <a:solidFill>
            <a:srgbClr val="EDEDED"/>
          </a:solidFill>
          <a:ln>
            <a:noFill/>
          </a:ln>
        </p:spPr>
        <p:txBody>
          <a:bodyPr wrap="square" lIns="91440" tIns="36576" rIns="91440" bIns="36576" anchor="ctr">
            <a:normAutofit/>
          </a:bodyPr>
          <a:lstStyle/>
          <a:p>
            <a:pPr algn="ctr"/>
            <a:r>
              <a:rPr lang="es-ES" sz="1600" dirty="0">
                <a:solidFill>
                  <a:srgbClr val="1E8A7C"/>
                </a:solidFill>
                <a:latin typeface="Arial"/>
                <a:cs typeface="Arial"/>
              </a:rPr>
              <a:t>genera</a:t>
            </a:r>
          </a:p>
        </p:txBody>
      </p:sp>
      <p:cxnSp>
        <p:nvCxnSpPr>
          <p:cNvPr id="18" name="c">
            <a:extLst>
              <a:ext uri="{FF2B5EF4-FFF2-40B4-BE49-F238E27FC236}">
                <a16:creationId xmlns:a16="http://schemas.microsoft.com/office/drawing/2014/main" id="{A5A1EAE9-4169-6F2F-F53C-41DC90CCC6D4}"/>
              </a:ext>
            </a:extLst>
          </p:cNvPr>
          <p:cNvCxnSpPr/>
          <p:nvPr/>
        </p:nvCxnSpPr>
        <p:spPr>
          <a:xfrm>
            <a:off x="9241536" y="4105700"/>
            <a:ext cx="1846688" cy="2266144"/>
          </a:xfrm>
          <a:prstGeom prst="straightConnector1">
            <a:avLst/>
          </a:prstGeom>
          <a:ln w="50800">
            <a:solidFill>
              <a:srgbClr val="1E8A7C"/>
            </a:solidFill>
            <a:tailEnd type="triangle"/>
          </a:ln>
        </p:spPr>
      </p:cxnSp>
      <p:sp>
        <p:nvSpPr>
          <p:cNvPr id="19" name="s">
            <a:extLst>
              <a:ext uri="{FF2B5EF4-FFF2-40B4-BE49-F238E27FC236}">
                <a16:creationId xmlns:a16="http://schemas.microsoft.com/office/drawing/2014/main" id="{9FA82C5C-CD87-6E57-2EB6-4217C7C31A31}"/>
              </a:ext>
            </a:extLst>
          </p:cNvPr>
          <p:cNvSpPr/>
          <p:nvPr/>
        </p:nvSpPr>
        <p:spPr>
          <a:xfrm>
            <a:off x="8891536" y="4405700"/>
            <a:ext cx="1600000" cy="500000"/>
          </a:xfrm>
          <a:prstGeom prst="rect">
            <a:avLst/>
          </a:prstGeom>
          <a:solidFill>
            <a:srgbClr val="EDEDED"/>
          </a:solidFill>
          <a:ln>
            <a:noFill/>
          </a:ln>
        </p:spPr>
        <p:txBody>
          <a:bodyPr wrap="square" lIns="91440" tIns="36576" rIns="91440" bIns="36576" anchor="ctr">
            <a:normAutofit/>
          </a:bodyPr>
          <a:lstStyle/>
          <a:p>
            <a:pPr algn="ctr"/>
            <a:r>
              <a:rPr lang="es-ES" sz="1600" dirty="0">
                <a:solidFill>
                  <a:srgbClr val="1E8A7C"/>
                </a:solidFill>
                <a:latin typeface="Arial"/>
                <a:cs typeface="Arial"/>
              </a:rPr>
              <a:t>registra</a:t>
            </a:r>
          </a:p>
        </p:txBody>
      </p:sp>
      <p:cxnSp>
        <p:nvCxnSpPr>
          <p:cNvPr id="20" name="c">
            <a:extLst>
              <a:ext uri="{FF2B5EF4-FFF2-40B4-BE49-F238E27FC236}">
                <a16:creationId xmlns:a16="http://schemas.microsoft.com/office/drawing/2014/main" id="{046942B8-FE58-DF66-A591-2FA56658A743}"/>
              </a:ext>
            </a:extLst>
          </p:cNvPr>
          <p:cNvCxnSpPr/>
          <p:nvPr/>
        </p:nvCxnSpPr>
        <p:spPr>
          <a:xfrm flipH="1">
            <a:off x="6549028" y="4105700"/>
            <a:ext cx="7095344" cy="2266144"/>
          </a:xfrm>
          <a:prstGeom prst="straightConnector1">
            <a:avLst/>
          </a:prstGeom>
          <a:ln w="50800">
            <a:solidFill>
              <a:srgbClr val="6BAFA4"/>
            </a:solidFill>
            <a:tailEnd type="triangle"/>
          </a:ln>
        </p:spPr>
      </p:cxnSp>
      <p:sp>
        <p:nvSpPr>
          <p:cNvPr id="21" name="s">
            <a:extLst>
              <a:ext uri="{FF2B5EF4-FFF2-40B4-BE49-F238E27FC236}">
                <a16:creationId xmlns:a16="http://schemas.microsoft.com/office/drawing/2014/main" id="{38E4CB0B-6646-D555-5C02-AACCEED2863E}"/>
              </a:ext>
            </a:extLst>
          </p:cNvPr>
          <p:cNvSpPr/>
          <p:nvPr/>
        </p:nvSpPr>
        <p:spPr>
          <a:xfrm>
            <a:off x="10707675" y="4460220"/>
            <a:ext cx="1900000" cy="560000"/>
          </a:xfrm>
          <a:prstGeom prst="rect">
            <a:avLst/>
          </a:prstGeom>
          <a:solidFill>
            <a:srgbClr val="EDEDED"/>
          </a:solidFill>
          <a:ln>
            <a:noFill/>
          </a:ln>
        </p:spPr>
        <p:txBody>
          <a:bodyPr wrap="square" lIns="91440" tIns="36576" rIns="91440" bIns="36576" anchor="ctr">
            <a:normAutofit/>
          </a:bodyPr>
          <a:lstStyle/>
          <a:p>
            <a:pPr algn="ctr"/>
            <a:r>
              <a:rPr lang="es-ES" sz="1500" dirty="0">
                <a:solidFill>
                  <a:srgbClr val="6BAFA4"/>
                </a:solidFill>
                <a:latin typeface="Arial"/>
                <a:cs typeface="Arial"/>
              </a:rPr>
              <a:t>titular de</a:t>
            </a:r>
          </a:p>
        </p:txBody>
      </p:sp>
      <p:cxnSp>
        <p:nvCxnSpPr>
          <p:cNvPr id="22" name="c">
            <a:extLst>
              <a:ext uri="{FF2B5EF4-FFF2-40B4-BE49-F238E27FC236}">
                <a16:creationId xmlns:a16="http://schemas.microsoft.com/office/drawing/2014/main" id="{098E0B1C-B4DD-275A-8F48-AA1BB72596E8}"/>
              </a:ext>
            </a:extLst>
          </p:cNvPr>
          <p:cNvCxnSpPr/>
          <p:nvPr/>
        </p:nvCxnSpPr>
        <p:spPr>
          <a:xfrm flipH="1">
            <a:off x="12272372" y="4105700"/>
            <a:ext cx="2048656" cy="2266144"/>
          </a:xfrm>
          <a:prstGeom prst="straightConnector1">
            <a:avLst/>
          </a:prstGeom>
          <a:ln w="50800">
            <a:solidFill>
              <a:srgbClr val="6BAFA4"/>
            </a:solidFill>
            <a:tailEnd type="triangle"/>
          </a:ln>
        </p:spPr>
      </p:cxnSp>
      <p:sp>
        <p:nvSpPr>
          <p:cNvPr id="23" name="s">
            <a:extLst>
              <a:ext uri="{FF2B5EF4-FFF2-40B4-BE49-F238E27FC236}">
                <a16:creationId xmlns:a16="http://schemas.microsoft.com/office/drawing/2014/main" id="{69CF2F50-E33D-3C10-278F-DB77E22E06CE}"/>
              </a:ext>
            </a:extLst>
          </p:cNvPr>
          <p:cNvSpPr/>
          <p:nvPr/>
        </p:nvSpPr>
        <p:spPr>
          <a:xfrm>
            <a:off x="12244267" y="5072079"/>
            <a:ext cx="1900000" cy="560000"/>
          </a:xfrm>
          <a:prstGeom prst="rect">
            <a:avLst/>
          </a:prstGeom>
          <a:solidFill>
            <a:srgbClr val="EDEDED"/>
          </a:solidFill>
          <a:ln>
            <a:noFill/>
          </a:ln>
        </p:spPr>
        <p:txBody>
          <a:bodyPr wrap="square" lIns="91440" tIns="36576" rIns="91440" bIns="36576" anchor="ctr">
            <a:normAutofit/>
          </a:bodyPr>
          <a:lstStyle/>
          <a:p>
            <a:pPr algn="ctr"/>
            <a:r>
              <a:rPr lang="es-ES" sz="1500" dirty="0">
                <a:solidFill>
                  <a:srgbClr val="6BAFA4"/>
                </a:solidFill>
                <a:latin typeface="Arial"/>
                <a:cs typeface="Arial"/>
              </a:rPr>
              <a:t>titular de</a:t>
            </a:r>
          </a:p>
        </p:txBody>
      </p:sp>
      <p:sp>
        <p:nvSpPr>
          <p:cNvPr id="24" name="s">
            <a:extLst>
              <a:ext uri="{FF2B5EF4-FFF2-40B4-BE49-F238E27FC236}">
                <a16:creationId xmlns:a16="http://schemas.microsoft.com/office/drawing/2014/main" id="{7A1DC405-1CA3-C2F1-1132-42B415BD057B}"/>
              </a:ext>
            </a:extLst>
          </p:cNvPr>
          <p:cNvSpPr/>
          <p:nvPr/>
        </p:nvSpPr>
        <p:spPr>
          <a:xfrm>
            <a:off x="471436" y="1686913"/>
            <a:ext cx="16840200" cy="900000"/>
          </a:xfrm>
          <a:prstGeom prst="rect">
            <a:avLst/>
          </a:prstGeom>
          <a:noFill/>
          <a:ln>
            <a:noFill/>
          </a:ln>
        </p:spPr>
        <p:txBody>
          <a:bodyPr wrap="square" lIns="91440" tIns="36576" rIns="91440" bIns="36576" anchor="ctr">
            <a:normAutofit/>
          </a:bodyPr>
          <a:lstStyle/>
          <a:p>
            <a:pPr algn="ctr"/>
            <a:r>
              <a:rPr lang="es-ES" sz="2300" dirty="0">
                <a:solidFill>
                  <a:srgbClr val="09534E"/>
                </a:solidFill>
                <a:latin typeface="Arial"/>
                <a:cs typeface="Arial"/>
              </a:rPr>
              <a:t>Instalaciones y Propietarios son los dos nodos que conectan todo el dominio: quién posee qué y qué genera qué.</a:t>
            </a:r>
          </a:p>
        </p:txBody>
      </p:sp>
    </p:spTree>
    <p:extLst>
      <p:ext uri="{BB962C8B-B14F-4D97-AF65-F5344CB8AC3E}">
        <p14:creationId xmlns:p14="http://schemas.microsoft.com/office/powerpoint/2010/main" val="19040255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F7ECCB-C0B4-3656-7E3A-12DBCA9BD6C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3BF73DD-EAC6-296B-8E2B-BBDE0F9CC52A}"/>
              </a:ext>
            </a:extLst>
          </p:cNvPr>
          <p:cNvSpPr>
            <a:spLocks noGrp="1"/>
          </p:cNvSpPr>
          <p:nvPr>
            <p:ph type="title"/>
          </p:nvPr>
        </p:nvSpPr>
        <p:spPr>
          <a:xfrm>
            <a:off x="1072824" y="190500"/>
            <a:ext cx="15773400" cy="1584323"/>
          </a:xfrm>
        </p:spPr>
        <p:txBody>
          <a:bodyPr/>
          <a:lstStyle/>
          <a:p>
            <a:pPr marL="0" indent="0">
              <a:buNone/>
            </a:pPr>
            <a:r>
              <a:rPr lang="es-ES" sz="4400" b="1" dirty="0">
                <a:latin typeface="Arial"/>
                <a:cs typeface="Arial"/>
              </a:rPr>
              <a:t>Semantic Model · Eólicas en Galicia</a:t>
            </a:r>
          </a:p>
        </p:txBody>
      </p:sp>
      <p:pic>
        <p:nvPicPr>
          <p:cNvPr id="5" name="Imagen 4">
            <a:extLst>
              <a:ext uri="{FF2B5EF4-FFF2-40B4-BE49-F238E27FC236}">
                <a16:creationId xmlns:a16="http://schemas.microsoft.com/office/drawing/2014/main" id="{195E7B64-16BA-1A70-7479-3C6EF9BE769C}"/>
              </a:ext>
            </a:extLst>
          </p:cNvPr>
          <p:cNvPicPr>
            <a:picLocks noChangeAspect="1"/>
          </p:cNvPicPr>
          <p:nvPr/>
        </p:nvPicPr>
        <p:blipFill>
          <a:blip r:embed="rId2"/>
          <a:stretch>
            <a:fillRect/>
          </a:stretch>
        </p:blipFill>
        <p:spPr>
          <a:xfrm>
            <a:off x="4038600" y="2552700"/>
            <a:ext cx="8915400" cy="6057502"/>
          </a:xfrm>
          <a:prstGeom prst="rect">
            <a:avLst/>
          </a:prstGeom>
          <a:effectLst>
            <a:outerShdw blurRad="50800" dist="38100" dir="2700000" algn="tl" rotWithShape="0">
              <a:prstClr val="black">
                <a:alpha val="40000"/>
              </a:prstClr>
            </a:outerShdw>
          </a:effectLst>
        </p:spPr>
      </p:pic>
      <p:sp>
        <p:nvSpPr>
          <p:cNvPr id="4" name="CuadroTexto 3">
            <a:extLst>
              <a:ext uri="{FF2B5EF4-FFF2-40B4-BE49-F238E27FC236}">
                <a16:creationId xmlns:a16="http://schemas.microsoft.com/office/drawing/2014/main" id="{7FC53D17-EC8A-AA27-20A9-A66304083F28}"/>
              </a:ext>
            </a:extLst>
          </p:cNvPr>
          <p:cNvSpPr txBox="1"/>
          <p:nvPr/>
        </p:nvSpPr>
        <p:spPr>
          <a:xfrm>
            <a:off x="2057400" y="8724900"/>
            <a:ext cx="12658669" cy="307777"/>
          </a:xfrm>
          <a:prstGeom prst="rect">
            <a:avLst/>
          </a:prstGeom>
          <a:noFill/>
        </p:spPr>
        <p:txBody>
          <a:bodyPr wrap="square">
            <a:spAutoFit/>
          </a:bodyPr>
          <a:lstStyle/>
          <a:p>
            <a:pPr algn="ctr"/>
            <a:r>
              <a:rPr lang="es-ES" sz="1400" i="1" dirty="0">
                <a:solidFill>
                  <a:srgbClr val="09534E"/>
                </a:solidFill>
                <a:latin typeface="Arial"/>
                <a:cs typeface="Arial"/>
              </a:rPr>
              <a:t>Modelo semántico con lógica de negocio de parques eólicos en Galicia (Elaboración Propia)</a:t>
            </a:r>
            <a:endParaRPr lang="es-ES" sz="1100" i="1" dirty="0"/>
          </a:p>
        </p:txBody>
      </p:sp>
      <p:sp>
        <p:nvSpPr>
          <p:cNvPr id="7" name="CuadroTexto 6">
            <a:extLst>
              <a:ext uri="{FF2B5EF4-FFF2-40B4-BE49-F238E27FC236}">
                <a16:creationId xmlns:a16="http://schemas.microsoft.com/office/drawing/2014/main" id="{C4D7BC94-3627-7FA7-052D-F08818AAC743}"/>
              </a:ext>
            </a:extLst>
          </p:cNvPr>
          <p:cNvSpPr txBox="1"/>
          <p:nvPr/>
        </p:nvSpPr>
        <p:spPr>
          <a:xfrm>
            <a:off x="1072824" y="1219626"/>
            <a:ext cx="15631426" cy="1169551"/>
          </a:xfrm>
          <a:prstGeom prst="rect">
            <a:avLst/>
          </a:prstGeom>
          <a:noFill/>
        </p:spPr>
        <p:txBody>
          <a:bodyPr wrap="square">
            <a:spAutoFit/>
          </a:bodyPr>
          <a:lstStyle/>
          <a:p>
            <a:r>
              <a:rPr lang="es-ES" sz="2000" dirty="0"/>
              <a:t>Partimos de un modelo semántico que estructura los datos de algunos parques eólicos de Galicia y representa sus principales dimensiones, métricas y relaciones de negocio. </a:t>
            </a:r>
          </a:p>
          <a:p>
            <a:pPr>
              <a:lnSpc>
                <a:spcPct val="50000"/>
              </a:lnSpc>
            </a:pPr>
            <a:endParaRPr lang="es-ES" sz="2000" dirty="0"/>
          </a:p>
          <a:p>
            <a:r>
              <a:rPr lang="es-ES" sz="2000" dirty="0"/>
              <a:t>Sobre esta base construiremos la capa ontológica, enriqueciendo el modelo con significado y conocimiento del dominio.</a:t>
            </a:r>
            <a:endParaRPr lang="es-ES" sz="2000" dirty="0">
              <a:solidFill>
                <a:srgbClr val="09534E"/>
              </a:solidFill>
              <a:latin typeface="Arial"/>
              <a:cs typeface="Arial"/>
            </a:endParaRPr>
          </a:p>
        </p:txBody>
      </p:sp>
    </p:spTree>
    <p:extLst>
      <p:ext uri="{BB962C8B-B14F-4D97-AF65-F5344CB8AC3E}">
        <p14:creationId xmlns:p14="http://schemas.microsoft.com/office/powerpoint/2010/main" val="34923218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marL="0" indent="0">
              <a:buNone/>
            </a:pPr>
            <a:r>
              <a:rPr lang="es-ES" sz="4400" b="1" dirty="0">
                <a:latin typeface="Arial"/>
                <a:cs typeface="Arial"/>
              </a:rPr>
              <a:t>Data Binding: conectar el modelo a los datos</a:t>
            </a:r>
          </a:p>
        </p:txBody>
      </p:sp>
      <p:sp>
        <p:nvSpPr>
          <p:cNvPr id="53" name="Panel 53"/>
          <p:cNvSpPr/>
          <p:nvPr/>
        </p:nvSpPr>
        <p:spPr>
          <a:xfrm>
            <a:off x="1060704" y="2247900"/>
            <a:ext cx="16176000" cy="5900000"/>
          </a:xfrm>
          <a:prstGeom prst="roundRect">
            <a:avLst>
              <a:gd name="adj" fmla="val 6000"/>
            </a:avLst>
          </a:prstGeom>
          <a:solidFill>
            <a:srgbClr val="E4F7EE"/>
          </a:solidFill>
          <a:ln>
            <a:noFill/>
          </a:ln>
          <a:effectLst>
            <a:outerShdw blurRad="50800" dist="38100" dir="2700000" algn="tl" rotWithShape="0">
              <a:prstClr val="black">
                <a:alpha val="40000"/>
              </a:prstClr>
            </a:outerShdw>
          </a:effectLst>
        </p:spPr>
        <p:txBody>
          <a:bodyPr wrap="square" lIns="0" tIns="0" rIns="0" bIns="0" anchor="t">
            <a:normAutofit/>
          </a:bodyPr>
          <a:lstStyle/>
          <a:p>
            <a:endParaRPr lang="es-ES"/>
          </a:p>
        </p:txBody>
      </p:sp>
      <p:sp>
        <p:nvSpPr>
          <p:cNvPr id="54" name="Circulo 54"/>
          <p:cNvSpPr/>
          <p:nvPr/>
        </p:nvSpPr>
        <p:spPr>
          <a:xfrm>
            <a:off x="1300704" y="2487900"/>
            <a:ext cx="760000" cy="760000"/>
          </a:xfrm>
          <a:prstGeom prst="ellipse">
            <a:avLst/>
          </a:prstGeom>
          <a:solidFill>
            <a:srgbClr val="10635A"/>
          </a:solidFill>
          <a:ln>
            <a:noFill/>
          </a:ln>
        </p:spPr>
        <p:txBody>
          <a:bodyPr wrap="square" lIns="0" tIns="0" rIns="0" bIns="0" anchor="t">
            <a:normAutofit/>
          </a:bodyPr>
          <a:lstStyle/>
          <a:p>
            <a:endParaRPr lang="es-ES"/>
          </a:p>
        </p:txBody>
      </p:sp>
      <p:pic>
        <p:nvPicPr>
          <p:cNvPr id="55" name="Icono 55" descr="Binding"/>
          <p:cNvPicPr>
            <a:picLocks noChangeAspect="1"/>
          </p:cNvPicPr>
          <p:nvPr/>
        </p:nvPicPr>
        <p:blipFill>
          <a:blip r:embed="rId2"/>
          <a:stretch>
            <a:fillRect/>
          </a:stretch>
        </p:blipFill>
        <p:spPr>
          <a:xfrm>
            <a:off x="1490704" y="2677900"/>
            <a:ext cx="380000" cy="380000"/>
          </a:xfrm>
          <a:prstGeom prst="rect">
            <a:avLst/>
          </a:prstGeom>
        </p:spPr>
      </p:pic>
      <p:sp>
        <p:nvSpPr>
          <p:cNvPr id="56" name="Titulo tarjeta 56"/>
          <p:cNvSpPr txBox="1"/>
          <p:nvPr/>
        </p:nvSpPr>
        <p:spPr>
          <a:xfrm>
            <a:off x="2200704" y="2487900"/>
            <a:ext cx="14876000" cy="760000"/>
          </a:xfrm>
          <a:prstGeom prst="rect">
            <a:avLst/>
          </a:prstGeom>
          <a:noFill/>
          <a:ln>
            <a:noFill/>
          </a:ln>
        </p:spPr>
        <p:txBody>
          <a:bodyPr wrap="square" lIns="0" tIns="0" rIns="0" bIns="0" anchor="ctr">
            <a:normAutofit/>
          </a:bodyPr>
          <a:lstStyle/>
          <a:p>
            <a:pPr marL="0" indent="0" algn="l">
              <a:spcBef>
                <a:spcPts val="0"/>
              </a:spcBef>
              <a:spcAft>
                <a:spcPts val="0"/>
              </a:spcAft>
              <a:buNone/>
            </a:pPr>
            <a:r>
              <a:rPr lang="es-ES" sz="2000" b="1" dirty="0">
                <a:solidFill>
                  <a:srgbClr val="10635A"/>
                </a:solidFill>
                <a:latin typeface="Arial"/>
                <a:cs typeface="Arial"/>
              </a:rPr>
              <a:t>Cada entidad y propiedad apunta a una tabla o columna real</a:t>
            </a:r>
          </a:p>
        </p:txBody>
      </p:sp>
      <p:sp>
        <p:nvSpPr>
          <p:cNvPr id="57" name="Cab 57"/>
          <p:cNvSpPr txBox="1"/>
          <p:nvPr/>
        </p:nvSpPr>
        <p:spPr>
          <a:xfrm>
            <a:off x="1300704" y="3477900"/>
            <a:ext cx="6278400" cy="460000"/>
          </a:xfrm>
          <a:prstGeom prst="rect">
            <a:avLst/>
          </a:prstGeom>
          <a:noFill/>
          <a:ln>
            <a:noFill/>
          </a:ln>
        </p:spPr>
        <p:txBody>
          <a:bodyPr wrap="square" lIns="0" tIns="0" rIns="0" bIns="0" anchor="ctr">
            <a:normAutofit/>
          </a:bodyPr>
          <a:lstStyle/>
          <a:p>
            <a:pPr marL="0" indent="0" algn="l">
              <a:spcBef>
                <a:spcPts val="0"/>
              </a:spcBef>
              <a:spcAft>
                <a:spcPts val="0"/>
              </a:spcAft>
              <a:buNone/>
            </a:pPr>
            <a:r>
              <a:rPr lang="es-ES" sz="1400" b="1" dirty="0">
                <a:solidFill>
                  <a:srgbClr val="1E8A7C"/>
                </a:solidFill>
                <a:latin typeface="Arial"/>
                <a:cs typeface="Arial"/>
              </a:rPr>
              <a:t>EntityType.Property</a:t>
            </a:r>
          </a:p>
        </p:txBody>
      </p:sp>
      <p:sp>
        <p:nvSpPr>
          <p:cNvPr id="58" name="Cab 58"/>
          <p:cNvSpPr txBox="1"/>
          <p:nvPr/>
        </p:nvSpPr>
        <p:spPr>
          <a:xfrm>
            <a:off x="7579104" y="3477900"/>
            <a:ext cx="9417600" cy="460000"/>
          </a:xfrm>
          <a:prstGeom prst="rect">
            <a:avLst/>
          </a:prstGeom>
          <a:noFill/>
          <a:ln>
            <a:noFill/>
          </a:ln>
        </p:spPr>
        <p:txBody>
          <a:bodyPr wrap="square" lIns="0" tIns="0" rIns="0" bIns="0" anchor="ctr">
            <a:normAutofit/>
          </a:bodyPr>
          <a:lstStyle/>
          <a:p>
            <a:pPr marL="0" indent="0" algn="l">
              <a:spcBef>
                <a:spcPts val="0"/>
              </a:spcBef>
              <a:spcAft>
                <a:spcPts val="0"/>
              </a:spcAft>
              <a:buNone/>
            </a:pPr>
            <a:r>
              <a:rPr lang="es-ES" sz="1400" b="1" dirty="0">
                <a:solidFill>
                  <a:srgbClr val="1E8A7C"/>
                </a:solidFill>
                <a:latin typeface="Arial"/>
                <a:cs typeface="Arial"/>
              </a:rPr>
              <a:t>Tabla.Columna en OneLake</a:t>
            </a:r>
          </a:p>
        </p:txBody>
      </p:sp>
      <p:sp>
        <p:nvSpPr>
          <p:cNvPr id="59" name="Fila 59"/>
          <p:cNvSpPr/>
          <p:nvPr/>
        </p:nvSpPr>
        <p:spPr>
          <a:xfrm>
            <a:off x="1300704" y="3977900"/>
            <a:ext cx="15696000" cy="460000"/>
          </a:xfrm>
          <a:prstGeom prst="roundRect">
            <a:avLst>
              <a:gd name="adj" fmla="val 10000"/>
            </a:avLst>
          </a:prstGeom>
          <a:solidFill>
            <a:srgbClr val="FFFFFF"/>
          </a:solidFill>
          <a:ln>
            <a:noFill/>
          </a:ln>
        </p:spPr>
        <p:txBody>
          <a:bodyPr wrap="square" lIns="0" tIns="0" rIns="0" bIns="0" anchor="t">
            <a:normAutofit/>
          </a:bodyPr>
          <a:lstStyle/>
          <a:p>
            <a:endParaRPr lang="es-ES"/>
          </a:p>
        </p:txBody>
      </p:sp>
      <p:sp>
        <p:nvSpPr>
          <p:cNvPr id="60" name="Celda 60"/>
          <p:cNvSpPr txBox="1"/>
          <p:nvPr/>
        </p:nvSpPr>
        <p:spPr>
          <a:xfrm>
            <a:off x="1420704" y="3977900"/>
            <a:ext cx="6158400" cy="460000"/>
          </a:xfrm>
          <a:prstGeom prst="rect">
            <a:avLst/>
          </a:prstGeom>
          <a:noFill/>
          <a:ln>
            <a:noFill/>
          </a:ln>
        </p:spPr>
        <p:txBody>
          <a:bodyPr wrap="square" lIns="0" tIns="0" rIns="0" bIns="0" anchor="ctr">
            <a:normAutofit/>
          </a:bodyPr>
          <a:lstStyle/>
          <a:p>
            <a:pPr marL="0" indent="0" algn="l">
              <a:spcBef>
                <a:spcPts val="0"/>
              </a:spcBef>
              <a:spcAft>
                <a:spcPts val="0"/>
              </a:spcAft>
              <a:buNone/>
            </a:pPr>
            <a:r>
              <a:rPr lang="es-ES" sz="1500" b="1" dirty="0">
                <a:solidFill>
                  <a:srgbClr val="09534E"/>
                </a:solidFill>
                <a:latin typeface="Arial"/>
                <a:cs typeface="Arial"/>
              </a:rPr>
              <a:t>Instalaciones.Id_Instalacion</a:t>
            </a:r>
          </a:p>
        </p:txBody>
      </p:sp>
      <p:sp>
        <p:nvSpPr>
          <p:cNvPr id="61" name="Celda 61"/>
          <p:cNvSpPr txBox="1"/>
          <p:nvPr/>
        </p:nvSpPr>
        <p:spPr>
          <a:xfrm>
            <a:off x="7579104" y="3977900"/>
            <a:ext cx="9297600" cy="460000"/>
          </a:xfrm>
          <a:prstGeom prst="rect">
            <a:avLst/>
          </a:prstGeom>
          <a:noFill/>
          <a:ln>
            <a:noFill/>
          </a:ln>
        </p:spPr>
        <p:txBody>
          <a:bodyPr wrap="square" lIns="0" tIns="0" rIns="0" bIns="0" anchor="ctr">
            <a:normAutofit/>
          </a:bodyPr>
          <a:lstStyle/>
          <a:p>
            <a:pPr marL="0" indent="0" algn="l">
              <a:spcBef>
                <a:spcPts val="0"/>
              </a:spcBef>
              <a:spcAft>
                <a:spcPts val="0"/>
              </a:spcAft>
              <a:buNone/>
            </a:pPr>
            <a:r>
              <a:rPr lang="es-ES" sz="1500" dirty="0">
                <a:solidFill>
                  <a:srgbClr val="09534E"/>
                </a:solidFill>
                <a:latin typeface="Arial"/>
                <a:cs typeface="Arial"/>
              </a:rPr>
              <a:t>D_Instalaciones.Id_Instalacion</a:t>
            </a:r>
          </a:p>
        </p:txBody>
      </p:sp>
      <p:sp>
        <p:nvSpPr>
          <p:cNvPr id="62" name="Fila 62"/>
          <p:cNvSpPr/>
          <p:nvPr/>
        </p:nvSpPr>
        <p:spPr>
          <a:xfrm>
            <a:off x="1300704" y="4477900"/>
            <a:ext cx="15696000" cy="460000"/>
          </a:xfrm>
          <a:prstGeom prst="roundRect">
            <a:avLst>
              <a:gd name="adj" fmla="val 10000"/>
            </a:avLst>
          </a:prstGeom>
          <a:solidFill>
            <a:srgbClr val="FFFFFF"/>
          </a:solidFill>
          <a:ln>
            <a:noFill/>
          </a:ln>
        </p:spPr>
        <p:txBody>
          <a:bodyPr wrap="square" lIns="0" tIns="0" rIns="0" bIns="0" anchor="t">
            <a:normAutofit/>
          </a:bodyPr>
          <a:lstStyle/>
          <a:p>
            <a:endParaRPr lang="es-ES"/>
          </a:p>
        </p:txBody>
      </p:sp>
      <p:sp>
        <p:nvSpPr>
          <p:cNvPr id="63" name="Celda 63"/>
          <p:cNvSpPr txBox="1"/>
          <p:nvPr/>
        </p:nvSpPr>
        <p:spPr>
          <a:xfrm>
            <a:off x="1420704" y="4477900"/>
            <a:ext cx="6158400" cy="460000"/>
          </a:xfrm>
          <a:prstGeom prst="rect">
            <a:avLst/>
          </a:prstGeom>
          <a:noFill/>
          <a:ln>
            <a:noFill/>
          </a:ln>
        </p:spPr>
        <p:txBody>
          <a:bodyPr wrap="square" lIns="0" tIns="0" rIns="0" bIns="0" anchor="ctr">
            <a:normAutofit/>
          </a:bodyPr>
          <a:lstStyle/>
          <a:p>
            <a:pPr marL="0" indent="0" algn="l">
              <a:spcBef>
                <a:spcPts val="0"/>
              </a:spcBef>
              <a:spcAft>
                <a:spcPts val="0"/>
              </a:spcAft>
              <a:buNone/>
            </a:pPr>
            <a:r>
              <a:rPr lang="es-ES" sz="1500" b="1" dirty="0">
                <a:solidFill>
                  <a:srgbClr val="09534E"/>
                </a:solidFill>
                <a:latin typeface="Arial"/>
                <a:cs typeface="Arial"/>
              </a:rPr>
              <a:t>Instalaciones.Nombre_Instalacion</a:t>
            </a:r>
          </a:p>
        </p:txBody>
      </p:sp>
      <p:sp>
        <p:nvSpPr>
          <p:cNvPr id="64" name="Celda 64"/>
          <p:cNvSpPr txBox="1"/>
          <p:nvPr/>
        </p:nvSpPr>
        <p:spPr>
          <a:xfrm>
            <a:off x="7579104" y="4477900"/>
            <a:ext cx="9297600" cy="460000"/>
          </a:xfrm>
          <a:prstGeom prst="rect">
            <a:avLst/>
          </a:prstGeom>
          <a:noFill/>
          <a:ln>
            <a:noFill/>
          </a:ln>
        </p:spPr>
        <p:txBody>
          <a:bodyPr wrap="square" lIns="0" tIns="0" rIns="0" bIns="0" anchor="ctr">
            <a:normAutofit/>
          </a:bodyPr>
          <a:lstStyle/>
          <a:p>
            <a:pPr marL="0" indent="0" algn="l">
              <a:spcBef>
                <a:spcPts val="0"/>
              </a:spcBef>
              <a:spcAft>
                <a:spcPts val="0"/>
              </a:spcAft>
              <a:buNone/>
            </a:pPr>
            <a:r>
              <a:rPr lang="es-ES" sz="1500" dirty="0">
                <a:solidFill>
                  <a:srgbClr val="09534E"/>
                </a:solidFill>
                <a:latin typeface="Arial"/>
                <a:cs typeface="Arial"/>
              </a:rPr>
              <a:t>D_Instalaciones.Nombre_Instalacion</a:t>
            </a:r>
          </a:p>
        </p:txBody>
      </p:sp>
      <p:sp>
        <p:nvSpPr>
          <p:cNvPr id="65" name="Fila 65"/>
          <p:cNvSpPr/>
          <p:nvPr/>
        </p:nvSpPr>
        <p:spPr>
          <a:xfrm>
            <a:off x="1300704" y="4977900"/>
            <a:ext cx="15696000" cy="460000"/>
          </a:xfrm>
          <a:prstGeom prst="roundRect">
            <a:avLst>
              <a:gd name="adj" fmla="val 10000"/>
            </a:avLst>
          </a:prstGeom>
          <a:solidFill>
            <a:srgbClr val="FFFFFF"/>
          </a:solidFill>
          <a:ln>
            <a:noFill/>
          </a:ln>
        </p:spPr>
        <p:txBody>
          <a:bodyPr wrap="square" lIns="0" tIns="0" rIns="0" bIns="0" anchor="t">
            <a:normAutofit/>
          </a:bodyPr>
          <a:lstStyle/>
          <a:p>
            <a:endParaRPr lang="es-ES"/>
          </a:p>
        </p:txBody>
      </p:sp>
      <p:sp>
        <p:nvSpPr>
          <p:cNvPr id="66" name="Celda 66"/>
          <p:cNvSpPr txBox="1"/>
          <p:nvPr/>
        </p:nvSpPr>
        <p:spPr>
          <a:xfrm>
            <a:off x="1420704" y="4977900"/>
            <a:ext cx="6158400" cy="460000"/>
          </a:xfrm>
          <a:prstGeom prst="rect">
            <a:avLst/>
          </a:prstGeom>
          <a:noFill/>
          <a:ln>
            <a:noFill/>
          </a:ln>
        </p:spPr>
        <p:txBody>
          <a:bodyPr wrap="square" lIns="0" tIns="0" rIns="0" bIns="0" anchor="ctr">
            <a:normAutofit/>
          </a:bodyPr>
          <a:lstStyle/>
          <a:p>
            <a:pPr marL="0" indent="0" algn="l">
              <a:spcBef>
                <a:spcPts val="0"/>
              </a:spcBef>
              <a:spcAft>
                <a:spcPts val="0"/>
              </a:spcAft>
              <a:buNone/>
            </a:pPr>
            <a:r>
              <a:rPr lang="es-ES" sz="1500" b="1" dirty="0">
                <a:solidFill>
                  <a:srgbClr val="09534E"/>
                </a:solidFill>
                <a:latin typeface="Arial"/>
                <a:cs typeface="Arial"/>
              </a:rPr>
              <a:t>Instalaciones.Provincia</a:t>
            </a:r>
          </a:p>
        </p:txBody>
      </p:sp>
      <p:sp>
        <p:nvSpPr>
          <p:cNvPr id="67" name="Celda 67"/>
          <p:cNvSpPr txBox="1"/>
          <p:nvPr/>
        </p:nvSpPr>
        <p:spPr>
          <a:xfrm>
            <a:off x="7579104" y="4977900"/>
            <a:ext cx="9297600" cy="460000"/>
          </a:xfrm>
          <a:prstGeom prst="rect">
            <a:avLst/>
          </a:prstGeom>
          <a:noFill/>
          <a:ln>
            <a:noFill/>
          </a:ln>
        </p:spPr>
        <p:txBody>
          <a:bodyPr wrap="square" lIns="0" tIns="0" rIns="0" bIns="0" anchor="ctr">
            <a:normAutofit/>
          </a:bodyPr>
          <a:lstStyle/>
          <a:p>
            <a:pPr marL="0" indent="0" algn="l">
              <a:spcBef>
                <a:spcPts val="0"/>
              </a:spcBef>
              <a:spcAft>
                <a:spcPts val="0"/>
              </a:spcAft>
              <a:buNone/>
            </a:pPr>
            <a:r>
              <a:rPr lang="es-ES" sz="1500" dirty="0">
                <a:solidFill>
                  <a:srgbClr val="09534E"/>
                </a:solidFill>
                <a:latin typeface="Arial"/>
                <a:cs typeface="Arial"/>
              </a:rPr>
              <a:t>D_Instalaciones.Provincia</a:t>
            </a:r>
          </a:p>
        </p:txBody>
      </p:sp>
      <p:sp>
        <p:nvSpPr>
          <p:cNvPr id="68" name="Fila 68"/>
          <p:cNvSpPr/>
          <p:nvPr/>
        </p:nvSpPr>
        <p:spPr>
          <a:xfrm>
            <a:off x="1300704" y="5477900"/>
            <a:ext cx="15696000" cy="460000"/>
          </a:xfrm>
          <a:prstGeom prst="roundRect">
            <a:avLst>
              <a:gd name="adj" fmla="val 10000"/>
            </a:avLst>
          </a:prstGeom>
          <a:solidFill>
            <a:srgbClr val="FFFFFF"/>
          </a:solidFill>
          <a:ln>
            <a:noFill/>
          </a:ln>
        </p:spPr>
        <p:txBody>
          <a:bodyPr wrap="square" lIns="0" tIns="0" rIns="0" bIns="0" anchor="t">
            <a:normAutofit/>
          </a:bodyPr>
          <a:lstStyle/>
          <a:p>
            <a:endParaRPr lang="es-ES"/>
          </a:p>
        </p:txBody>
      </p:sp>
      <p:sp>
        <p:nvSpPr>
          <p:cNvPr id="69" name="Celda 69"/>
          <p:cNvSpPr txBox="1"/>
          <p:nvPr/>
        </p:nvSpPr>
        <p:spPr>
          <a:xfrm>
            <a:off x="1420704" y="5477900"/>
            <a:ext cx="6158400" cy="460000"/>
          </a:xfrm>
          <a:prstGeom prst="rect">
            <a:avLst/>
          </a:prstGeom>
          <a:noFill/>
          <a:ln>
            <a:noFill/>
          </a:ln>
        </p:spPr>
        <p:txBody>
          <a:bodyPr wrap="square" lIns="0" tIns="0" rIns="0" bIns="0" anchor="ctr">
            <a:normAutofit/>
          </a:bodyPr>
          <a:lstStyle/>
          <a:p>
            <a:pPr marL="0" indent="0" algn="l">
              <a:spcBef>
                <a:spcPts val="0"/>
              </a:spcBef>
              <a:spcAft>
                <a:spcPts val="0"/>
              </a:spcAft>
              <a:buNone/>
            </a:pPr>
            <a:r>
              <a:rPr lang="es-ES" sz="1500" b="1" dirty="0">
                <a:solidFill>
                  <a:srgbClr val="09534E"/>
                </a:solidFill>
                <a:latin typeface="Arial"/>
                <a:cs typeface="Arial"/>
              </a:rPr>
              <a:t>Generacion.energia_generada_gwh</a:t>
            </a:r>
          </a:p>
        </p:txBody>
      </p:sp>
      <p:sp>
        <p:nvSpPr>
          <p:cNvPr id="70" name="Celda 70"/>
          <p:cNvSpPr txBox="1"/>
          <p:nvPr/>
        </p:nvSpPr>
        <p:spPr>
          <a:xfrm>
            <a:off x="7579104" y="5477900"/>
            <a:ext cx="9297600" cy="460000"/>
          </a:xfrm>
          <a:prstGeom prst="rect">
            <a:avLst/>
          </a:prstGeom>
          <a:noFill/>
          <a:ln>
            <a:noFill/>
          </a:ln>
        </p:spPr>
        <p:txBody>
          <a:bodyPr wrap="square" lIns="0" tIns="0" rIns="0" bIns="0" anchor="ctr">
            <a:normAutofit/>
          </a:bodyPr>
          <a:lstStyle/>
          <a:p>
            <a:pPr marL="0" indent="0" algn="l">
              <a:spcBef>
                <a:spcPts val="0"/>
              </a:spcBef>
              <a:spcAft>
                <a:spcPts val="0"/>
              </a:spcAft>
              <a:buNone/>
            </a:pPr>
            <a:r>
              <a:rPr lang="es-ES" sz="1500" dirty="0">
                <a:solidFill>
                  <a:srgbClr val="09534E"/>
                </a:solidFill>
                <a:latin typeface="Arial"/>
                <a:cs typeface="Arial"/>
              </a:rPr>
              <a:t>F_Generacion_Eolicas.energia_generada_gwh</a:t>
            </a:r>
          </a:p>
        </p:txBody>
      </p:sp>
      <p:sp>
        <p:nvSpPr>
          <p:cNvPr id="71" name="Fila 71"/>
          <p:cNvSpPr/>
          <p:nvPr/>
        </p:nvSpPr>
        <p:spPr>
          <a:xfrm>
            <a:off x="1300704" y="5977900"/>
            <a:ext cx="15696000" cy="460000"/>
          </a:xfrm>
          <a:prstGeom prst="roundRect">
            <a:avLst>
              <a:gd name="adj" fmla="val 10000"/>
            </a:avLst>
          </a:prstGeom>
          <a:solidFill>
            <a:srgbClr val="FFFFFF"/>
          </a:solidFill>
          <a:ln>
            <a:noFill/>
          </a:ln>
        </p:spPr>
        <p:txBody>
          <a:bodyPr wrap="square" lIns="0" tIns="0" rIns="0" bIns="0" anchor="t">
            <a:normAutofit/>
          </a:bodyPr>
          <a:lstStyle/>
          <a:p>
            <a:endParaRPr lang="es-ES"/>
          </a:p>
        </p:txBody>
      </p:sp>
      <p:sp>
        <p:nvSpPr>
          <p:cNvPr id="72" name="Celda 72"/>
          <p:cNvSpPr txBox="1"/>
          <p:nvPr/>
        </p:nvSpPr>
        <p:spPr>
          <a:xfrm>
            <a:off x="1420704" y="5977900"/>
            <a:ext cx="6158400" cy="460000"/>
          </a:xfrm>
          <a:prstGeom prst="rect">
            <a:avLst/>
          </a:prstGeom>
          <a:noFill/>
          <a:ln>
            <a:noFill/>
          </a:ln>
        </p:spPr>
        <p:txBody>
          <a:bodyPr wrap="square" lIns="0" tIns="0" rIns="0" bIns="0" anchor="ctr">
            <a:normAutofit/>
          </a:bodyPr>
          <a:lstStyle/>
          <a:p>
            <a:pPr marL="0" indent="0" algn="l">
              <a:spcBef>
                <a:spcPts val="0"/>
              </a:spcBef>
              <a:spcAft>
                <a:spcPts val="0"/>
              </a:spcAft>
              <a:buNone/>
            </a:pPr>
            <a:r>
              <a:rPr lang="es-ES" sz="1500" b="1" dirty="0">
                <a:solidFill>
                  <a:srgbClr val="09534E"/>
                </a:solidFill>
                <a:latin typeface="Arial"/>
                <a:cs typeface="Arial"/>
              </a:rPr>
              <a:t>Ventas.precio_mercado_mwh_euro</a:t>
            </a:r>
          </a:p>
        </p:txBody>
      </p:sp>
      <p:sp>
        <p:nvSpPr>
          <p:cNvPr id="73" name="Celda 73"/>
          <p:cNvSpPr txBox="1"/>
          <p:nvPr/>
        </p:nvSpPr>
        <p:spPr>
          <a:xfrm>
            <a:off x="7579104" y="5977900"/>
            <a:ext cx="9297600" cy="460000"/>
          </a:xfrm>
          <a:prstGeom prst="rect">
            <a:avLst/>
          </a:prstGeom>
          <a:noFill/>
          <a:ln>
            <a:noFill/>
          </a:ln>
        </p:spPr>
        <p:txBody>
          <a:bodyPr wrap="square" lIns="0" tIns="0" rIns="0" bIns="0" anchor="ctr">
            <a:normAutofit/>
          </a:bodyPr>
          <a:lstStyle/>
          <a:p>
            <a:pPr marL="0" indent="0" algn="l">
              <a:spcBef>
                <a:spcPts val="0"/>
              </a:spcBef>
              <a:spcAft>
                <a:spcPts val="0"/>
              </a:spcAft>
              <a:buNone/>
            </a:pPr>
            <a:r>
              <a:rPr lang="es-ES" sz="1500" dirty="0">
                <a:solidFill>
                  <a:srgbClr val="09534E"/>
                </a:solidFill>
                <a:latin typeface="Arial"/>
                <a:cs typeface="Arial"/>
              </a:rPr>
              <a:t>F_Ventas_Eolicas.precio_mercado_mwh_euro</a:t>
            </a:r>
          </a:p>
        </p:txBody>
      </p:sp>
      <p:sp>
        <p:nvSpPr>
          <p:cNvPr id="74" name="Texto 74"/>
          <p:cNvSpPr txBox="1"/>
          <p:nvPr/>
        </p:nvSpPr>
        <p:spPr>
          <a:xfrm>
            <a:off x="1300704" y="6627900"/>
            <a:ext cx="15696000" cy="1280000"/>
          </a:xfrm>
          <a:prstGeom prst="rect">
            <a:avLst/>
          </a:prstGeom>
          <a:noFill/>
          <a:ln>
            <a:noFill/>
          </a:ln>
        </p:spPr>
        <p:txBody>
          <a:bodyPr wrap="square" lIns="0" tIns="0" rIns="0" bIns="0" anchor="t">
            <a:normAutofit/>
          </a:bodyPr>
          <a:lstStyle/>
          <a:p>
            <a:pPr marL="285750" indent="-285750" algn="l">
              <a:spcBef>
                <a:spcPts val="0"/>
              </a:spcBef>
              <a:spcAft>
                <a:spcPts val="450"/>
              </a:spcAft>
              <a:buClr>
                <a:srgbClr val="1E8A7C"/>
              </a:buClr>
              <a:buFont typeface="Arial"/>
              <a:buChar char="•"/>
            </a:pPr>
            <a:r>
              <a:rPr lang="es-ES" sz="1700" dirty="0">
                <a:solidFill>
                  <a:srgbClr val="09534E"/>
                </a:solidFill>
                <a:latin typeface="Arial"/>
                <a:cs typeface="Arial"/>
              </a:rPr>
              <a:t>Mapeo de columnas a propiedades</a:t>
            </a:r>
          </a:p>
          <a:p>
            <a:pPr marL="285750" indent="-285750" algn="l">
              <a:spcBef>
                <a:spcPts val="0"/>
              </a:spcBef>
              <a:spcAft>
                <a:spcPts val="450"/>
              </a:spcAft>
              <a:buClr>
                <a:srgbClr val="1E8A7C"/>
              </a:buClr>
              <a:buFont typeface="Arial"/>
              <a:buChar char="•"/>
            </a:pPr>
            <a:r>
              <a:rPr lang="es-ES" sz="1700" dirty="0">
                <a:solidFill>
                  <a:srgbClr val="09534E"/>
                </a:solidFill>
                <a:latin typeface="Arial"/>
                <a:cs typeface="Arial"/>
              </a:rPr>
              <a:t>Definición de claves</a:t>
            </a:r>
          </a:p>
          <a:p>
            <a:pPr marL="285750" indent="-285750" algn="l">
              <a:spcBef>
                <a:spcPts val="0"/>
              </a:spcBef>
              <a:spcAft>
                <a:spcPts val="450"/>
              </a:spcAft>
              <a:buClr>
                <a:srgbClr val="1E8A7C"/>
              </a:buClr>
              <a:buFont typeface="Arial"/>
              <a:buChar char="•"/>
            </a:pPr>
            <a:r>
              <a:rPr lang="es-ES" sz="1700" dirty="0">
                <a:solidFill>
                  <a:srgbClr val="09534E"/>
                </a:solidFill>
                <a:latin typeface="Arial"/>
                <a:cs typeface="Arial"/>
              </a:rPr>
              <a:t>Binding de relaciones (entre entidades)</a:t>
            </a:r>
          </a:p>
        </p:txBody>
      </p:sp>
      <p:sp>
        <p:nvSpPr>
          <p:cNvPr id="75" name="Mensaje clave 75"/>
          <p:cNvSpPr/>
          <p:nvPr/>
        </p:nvSpPr>
        <p:spPr>
          <a:xfrm>
            <a:off x="2286000" y="8375904"/>
            <a:ext cx="13716000" cy="512064"/>
          </a:xfrm>
          <a:prstGeom prst="roundRect">
            <a:avLst>
              <a:gd name="adj" fmla="val 50000"/>
            </a:avLst>
          </a:prstGeom>
          <a:solidFill>
            <a:srgbClr val="09534E"/>
          </a:solidFill>
          <a:ln>
            <a:noFill/>
          </a:ln>
          <a:effectLst>
            <a:outerShdw blurRad="50800" dist="25400" dir="5400000" algn="t" rotWithShape="0">
              <a:prstClr val="black">
                <a:alpha val="28000"/>
              </a:prstClr>
            </a:outerShdw>
          </a:effectLst>
        </p:spPr>
        <p:txBody>
          <a:bodyPr wrap="square" lIns="182880" tIns="0" rIns="182880" bIns="0" anchor="ctr">
            <a:noAutofit/>
          </a:bodyPr>
          <a:lstStyle/>
          <a:p>
            <a:pPr algn="ctr"/>
            <a:r>
              <a:rPr lang="es-ES" sz="2000" b="1" dirty="0">
                <a:solidFill>
                  <a:srgbClr val="7DE9B0"/>
                </a:solidFill>
                <a:latin typeface="Arial"/>
                <a:cs typeface="Arial"/>
              </a:rPr>
              <a:t xml:space="preserve">✓  El binding es el puente: </a:t>
            </a:r>
            <a:r>
              <a:rPr lang="es-ES" sz="2000" b="1" dirty="0">
                <a:solidFill>
                  <a:srgbClr val="FFFFFF"/>
                </a:solidFill>
                <a:latin typeface="Arial"/>
                <a:cs typeface="Arial"/>
              </a:rPr>
              <a:t xml:space="preserve">sin él, la ontología es solo un modelo sin datos detrás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0706701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DB87C7-2178-54BD-C4D3-D54AB25E9125}"/>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14C42722-2BEB-CE81-D530-EC36DA5F9C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634" y="-38100"/>
            <a:ext cx="18345566" cy="10325100"/>
          </a:xfrm>
          <a:prstGeom prst="rect">
            <a:avLst/>
          </a:prstGeom>
        </p:spPr>
      </p:pic>
      <p:sp>
        <p:nvSpPr>
          <p:cNvPr id="5" name="Texto 51">
            <a:extLst>
              <a:ext uri="{FF2B5EF4-FFF2-40B4-BE49-F238E27FC236}">
                <a16:creationId xmlns:a16="http://schemas.microsoft.com/office/drawing/2014/main" id="{FBC3D65F-EAE7-E56A-1D5D-C5A6D3103A3E}"/>
              </a:ext>
            </a:extLst>
          </p:cNvPr>
          <p:cNvSpPr txBox="1"/>
          <p:nvPr/>
        </p:nvSpPr>
        <p:spPr>
          <a:xfrm>
            <a:off x="945600" y="419100"/>
            <a:ext cx="16154400" cy="1557777"/>
          </a:xfrm>
          <a:prstGeom prst="rect">
            <a:avLst/>
          </a:prstGeom>
          <a:noFill/>
        </p:spPr>
        <p:txBody>
          <a:bodyPr wrap="square" rtlCol="0" anchor="b">
            <a:normAutofit/>
          </a:bodyPr>
          <a:lstStyle/>
          <a:p>
            <a:pPr algn="ctr"/>
            <a:r>
              <a:rPr lang="es-ES" sz="6600" b="1" dirty="0">
                <a:solidFill>
                  <a:srgbClr val="09534E"/>
                </a:solidFill>
                <a:latin typeface="Arial"/>
                <a:cs typeface="Arial"/>
              </a:rPr>
              <a:t>Tu </a:t>
            </a:r>
            <a:r>
              <a:rPr lang="es-ES" sz="6600" b="1" dirty="0" err="1">
                <a:solidFill>
                  <a:srgbClr val="09534E"/>
                </a:solidFill>
                <a:latin typeface="Arial"/>
                <a:cs typeface="Arial"/>
              </a:rPr>
              <a:t>feedback</a:t>
            </a:r>
            <a:r>
              <a:rPr lang="es-ES" sz="6600" b="1" dirty="0">
                <a:solidFill>
                  <a:srgbClr val="09534E"/>
                </a:solidFill>
                <a:latin typeface="Arial"/>
                <a:cs typeface="Arial"/>
              </a:rPr>
              <a:t> nos ayuda a mejorar</a:t>
            </a:r>
            <a:endParaRPr lang="es-ES" sz="4800" b="1" dirty="0">
              <a:solidFill>
                <a:srgbClr val="09534E"/>
              </a:solidFill>
              <a:latin typeface="Arial"/>
              <a:cs typeface="Arial"/>
            </a:endParaRPr>
          </a:p>
        </p:txBody>
      </p:sp>
      <p:pic>
        <p:nvPicPr>
          <p:cNvPr id="7" name="Imagen 6">
            <a:extLst>
              <a:ext uri="{FF2B5EF4-FFF2-40B4-BE49-F238E27FC236}">
                <a16:creationId xmlns:a16="http://schemas.microsoft.com/office/drawing/2014/main" id="{4D613DEC-005A-1180-2A6B-B2461029A6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34000" y="2464833"/>
            <a:ext cx="6027552" cy="5867400"/>
          </a:xfrm>
          <a:prstGeom prst="rect">
            <a:avLst/>
          </a:prstGeom>
        </p:spPr>
      </p:pic>
      <p:sp>
        <p:nvSpPr>
          <p:cNvPr id="9" name="CuadroTexto 8">
            <a:extLst>
              <a:ext uri="{FF2B5EF4-FFF2-40B4-BE49-F238E27FC236}">
                <a16:creationId xmlns:a16="http://schemas.microsoft.com/office/drawing/2014/main" id="{FE822DC0-608D-576E-0C7D-10E5A3282A58}"/>
              </a:ext>
            </a:extLst>
          </p:cNvPr>
          <p:cNvSpPr txBox="1"/>
          <p:nvPr/>
        </p:nvSpPr>
        <p:spPr>
          <a:xfrm>
            <a:off x="5125060" y="8470712"/>
            <a:ext cx="6445431" cy="369332"/>
          </a:xfrm>
          <a:prstGeom prst="rect">
            <a:avLst/>
          </a:prstGeom>
          <a:noFill/>
        </p:spPr>
        <p:txBody>
          <a:bodyPr wrap="square">
            <a:spAutoFit/>
          </a:bodyPr>
          <a:lstStyle/>
          <a:p>
            <a:pPr algn="ctr"/>
            <a:r>
              <a:rPr lang="es-ES" b="1" dirty="0"/>
              <a:t>https://forms.gle/J3Mb5jmkvt1FvcLN9</a:t>
            </a:r>
          </a:p>
        </p:txBody>
      </p:sp>
      <p:sp>
        <p:nvSpPr>
          <p:cNvPr id="11" name="Texto 53">
            <a:extLst>
              <a:ext uri="{FF2B5EF4-FFF2-40B4-BE49-F238E27FC236}">
                <a16:creationId xmlns:a16="http://schemas.microsoft.com/office/drawing/2014/main" id="{4303FF46-632A-3133-ECCA-22467DD21E6E}"/>
              </a:ext>
            </a:extLst>
          </p:cNvPr>
          <p:cNvSpPr txBox="1"/>
          <p:nvPr/>
        </p:nvSpPr>
        <p:spPr>
          <a:xfrm>
            <a:off x="4876800" y="9164144"/>
            <a:ext cx="12600000" cy="700000"/>
          </a:xfrm>
          <a:prstGeom prst="rect">
            <a:avLst/>
          </a:prstGeom>
          <a:noFill/>
        </p:spPr>
        <p:txBody>
          <a:bodyPr wrap="square" rtlCol="0" anchor="b">
            <a:normAutofit/>
          </a:bodyPr>
          <a:lstStyle/>
          <a:p>
            <a:pPr algn="r"/>
            <a:r>
              <a:rPr lang="es-ES" sz="2200" b="1" dirty="0">
                <a:solidFill>
                  <a:srgbClr val="10635A"/>
                </a:solidFill>
                <a:latin typeface="Arial"/>
                <a:cs typeface="Arial"/>
              </a:rPr>
              <a:t>Alejandra Ben Fernández · Lorena Méndez Otero</a:t>
            </a:r>
          </a:p>
        </p:txBody>
      </p:sp>
    </p:spTree>
    <p:extLst>
      <p:ext uri="{BB962C8B-B14F-4D97-AF65-F5344CB8AC3E}">
        <p14:creationId xmlns:p14="http://schemas.microsoft.com/office/powerpoint/2010/main" val="104358802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847E0B-17B0-FE66-8A67-D0ECB4D2F02C}"/>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79187AB3-62B5-0041-D0A2-02177361D3F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634" y="-38100"/>
            <a:ext cx="18345566" cy="10325100"/>
          </a:xfrm>
          <a:prstGeom prst="rect">
            <a:avLst/>
          </a:prstGeom>
        </p:spPr>
      </p:pic>
      <p:sp>
        <p:nvSpPr>
          <p:cNvPr id="11" name="Texto 53">
            <a:extLst>
              <a:ext uri="{FF2B5EF4-FFF2-40B4-BE49-F238E27FC236}">
                <a16:creationId xmlns:a16="http://schemas.microsoft.com/office/drawing/2014/main" id="{D053BD0E-0E03-E2C6-2C70-84DD4BD9176A}"/>
              </a:ext>
            </a:extLst>
          </p:cNvPr>
          <p:cNvSpPr txBox="1"/>
          <p:nvPr/>
        </p:nvSpPr>
        <p:spPr>
          <a:xfrm>
            <a:off x="4876800" y="9164144"/>
            <a:ext cx="12600000" cy="700000"/>
          </a:xfrm>
          <a:prstGeom prst="rect">
            <a:avLst/>
          </a:prstGeom>
          <a:noFill/>
        </p:spPr>
        <p:txBody>
          <a:bodyPr wrap="square" rtlCol="0" anchor="b">
            <a:normAutofit/>
          </a:bodyPr>
          <a:lstStyle/>
          <a:p>
            <a:pPr algn="r"/>
            <a:r>
              <a:rPr lang="es-ES" sz="2200" b="1" dirty="0">
                <a:solidFill>
                  <a:srgbClr val="10635A"/>
                </a:solidFill>
                <a:latin typeface="Arial"/>
                <a:cs typeface="Arial"/>
              </a:rPr>
              <a:t>Alejandra Ben Fernández · Lorena Méndez Otero</a:t>
            </a:r>
          </a:p>
        </p:txBody>
      </p:sp>
      <p:sp>
        <p:nvSpPr>
          <p:cNvPr id="4" name="Texto 51">
            <a:extLst>
              <a:ext uri="{FF2B5EF4-FFF2-40B4-BE49-F238E27FC236}">
                <a16:creationId xmlns:a16="http://schemas.microsoft.com/office/drawing/2014/main" id="{9D2BAA2C-79BF-D1E4-534C-A6E82655F85E}"/>
              </a:ext>
            </a:extLst>
          </p:cNvPr>
          <p:cNvSpPr txBox="1"/>
          <p:nvPr/>
        </p:nvSpPr>
        <p:spPr>
          <a:xfrm>
            <a:off x="4500000" y="3600000"/>
            <a:ext cx="12600000" cy="4300000"/>
          </a:xfrm>
          <a:prstGeom prst="rect">
            <a:avLst/>
          </a:prstGeom>
          <a:noFill/>
        </p:spPr>
        <p:txBody>
          <a:bodyPr wrap="square" rtlCol="0" anchor="b">
            <a:normAutofit/>
          </a:bodyPr>
          <a:lstStyle/>
          <a:p>
            <a:pPr algn="r"/>
            <a:r>
              <a:rPr lang="es-ES" sz="14000" b="1" dirty="0">
                <a:solidFill>
                  <a:srgbClr val="09534E"/>
                </a:solidFill>
                <a:latin typeface="Arial"/>
                <a:cs typeface="Arial"/>
              </a:rPr>
              <a:t>¡Gracias!</a:t>
            </a:r>
          </a:p>
          <a:p>
            <a:pPr algn="r"/>
            <a:r>
              <a:rPr lang="es-ES" sz="9000" b="1" dirty="0">
                <a:solidFill>
                  <a:srgbClr val="09534E"/>
                </a:solidFill>
                <a:latin typeface="Arial"/>
                <a:cs typeface="Arial"/>
              </a:rPr>
              <a:t>Thank you!</a:t>
            </a:r>
          </a:p>
        </p:txBody>
      </p:sp>
      <p:sp>
        <p:nvSpPr>
          <p:cNvPr id="8" name="Texto 52">
            <a:extLst>
              <a:ext uri="{FF2B5EF4-FFF2-40B4-BE49-F238E27FC236}">
                <a16:creationId xmlns:a16="http://schemas.microsoft.com/office/drawing/2014/main" id="{671A98C9-A437-D0B2-5F9C-CF9F1CFD2245}"/>
              </a:ext>
            </a:extLst>
          </p:cNvPr>
          <p:cNvSpPr txBox="1"/>
          <p:nvPr/>
        </p:nvSpPr>
        <p:spPr>
          <a:xfrm>
            <a:off x="5029200" y="8420100"/>
            <a:ext cx="12600000" cy="900000"/>
          </a:xfrm>
          <a:prstGeom prst="rect">
            <a:avLst/>
          </a:prstGeom>
          <a:noFill/>
        </p:spPr>
        <p:txBody>
          <a:bodyPr wrap="square" rtlCol="0" anchor="b">
            <a:normAutofit/>
          </a:bodyPr>
          <a:lstStyle/>
          <a:p>
            <a:pPr algn="r"/>
            <a:r>
              <a:rPr lang="es-ES" sz="2600" b="0" dirty="0">
                <a:solidFill>
                  <a:srgbClr val="09534E"/>
                </a:solidFill>
                <a:latin typeface="Arial"/>
                <a:cs typeface="Arial"/>
              </a:rPr>
              <a:t>Por acompañarnos hoy. Nos vemos en la comunidad 💚</a:t>
            </a:r>
          </a:p>
        </p:txBody>
      </p:sp>
    </p:spTree>
    <p:extLst>
      <p:ext uri="{BB962C8B-B14F-4D97-AF65-F5344CB8AC3E}">
        <p14:creationId xmlns:p14="http://schemas.microsoft.com/office/powerpoint/2010/main" val="15168949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A09C12-743B-5429-2828-A83E8B0233BD}"/>
            </a:ext>
          </a:extLst>
        </p:cNvPr>
        <p:cNvGrpSpPr/>
        <p:nvPr/>
      </p:nvGrpSpPr>
      <p:grpSpPr>
        <a:xfrm>
          <a:off x="0" y="0"/>
          <a:ext cx="0" cy="0"/>
          <a:chOff x="0" y="0"/>
          <a:chExt cx="0" cy="0"/>
        </a:xfrm>
      </p:grpSpPr>
    </p:spTree>
    <p:extLst>
      <p:ext uri="{BB962C8B-B14F-4D97-AF65-F5344CB8AC3E}">
        <p14:creationId xmlns:p14="http://schemas.microsoft.com/office/powerpoint/2010/main" val="1523037651"/>
      </p:ext>
    </p:extLst>
  </p:cSld>
  <p:clrMapOvr>
    <a:masterClrMapping/>
  </p:clrMapOvr>
</p:sld>
</file>

<file path=ppt/theme/theme1.xml><?xml version="1.0" encoding="utf-8"?>
<a:theme xmlns:a="http://schemas.openxmlformats.org/drawingml/2006/main" name="Diseño personalizado">
  <a:themeElements>
    <a:clrScheme name="WIF Colours">
      <a:dk1>
        <a:srgbClr val="09534E"/>
      </a:dk1>
      <a:lt1>
        <a:srgbClr val="FFFFFF"/>
      </a:lt1>
      <a:dk2>
        <a:srgbClr val="000000"/>
      </a:dk2>
      <a:lt2>
        <a:srgbClr val="F6F4F1"/>
      </a:lt2>
      <a:accent1>
        <a:srgbClr val="7DE9B0"/>
      </a:accent1>
      <a:accent2>
        <a:srgbClr val="8AEDDA"/>
      </a:accent2>
      <a:accent3>
        <a:srgbClr val="10635A"/>
      </a:accent3>
      <a:accent4>
        <a:srgbClr val="EDEDED"/>
      </a:accent4>
      <a:accent5>
        <a:srgbClr val="004755"/>
      </a:accent5>
      <a:accent6>
        <a:srgbClr val="8DEED6"/>
      </a:accent6>
      <a:hlink>
        <a:srgbClr val="FFC000"/>
      </a:hlink>
      <a:folHlink>
        <a:srgbClr val="96607D"/>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454</TotalTime>
  <Words>4533</Words>
  <Application>Microsoft Office PowerPoint</Application>
  <PresentationFormat>Personalizado</PresentationFormat>
  <Paragraphs>517</Paragraphs>
  <Slides>41</Slides>
  <Notes>8</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41</vt:i4>
      </vt:variant>
    </vt:vector>
  </HeadingPairs>
  <TitlesOfParts>
    <vt:vector size="44" baseType="lpstr">
      <vt:lpstr>Arial</vt:lpstr>
      <vt:lpstr>Courier New</vt:lpstr>
      <vt:lpstr>Diseño personalizado</vt:lpstr>
      <vt:lpstr>Presentación de PowerPoint</vt:lpstr>
      <vt:lpstr>Presentación de PowerPoint</vt:lpstr>
      <vt:lpstr>Presentación de PowerPoint</vt:lpstr>
      <vt:lpstr>Presentación de PowerPoint</vt:lpstr>
      <vt:lpstr>Presentación de PowerPoint</vt:lpstr>
      <vt:lpstr>Lorena Méndez Otero</vt:lpstr>
      <vt:lpstr>Alejandra Ben Fernández</vt:lpstr>
      <vt:lpstr>Agenda</vt:lpstr>
      <vt:lpstr>Parte Teórica</vt:lpstr>
      <vt:lpstr>¿Por qué hablamos ahora de ontologías?</vt:lpstr>
      <vt:lpstr>Del dato al conocimiento</vt:lpstr>
      <vt:lpstr>¿Qué es una ontología?</vt:lpstr>
      <vt:lpstr>Diseñar una ontología: consideraciones clave</vt:lpstr>
      <vt:lpstr>¿Qué es Fabric IQ?</vt:lpstr>
      <vt:lpstr>Ontología vs. modelo semántico</vt:lpstr>
      <vt:lpstr>De la capa gold a la capa ontológica</vt:lpstr>
      <vt:lpstr>Presentación de PowerPoint</vt:lpstr>
      <vt:lpstr>¿Dónde vive la Ontología en Microsoft Fabric?</vt:lpstr>
      <vt:lpstr>Arquitectura de Ontologías en Fabric</vt:lpstr>
      <vt:lpstr>Elementos principales de una ontología en Fabric</vt:lpstr>
      <vt:lpstr> Consumo de Ontologías desde Fabric</vt:lpstr>
      <vt:lpstr> Requisitos</vt:lpstr>
      <vt:lpstr>Limitaciones actuales de Ontologías en Fabric (1/2)</vt:lpstr>
      <vt:lpstr>Limitaciones actuales de Ontologías en Fabric (2/2)</vt:lpstr>
      <vt:lpstr>Cómo crear una Ontología en Fabric</vt:lpstr>
      <vt:lpstr>Cómo crear una Ontología en Fabric — paso a paso</vt:lpstr>
      <vt:lpstr>Entidades: de nombre técnico a concepto de negocio</vt:lpstr>
      <vt:lpstr>Propiedades: enlazar cada campo a su origen en OneLake</vt:lpstr>
      <vt:lpstr>Mantener propiedades y metadatos: dar contexto</vt:lpstr>
      <vt:lpstr>Relaciones: conectar las entidades</vt:lpstr>
      <vt:lpstr>El grafo: la ontología como red de conceptos</vt:lpstr>
      <vt:lpstr>Parte Práctica</vt:lpstr>
      <vt:lpstr>Demo: Análisis Parques Eólicos en Galicia</vt:lpstr>
      <vt:lpstr>Fuentes de datos consultadas</vt:lpstr>
      <vt:lpstr>El grafo del dominio eólico</vt:lpstr>
      <vt:lpstr>Modelo Semántico - Eólicas en Galicia</vt:lpstr>
      <vt:lpstr>Data Binding: conectar el modelo a los datos</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Plantilla WIF</dc:title>
  <cp:lastModifiedBy>Lorena Mendez Otero</cp:lastModifiedBy>
  <cp:revision>184</cp:revision>
  <dcterms:created xsi:type="dcterms:W3CDTF">2006-08-16T00:00:00Z</dcterms:created>
  <dcterms:modified xsi:type="dcterms:W3CDTF">2026-09-27T10:55:15Z</dcterms:modified>
  <dc:identifier>DAHSVvIQMF4</dc:identifier>
</cp:coreProperties>
</file>